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651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228600"/>
            <a:ext cx="4203700" cy="9055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4600">
                <a:solidFill>
                  <a:srgbClr val="FFFFFF"/>
                </a:solidFill>
                <a:latin typeface="Barlow Condensed"/>
              </a:defRPr>
            </a:pPr>
            <a:r>
              <a:t>Leadprocure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40600" y="352583"/>
            <a:ext cx="2298700" cy="1870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950">
                <a:solidFill>
                  <a:srgbClr val="B8B8B8"/>
                </a:solidFill>
                <a:latin typeface="IBM Plex Sans"/>
              </a:defRPr>
            </a:pPr>
            <a:r>
              <a:t>MƏHSUL MƏLUMAT VƏRƏQİ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054100"/>
            <a:ext cx="650590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2000">
                <a:solidFill>
                  <a:srgbClr val="FFFFFF"/>
                </a:solidFill>
                <a:latin typeface="Barlow Condensed"/>
              </a:defRPr>
            </a:pPr>
            <a:r>
              <a:t>Korporativ satınalma və təchizatçı əməkdaşlığı platforması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863645"/>
            <a:ext cx="65059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Satınalma tələbindən tenderə, müqavilədən sifariş, qəbul və qaiməyə qədər vahid iş prosesi. Leadprocure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031285"/>
            <a:ext cx="65059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məsul şəxsləri, qərarları və əməliyyat məlumatlarını əlaqələndirərək satınalma, maliyyə və əməliyyat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198925"/>
            <a:ext cx="65059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komandalarına ortaq baxış verir.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2468165"/>
            <a:ext cx="65059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Daxili təsdiq qaydaları, rəqabətli seçim və təchizatın icrası üzərində sistemli nəzarət qurmaq istəyən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635805"/>
            <a:ext cx="65059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müəssisələr və korporativ satınalma komandaları.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959100"/>
            <a:ext cx="6505900" cy="37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900">
                <a:solidFill>
                  <a:srgbClr val="161616"/>
                </a:solidFill>
                <a:latin typeface="Barlow Condensed"/>
              </a:defRPr>
            </a:pPr>
            <a:r>
              <a:t>Əsas imkanlar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3400" y="3314700"/>
            <a:ext cx="6493200" cy="0"/>
          </a:xfrm>
          <a:prstGeom prst="line">
            <a:avLst/>
          </a:prstGeom>
          <a:ln w="6350">
            <a:solidFill>
              <a:srgbClr val="D6D6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100" y="349250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345440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Revers-auksion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37584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Cari ən yaxşı qiymət və növbəti maksimum təklif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39235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həddi iştirakçıya görünür. Minimum endirim addımı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40886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və son anda gələn təkliflər üçün müddətin məhdud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42537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uzadılması qaydası tətbiq olunur.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100" y="481584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477774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Məxfi RFQ və RFP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50818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Qiymət təklifi sorğusunda və texniki təklifli tenderdə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52469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məbləğlər açılışa qədər alıcıdan gizlidir. RFI ilə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54120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qiymətsiz məlumat toplamaq, ümumi sual-cavab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55771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bölməsində iştirakçıları məlumatlandırmaq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57422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mümkündür.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100" y="613918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" y="610108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Təsdiq zəncirləri və səlahiyyət bölgüsü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64051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Məbləğə görə satınalma metodu və təsdiq addımları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65702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müəyyən edilir. Müəllif öz tələbini təsdiqləmir; bir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7353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şəxs eyni tələbin iki təsdiq addımını yerinə yetirə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400" y="69004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bilmir.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100" y="746252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400" y="742442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Lotlar üzrə seçim və formal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400" y="766826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qiymətləndirmə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400" y="79723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Meyarlar əvvəlcədən müəyyən edilir. Lotlar müxtəlif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" y="81374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təchizatçılara verilə bilər. Qiymətləndirmədə birinci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400" y="83025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olmayan təklifin seçilməsi və yalnız bir uyğun təklifin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3400" y="84676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olduğu hallar əsaslandırma tələb edir.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100" y="878586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" y="874776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İzah edilən AI tövsiyəsi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3400" y="90518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Açılmış təkliflər eyni lot və valyuta üzrə qiymət,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" y="92169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çatdırılma və tarixçə əsasında sıralanır. İzah edilən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93820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köməkçi tövsiyə formal qiymətləndirməni əvəz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" y="95471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etmir; qalib ayrıca təsdiqlənir.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29200" y="349250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0500" y="345440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Təchizatçı reyestri və sənəd yoxlaması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70500" y="37584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Reyestr, sənədlərə əsaslanan KYC və performans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0500" y="39235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tarixçəsi idarə olunur. Bloklama yeni satınalma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0500" y="40886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əməliyyatlarına tətbiq edilir; mövcud öhdəliklərin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0500" y="42537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icrası ayrıca davam edir.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29200" y="481584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70500" y="477774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Müqavilələr, sifarişlər və qiymət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70500" y="502158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kataloqları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0500" y="53256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Müqavilədən PO və qəbula qədər icra izlənir.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70500" y="54907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Dəyişiklik təchizatçının razılığı ilə tətbiq olunur.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70500" y="56558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Razılaşdırılmış qiymət kataloqları minimum miqdar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0500" y="58209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yoxlaması ilə təkrar sifariş imkanı verir.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29200" y="613918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70500" y="610108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Qaimələrin üçtərəfli üzləşdirilməsi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0500" y="64051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Sifariş, faktiki qəbul və qaimə müqayisə edilir;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70500" y="65702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qiymət və miqdar uyğunsuzluqları göstərilir.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70500" y="67353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Mübahisəli qaimənin istisna olaraq təsdiqi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70500" y="69004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əsaslandırılır. Ödəniş statusu uçota alınır.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29200" y="746252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0500" y="742442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Büdcə və xərc analitikası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70500" y="772850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AZN ilə şöbə və dövr üzrə büdcələr, plan/fakt və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70500" y="789360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aşım nəzarəti. Sazlanmış hədd təsdiqi bloklaya bilər;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70500" y="805870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administrator istisnası əsaslandırılır. Qəbul edilmiş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70500" y="822380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sifarişlərin xərcləri valyuta və yaranma ayına görə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70500" y="838890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ayrılır.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29200" y="8785860"/>
            <a:ext cx="215900" cy="206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050">
                <a:solidFill>
                  <a:srgbClr val="555555"/>
                </a:solidFill>
                <a:latin typeface="Barlow Condensed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70500" y="8747760"/>
            <a:ext cx="30688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161616"/>
                </a:solidFill>
                <a:latin typeface="Barlow Condensed"/>
              </a:defRPr>
            </a:pPr>
            <a:r>
              <a:t>Planlı təchizatçı xatırlatmaları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70500" y="90518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Cavab verməmiş dəvətli təchizatçılar üçün e-poçt və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70500" y="92169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WhatsApp ardıcıllıqları qurulur. Təklif daxil olduqda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70500" y="93820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zəncir dayanır; alıcı xatırlatmaları əl ilə də dayandıra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0500" y="95471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bilər.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33400" y="10210800"/>
            <a:ext cx="6493200" cy="0"/>
          </a:xfrm>
          <a:prstGeom prst="line">
            <a:avLst/>
          </a:prstGeom>
          <a:ln w="6350">
            <a:solidFill>
              <a:srgbClr val="D6D6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33400" y="10297001"/>
            <a:ext cx="5743900" cy="167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850">
                <a:solidFill>
                  <a:srgbClr val="555555"/>
                </a:solidFill>
                <a:latin typeface="IBM Plex Sans"/>
              </a:defRPr>
            </a:pPr>
            <a:r>
              <a:t>LEADPROCURE / MƏHSUL MƏLUMAT VƏRƏQİ / 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44000" y="10297001"/>
            <a:ext cx="495300" cy="167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850">
                <a:solidFill>
                  <a:srgbClr val="161616"/>
                </a:solidFill>
                <a:latin typeface="IBM Plex Sans"/>
              </a:defRPr>
            </a:pPr>
            <a:r>
              <a:t>01 /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4224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254000"/>
            <a:ext cx="2933700" cy="3346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700">
                <a:solidFill>
                  <a:srgbClr val="FFFFFF"/>
                </a:solidFill>
                <a:latin typeface="Barlow Condensed"/>
              </a:defRPr>
            </a:pPr>
            <a:r>
              <a:t>Leadprocure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6505900" cy="8464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4300">
                <a:solidFill>
                  <a:srgbClr val="FFFFFF"/>
                </a:solidFill>
                <a:latin typeface="Barlow Condensed"/>
              </a:defRPr>
            </a:pPr>
            <a:r>
              <a:t>Profil və tətbiq şərtləri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689100"/>
            <a:ext cx="3068800" cy="37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900">
                <a:solidFill>
                  <a:srgbClr val="161616"/>
                </a:solidFill>
                <a:latin typeface="Barlow Condensed"/>
              </a:defRPr>
            </a:pPr>
            <a:r>
              <a:t>İş mühiti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3400" y="2044700"/>
            <a:ext cx="3056100" cy="0"/>
          </a:xfrm>
          <a:prstGeom prst="line">
            <a:avLst/>
          </a:prstGeom>
          <a:ln w="6350">
            <a:solidFill>
              <a:srgbClr val="D6D6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3400" y="21811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Rollar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3995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Alıcı administratoru · Təsdiqləyən şəxs · Maliyyə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25672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əməkdaşı · Alıcı istifadəçisi · Təchizatçı istifadəçisi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8745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Dillər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309300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Azərbaycan dili · Rus dili · İngilis dili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4003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Maliyyə məlumatları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36187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Serverdə hesablanan yekunlar; hər satınalma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37864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prosesi daxilində vahid valyuta. VÖEN, mövqe üzrə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39540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ƏDV, daxil və xaric vergi rejimləri; AZN ilə iş axını.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0500" y="1689100"/>
            <a:ext cx="3068800" cy="37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900">
                <a:solidFill>
                  <a:srgbClr val="161616"/>
                </a:solidFill>
                <a:latin typeface="Barlow Condensed"/>
              </a:defRPr>
            </a:pPr>
            <a:r>
              <a:t>Yerləşdirmə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70500" y="2044700"/>
            <a:ext cx="3056100" cy="0"/>
          </a:xfrm>
          <a:prstGeom prst="line">
            <a:avLst/>
          </a:prstGeom>
          <a:ln w="6350">
            <a:solidFill>
              <a:srgbClr val="D6D6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70500" y="21811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Bulud modeli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0500" y="23995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Təşkilatlar üzrə məlumat ayrılması ilə SaaS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0500" y="25672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yerləşdirmə.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0500" y="28872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Müştərinin infrastrukturunda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0500" y="310570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Öz infrastrukturunda yerləşdirmə və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0500" y="32733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lisenziyalaşdırma; texniki əhatə ayrıca razılaşdırılır.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4391660"/>
            <a:ext cx="3068800" cy="37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900">
                <a:solidFill>
                  <a:srgbClr val="161616"/>
                </a:solidFill>
                <a:latin typeface="Barlow Condensed"/>
              </a:defRPr>
            </a:pPr>
            <a:r>
              <a:t>Nəzarət mexanizmləri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3400" y="4747260"/>
            <a:ext cx="3056100" cy="0"/>
          </a:xfrm>
          <a:prstGeom prst="line">
            <a:avLst/>
          </a:prstGeom>
          <a:ln w="6350">
            <a:solidFill>
              <a:srgbClr val="D6D6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33400" y="4950460"/>
            <a:ext cx="31750" cy="3175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400" y="488370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Rollar üzrə əməliyyat səlahiyyətləri və təşkilatlar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400" y="505134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arasında məlumat ayrılması.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3400" y="5374640"/>
            <a:ext cx="31750" cy="3175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400" y="530788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Məxfi təkliflər üçün AES-256-GCM şifrələməsi və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" y="547552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açılışa bağlı görünürlük.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3400" y="5798820"/>
            <a:ext cx="31750" cy="3175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0400" y="573206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Təsdiq səlahiyyətlərinin ayrılması və əvvəlcədən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400" y="589970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müəyyən edilən qiymətləndirmə meyarları.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3400" y="6222999"/>
            <a:ext cx="31750" cy="3175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400" y="615624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Əsas əməliyyatlar üçün tətbiq istifadəçisinin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400" y="632388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dəyişə bilmədiyi audit qeydləri.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6647180"/>
            <a:ext cx="31750" cy="3175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400" y="658042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Son təqdimetmə tarixinin və məbləğ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400" y="6748065"/>
            <a:ext cx="2941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hesablamalarının serverdə yoxlanılması.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0500" y="4391660"/>
            <a:ext cx="3068800" cy="37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900">
                <a:solidFill>
                  <a:srgbClr val="161616"/>
                </a:solidFill>
                <a:latin typeface="Barlow Condensed"/>
              </a:defRPr>
            </a:pPr>
            <a:r>
              <a:t>Məlumat mübadiləsi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970500" y="4747260"/>
            <a:ext cx="3056100" cy="0"/>
          </a:xfrm>
          <a:prstGeom prst="line">
            <a:avLst/>
          </a:prstGeom>
          <a:ln w="6350">
            <a:solidFill>
              <a:srgbClr val="D6D6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970500" y="488370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UBL və OCDS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0500" y="51021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Ümumi UBL 2.1 qaimə sənədi və OCDS 1.1.5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0500" y="52697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quruluşunda tender/nəticə məlumatlarının ixracı.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0500" y="55771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1C üçün CSV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70500" y="579556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Qaimələrin 1C-yə uyğunlaşdırıla bilən CSV faylı ilə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0500" y="596320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ixracı.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0500" y="627054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161616"/>
                </a:solidFill>
                <a:latin typeface="IBM Plex Sans"/>
              </a:defRPr>
            </a:pPr>
            <a:r>
              <a:t>E-poçt və WhatsApp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0500" y="648898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Təşkilatın SMTP və Meta WhatsApp Cloud kanalları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70500" y="6656625"/>
            <a:ext cx="30688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555555"/>
                </a:solidFill>
                <a:latin typeface="IBM Plex Sans"/>
              </a:defRPr>
            </a:pPr>
            <a:r>
              <a:t>ilə qoşulma.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3400" y="7172959"/>
            <a:ext cx="6505900" cy="37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900">
                <a:solidFill>
                  <a:srgbClr val="161616"/>
                </a:solidFill>
                <a:latin typeface="Barlow Condensed"/>
              </a:defRPr>
            </a:pPr>
            <a:r>
              <a:t>Funksiyaların tətbiq şərtləri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33400" y="7528559"/>
            <a:ext cx="6493200" cy="0"/>
          </a:xfrm>
          <a:prstGeom prst="line">
            <a:avLst/>
          </a:prstGeom>
          <a:ln w="6350">
            <a:solidFill>
              <a:srgbClr val="D6D6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533400" y="7725409"/>
            <a:ext cx="27940" cy="279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0400" y="7665402"/>
            <a:ext cx="6378900" cy="1771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900">
                <a:solidFill>
                  <a:srgbClr val="555555"/>
                </a:solidFill>
                <a:latin typeface="IBM Plex Sans"/>
              </a:defRPr>
            </a:pPr>
            <a:r>
              <a:t>Büdcə bloklaması təşkilatın sazladığı həddə bağlıdır. Ödəniş statusunun qeydi bank köçürməsi deyil.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" y="7923530"/>
            <a:ext cx="27940" cy="279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400" y="7863522"/>
            <a:ext cx="6378900" cy="1771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900">
                <a:solidFill>
                  <a:srgbClr val="555555"/>
                </a:solidFill>
                <a:latin typeface="IBM Plex Sans"/>
              </a:defRPr>
            </a:pPr>
            <a:r>
              <a:t>CSV canlı ERP sinxronlaşdırılması deyil. Ümumi UBL ixracı Peppol şəbəkəsinə qoşulma deyil; ayrıca Access Point tələb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0400" y="8010842"/>
            <a:ext cx="6378900" cy="1771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900">
                <a:solidFill>
                  <a:srgbClr val="555555"/>
                </a:solidFill>
                <a:latin typeface="IBM Plex Sans"/>
              </a:defRPr>
            </a:pPr>
            <a:r>
              <a:t>olunur.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3400" y="8268970"/>
            <a:ext cx="27940" cy="279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400" y="8208962"/>
            <a:ext cx="6378900" cy="1771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900">
                <a:solidFill>
                  <a:srgbClr val="555555"/>
                </a:solidFill>
                <a:latin typeface="IBM Plex Sans"/>
              </a:defRPr>
            </a:pPr>
            <a:r>
              <a:t>Təchizatçı yoxlaması sənədlər və alıcının qərarına əsaslanır. Real ASAN İmza operator bağlantısı cari versiyada aktiv deyil.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3400" y="8467090"/>
            <a:ext cx="27940" cy="279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0400" y="8407082"/>
            <a:ext cx="6378900" cy="1771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900">
                <a:solidFill>
                  <a:srgbClr val="555555"/>
                </a:solidFill>
                <a:latin typeface="IBM Plex Sans"/>
              </a:defRPr>
            </a:pPr>
            <a:r>
              <a:t>SMTP/Meta göndərişi kanallar qoşulduqdan sonra pilotda yoxlanılır. LLM izahı konfiqurasiyadan asılıdır; yerli evristik model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0400" y="8554402"/>
            <a:ext cx="6378900" cy="1771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900">
                <a:solidFill>
                  <a:srgbClr val="555555"/>
                </a:solidFill>
                <a:latin typeface="IBM Plex Sans"/>
              </a:defRPr>
            </a:pPr>
            <a:r>
              <a:t>mövcuddur.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3400" y="8812530"/>
            <a:ext cx="27940" cy="279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0400" y="8752522"/>
            <a:ext cx="6378900" cy="1771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900">
                <a:solidFill>
                  <a:srgbClr val="555555"/>
                </a:solidFill>
                <a:latin typeface="IBM Plex Sans"/>
              </a:defRPr>
            </a:pPr>
            <a:r>
              <a:t>Modulların əlçatanlığı lisenziya və texniki konfiqurasiyadan asılıdır. Format dəstəyi sertifikatlaşdırma və ya hüquqi uyğunluq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0400" y="8899842"/>
            <a:ext cx="6378900" cy="1771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900">
                <a:solidFill>
                  <a:srgbClr val="555555"/>
                </a:solidFill>
                <a:latin typeface="IBM Plex Sans"/>
              </a:defRPr>
            </a:pPr>
            <a:r>
              <a:t>zəmanəti deyil.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3400" y="9271000"/>
            <a:ext cx="6493200" cy="7874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98500" y="9372600"/>
            <a:ext cx="6175700" cy="3543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1" sz="1800">
                <a:solidFill>
                  <a:srgbClr val="FFFFFF"/>
                </a:solidFill>
                <a:latin typeface="Barlow Condensed"/>
              </a:defRPr>
            </a:pPr>
            <a:r>
              <a:t>Pilot satınalma ilə başlayın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8500" y="9674145"/>
            <a:ext cx="61757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FFFFFF"/>
                </a:solidFill>
                <a:latin typeface="IBM Plex Sans"/>
              </a:defRPr>
            </a:pPr>
            <a:r>
              <a:t>Pilot üçün bir satınalma kateqoriyası seçilir; rollar, qaydalar və nəticənin qiymətləndirilməsi meyarları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8500" y="9841785"/>
            <a:ext cx="6175700" cy="201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1025">
                <a:solidFill>
                  <a:srgbClr val="FFFFFF"/>
                </a:solidFill>
                <a:latin typeface="IBM Plex Sans"/>
              </a:defRPr>
            </a:pPr>
            <a:r>
              <a:t>birlikdə müəyyən edilir.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33400" y="10210800"/>
            <a:ext cx="6493200" cy="0"/>
          </a:xfrm>
          <a:prstGeom prst="line">
            <a:avLst/>
          </a:prstGeom>
          <a:ln w="6350">
            <a:solidFill>
              <a:srgbClr val="D6D6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33400" y="10297001"/>
            <a:ext cx="5743900" cy="167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850">
                <a:solidFill>
                  <a:srgbClr val="555555"/>
                </a:solidFill>
                <a:latin typeface="IBM Plex Sans"/>
              </a:defRPr>
            </a:pPr>
            <a:r>
              <a:t>LEADPROCURE / MƏHSUL MƏLUMAT VƏRƏQİ / AZ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44000" y="10297001"/>
            <a:ext cx="495300" cy="167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b="0" sz="850">
                <a:solidFill>
                  <a:srgbClr val="161616"/>
                </a:solidFill>
                <a:latin typeface="IBM Plex Sans"/>
              </a:defRPr>
            </a:pPr>
            <a:r>
              <a:t>02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Leadprocure — Məhsul məlumat vərəqi</dc:title>
  <dc:subject/>
  <dc:creator>Leadprocure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