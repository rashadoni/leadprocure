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0" cy="165100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3400" y="228600"/>
            <a:ext cx="4203700" cy="9055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1" sz="4600">
                <a:solidFill>
                  <a:srgbClr val="FFFFFF"/>
                </a:solidFill>
                <a:latin typeface="Barlow Condensed"/>
              </a:defRPr>
            </a:pPr>
            <a:r>
              <a:t>Leadprocure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40600" y="352583"/>
            <a:ext cx="2298700" cy="1870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950">
                <a:solidFill>
                  <a:srgbClr val="B8B8B8"/>
                </a:solidFill>
                <a:latin typeface="IBM Plex Sans"/>
              </a:defRPr>
            </a:pPr>
            <a:r>
              <a:t>MƏHSUL MƏLUMAT VƏRƏQİ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1054100"/>
            <a:ext cx="65059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1" sz="2000">
                <a:solidFill>
                  <a:srgbClr val="FFFFFF"/>
                </a:solidFill>
                <a:latin typeface="Barlow Condensed"/>
              </a:defRPr>
            </a:pPr>
            <a:r>
              <a:t>Korporativ satınalma və təchizatçı əməkdaşlığı platforması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1863645"/>
            <a:ext cx="65059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161616"/>
                </a:solidFill>
                <a:latin typeface="IBM Plex Sans"/>
              </a:defRPr>
            </a:pPr>
            <a:r>
              <a:t>Satınalma tələbindən tenderə, müqavilədən sifariş, qəbul və qaiməyə qədər vahid iş prosesi. Leadprocure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2031285"/>
            <a:ext cx="65059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161616"/>
                </a:solidFill>
                <a:latin typeface="IBM Plex Sans"/>
              </a:defRPr>
            </a:pPr>
            <a:r>
              <a:t>məsul şəxsləri, qərarları və əməliyyat məlumatlarını əlaqələndirərək satınalma, maliyyə və əməliyyat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2198925"/>
            <a:ext cx="65059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161616"/>
                </a:solidFill>
                <a:latin typeface="IBM Plex Sans"/>
              </a:defRPr>
            </a:pPr>
            <a:r>
              <a:t>komandalarına ortaq baxış verir.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2468165"/>
            <a:ext cx="65059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555555"/>
                </a:solidFill>
                <a:latin typeface="IBM Plex Sans"/>
              </a:defRPr>
            </a:pPr>
            <a:r>
              <a:t>Daxili təsdiq qaydaları, rəqabətli seçim və təchizatın icrası üzərində sistemli nəzarət qurmaq istəyən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3400" y="2635805"/>
            <a:ext cx="65059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555555"/>
                </a:solidFill>
                <a:latin typeface="IBM Plex Sans"/>
              </a:defRPr>
            </a:pPr>
            <a:r>
              <a:t>müəssisələr və korporativ satınalma komandaları.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400" y="2959100"/>
            <a:ext cx="6505900" cy="3740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1" sz="1900">
                <a:solidFill>
                  <a:srgbClr val="161616"/>
                </a:solidFill>
                <a:latin typeface="Barlow Condensed"/>
              </a:defRPr>
            </a:pPr>
            <a:r>
              <a:t>Əsas imkanlar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33400" y="3314700"/>
            <a:ext cx="6493200" cy="0"/>
          </a:xfrm>
          <a:prstGeom prst="line">
            <a:avLst/>
          </a:prstGeom>
          <a:ln w="6350">
            <a:solidFill>
              <a:srgbClr val="D6D6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92100" y="3492500"/>
            <a:ext cx="215900" cy="2066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1" sz="1050">
                <a:solidFill>
                  <a:srgbClr val="555555"/>
                </a:solidFill>
                <a:latin typeface="Barlow Condensed"/>
              </a:defRPr>
            </a:pPr>
            <a: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400" y="3454400"/>
            <a:ext cx="3068800" cy="3346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1" sz="1700">
                <a:solidFill>
                  <a:srgbClr val="161616"/>
                </a:solidFill>
                <a:latin typeface="Barlow Condensed"/>
              </a:defRPr>
            </a:pPr>
            <a:r>
              <a:t>Revers-auksion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400" y="3758485"/>
            <a:ext cx="3068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555555"/>
                </a:solidFill>
                <a:latin typeface="IBM Plex Sans"/>
              </a:defRPr>
            </a:pPr>
            <a:r>
              <a:t>Cari ən yaxşı qiymət və növbəti maksimum təklif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3400" y="3923585"/>
            <a:ext cx="3068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555555"/>
                </a:solidFill>
                <a:latin typeface="IBM Plex Sans"/>
              </a:defRPr>
            </a:pPr>
            <a:r>
              <a:t>həddi iştirakçıya görünür. Minimum endirim addımı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400" y="4088685"/>
            <a:ext cx="3068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555555"/>
                </a:solidFill>
                <a:latin typeface="IBM Plex Sans"/>
              </a:defRPr>
            </a:pPr>
            <a:r>
              <a:t>və son anda gələn təkliflər üçün müddətin məhdud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3400" y="4253785"/>
            <a:ext cx="3068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555555"/>
                </a:solidFill>
                <a:latin typeface="IBM Plex Sans"/>
              </a:defRPr>
            </a:pPr>
            <a:r>
              <a:t>uzadılması qaydası tətbiq olunur.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100" y="4815840"/>
            <a:ext cx="215900" cy="2066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1" sz="1050">
                <a:solidFill>
                  <a:srgbClr val="555555"/>
                </a:solidFill>
                <a:latin typeface="Barlow Condensed"/>
              </a:defRPr>
            </a:pPr>
            <a: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3400" y="4777740"/>
            <a:ext cx="3068800" cy="3346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1" sz="1700">
                <a:solidFill>
                  <a:srgbClr val="161616"/>
                </a:solidFill>
                <a:latin typeface="Barlow Condensed"/>
              </a:defRPr>
            </a:pPr>
            <a:r>
              <a:t>Məxfi RFQ və RFP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3400" y="5081825"/>
            <a:ext cx="3068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555555"/>
                </a:solidFill>
                <a:latin typeface="IBM Plex Sans"/>
              </a:defRPr>
            </a:pPr>
            <a:r>
              <a:t>Qiymət təklifi sorğusunda və texniki təklifli tenderdə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3400" y="5246925"/>
            <a:ext cx="3068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555555"/>
                </a:solidFill>
                <a:latin typeface="IBM Plex Sans"/>
              </a:defRPr>
            </a:pPr>
            <a:r>
              <a:t>məbləğlər açılışa qədər alıcıdan gizlidir. RFI ilə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3400" y="5412025"/>
            <a:ext cx="3068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555555"/>
                </a:solidFill>
                <a:latin typeface="IBM Plex Sans"/>
              </a:defRPr>
            </a:pPr>
            <a:r>
              <a:t>qiymətsiz məlumat toplamaq, ümumi sual-cavab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400" y="5577125"/>
            <a:ext cx="3068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555555"/>
                </a:solidFill>
                <a:latin typeface="IBM Plex Sans"/>
              </a:defRPr>
            </a:pPr>
            <a:r>
              <a:t>bölməsində iştirakçıları məlumatlandırmaq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3400" y="5742225"/>
            <a:ext cx="3068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555555"/>
                </a:solidFill>
                <a:latin typeface="IBM Plex Sans"/>
              </a:defRPr>
            </a:pPr>
            <a:r>
              <a:t>mümkündür.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100" y="6139180"/>
            <a:ext cx="215900" cy="2066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1" sz="1050">
                <a:solidFill>
                  <a:srgbClr val="555555"/>
                </a:solidFill>
                <a:latin typeface="Barlow Condensed"/>
              </a:defRPr>
            </a:pPr>
            <a: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3400" y="6101080"/>
            <a:ext cx="3068800" cy="3346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1" sz="1700">
                <a:solidFill>
                  <a:srgbClr val="161616"/>
                </a:solidFill>
                <a:latin typeface="Barlow Condensed"/>
              </a:defRPr>
            </a:pPr>
            <a:r>
              <a:t>Təsdiq zəncirləri və səlahiyyət bölgüsü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" y="6405165"/>
            <a:ext cx="3068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555555"/>
                </a:solidFill>
                <a:latin typeface="IBM Plex Sans"/>
              </a:defRPr>
            </a:pPr>
            <a:r>
              <a:t>Məbləğə görə satınalma metodu və təsdiq addımları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3400" y="6570265"/>
            <a:ext cx="3068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555555"/>
                </a:solidFill>
                <a:latin typeface="IBM Plex Sans"/>
              </a:defRPr>
            </a:pPr>
            <a:r>
              <a:t>müəyyən edilir. Müəllif öz tələbini təsdiqləmir; bir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3400" y="6735365"/>
            <a:ext cx="3068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555555"/>
                </a:solidFill>
                <a:latin typeface="IBM Plex Sans"/>
              </a:defRPr>
            </a:pPr>
            <a:r>
              <a:t>şəxs eyni tələbin iki təsdiq addımını yerinə yetirə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3400" y="6900465"/>
            <a:ext cx="3068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555555"/>
                </a:solidFill>
                <a:latin typeface="IBM Plex Sans"/>
              </a:defRPr>
            </a:pPr>
            <a:r>
              <a:t>bilmir.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100" y="7462520"/>
            <a:ext cx="215900" cy="2066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1" sz="1050">
                <a:solidFill>
                  <a:srgbClr val="555555"/>
                </a:solidFill>
                <a:latin typeface="Barlow Condensed"/>
              </a:defRPr>
            </a:pPr>
            <a: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3400" y="7424420"/>
            <a:ext cx="3068800" cy="3346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1" sz="1700">
                <a:solidFill>
                  <a:srgbClr val="161616"/>
                </a:solidFill>
                <a:latin typeface="Barlow Condensed"/>
              </a:defRPr>
            </a:pPr>
            <a:r>
              <a:t>Lotlar üzrə seçim və formal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3400" y="7668260"/>
            <a:ext cx="3068800" cy="3346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1" sz="1700">
                <a:solidFill>
                  <a:srgbClr val="161616"/>
                </a:solidFill>
                <a:latin typeface="Barlow Condensed"/>
              </a:defRPr>
            </a:pPr>
            <a:r>
              <a:t>qiymətləndirmə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3400" y="7972345"/>
            <a:ext cx="3068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555555"/>
                </a:solidFill>
                <a:latin typeface="IBM Plex Sans"/>
              </a:defRPr>
            </a:pPr>
            <a:r>
              <a:t>Meyarlar əvvəlcədən müəyyən edilir. Lotlar müxtəlif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3400" y="8137445"/>
            <a:ext cx="3068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555555"/>
                </a:solidFill>
                <a:latin typeface="IBM Plex Sans"/>
              </a:defRPr>
            </a:pPr>
            <a:r>
              <a:t>təchizatçılara verilə bilər. Qiymətləndirmədə birinci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3400" y="8302545"/>
            <a:ext cx="3068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555555"/>
                </a:solidFill>
                <a:latin typeface="IBM Plex Sans"/>
              </a:defRPr>
            </a:pPr>
            <a:r>
              <a:t>olmayan təklifin seçilməsi və yalnız bir uyğun təklifin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3400" y="8467645"/>
            <a:ext cx="3068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555555"/>
                </a:solidFill>
                <a:latin typeface="IBM Plex Sans"/>
              </a:defRPr>
            </a:pPr>
            <a:r>
              <a:t>olduğu hallar əsaslandırma tələb edir.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2100" y="8785860"/>
            <a:ext cx="215900" cy="2066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1" sz="1050">
                <a:solidFill>
                  <a:srgbClr val="555555"/>
                </a:solidFill>
                <a:latin typeface="Barlow Condensed"/>
              </a:defRPr>
            </a:pPr>
            <a:r>
              <a:t>05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3400" y="8747760"/>
            <a:ext cx="3068800" cy="3346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1" sz="1700">
                <a:solidFill>
                  <a:srgbClr val="161616"/>
                </a:solidFill>
                <a:latin typeface="Barlow Condensed"/>
              </a:defRPr>
            </a:pPr>
            <a:r>
              <a:t>İzah edilən AI tövsiyəsi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3400" y="9051845"/>
            <a:ext cx="3068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555555"/>
                </a:solidFill>
                <a:latin typeface="IBM Plex Sans"/>
              </a:defRPr>
            </a:pPr>
            <a:r>
              <a:t>Açılmış təkliflər eyni lot və valyuta üzrə qiymət,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3400" y="9216945"/>
            <a:ext cx="3068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555555"/>
                </a:solidFill>
                <a:latin typeface="IBM Plex Sans"/>
              </a:defRPr>
            </a:pPr>
            <a:r>
              <a:t>çatdırılma və tarixçə əsasında sıralanır. İzah edilən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3400" y="9382045"/>
            <a:ext cx="3068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555555"/>
                </a:solidFill>
                <a:latin typeface="IBM Plex Sans"/>
              </a:defRPr>
            </a:pPr>
            <a:r>
              <a:t>köməkçi tövsiyə formal qiymətləndirməni əvəz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3400" y="9547145"/>
            <a:ext cx="3068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555555"/>
                </a:solidFill>
                <a:latin typeface="IBM Plex Sans"/>
              </a:defRPr>
            </a:pPr>
            <a:r>
              <a:t>etmir; qalib ayrıca təsdiqlənir.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29200" y="3492500"/>
            <a:ext cx="215900" cy="2066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1" sz="1050">
                <a:solidFill>
                  <a:srgbClr val="555555"/>
                </a:solidFill>
                <a:latin typeface="Barlow Condensed"/>
              </a:defRPr>
            </a:pPr>
            <a:r>
              <a:t>06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970500" y="3454400"/>
            <a:ext cx="3068800" cy="3346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1" sz="1700">
                <a:solidFill>
                  <a:srgbClr val="161616"/>
                </a:solidFill>
                <a:latin typeface="Barlow Condensed"/>
              </a:defRPr>
            </a:pPr>
            <a:r>
              <a:t>Təchizatçı reyestri və sənəd yoxlaması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970500" y="3758485"/>
            <a:ext cx="3068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555555"/>
                </a:solidFill>
                <a:latin typeface="IBM Plex Sans"/>
              </a:defRPr>
            </a:pPr>
            <a:r>
              <a:t>Reyestr, sənədlərə əsaslanan KYC və performans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70500" y="3923585"/>
            <a:ext cx="3068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555555"/>
                </a:solidFill>
                <a:latin typeface="IBM Plex Sans"/>
              </a:defRPr>
            </a:pPr>
            <a:r>
              <a:t>tarixçəsi idarə olunur. Bloklama yeni satınalma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970500" y="4088685"/>
            <a:ext cx="3068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555555"/>
                </a:solidFill>
                <a:latin typeface="IBM Plex Sans"/>
              </a:defRPr>
            </a:pPr>
            <a:r>
              <a:t>əməliyyatlarına tətbiq edilir; mövcud öhdəliklərin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970500" y="4253785"/>
            <a:ext cx="3068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555555"/>
                </a:solidFill>
                <a:latin typeface="IBM Plex Sans"/>
              </a:defRPr>
            </a:pPr>
            <a:r>
              <a:t>icrası ayrıca davam edir.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729200" y="4815840"/>
            <a:ext cx="215900" cy="2066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1" sz="1050">
                <a:solidFill>
                  <a:srgbClr val="555555"/>
                </a:solidFill>
                <a:latin typeface="Barlow Condensed"/>
              </a:defRPr>
            </a:pPr>
            <a:r>
              <a:t>07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970500" y="4777740"/>
            <a:ext cx="3068800" cy="3346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1" sz="1700">
                <a:solidFill>
                  <a:srgbClr val="161616"/>
                </a:solidFill>
                <a:latin typeface="Barlow Condensed"/>
              </a:defRPr>
            </a:pPr>
            <a:r>
              <a:t>Müqavilələr, sifarişlər və qiymət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970500" y="5021580"/>
            <a:ext cx="3068800" cy="3346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1" sz="1700">
                <a:solidFill>
                  <a:srgbClr val="161616"/>
                </a:solidFill>
                <a:latin typeface="Barlow Condensed"/>
              </a:defRPr>
            </a:pPr>
            <a:r>
              <a:t>kataloqları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970500" y="5325665"/>
            <a:ext cx="3068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555555"/>
                </a:solidFill>
                <a:latin typeface="IBM Plex Sans"/>
              </a:defRPr>
            </a:pPr>
            <a:r>
              <a:t>Müqavilədən PO və qəbula qədər icra izlənir.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970500" y="5490765"/>
            <a:ext cx="3068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555555"/>
                </a:solidFill>
                <a:latin typeface="IBM Plex Sans"/>
              </a:defRPr>
            </a:pPr>
            <a:r>
              <a:t>Dəyişiklik təchizatçının razılığı ilə tətbiq olunur.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970500" y="5655865"/>
            <a:ext cx="3068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555555"/>
                </a:solidFill>
                <a:latin typeface="IBM Plex Sans"/>
              </a:defRPr>
            </a:pPr>
            <a:r>
              <a:t>Razılaşdırılmış qiymət kataloqları minimum miqdar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970500" y="5820965"/>
            <a:ext cx="3068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555555"/>
                </a:solidFill>
                <a:latin typeface="IBM Plex Sans"/>
              </a:defRPr>
            </a:pPr>
            <a:r>
              <a:t>yoxlaması ilə təkrar sifariş imkanı verir.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729200" y="6139180"/>
            <a:ext cx="215900" cy="2066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1" sz="1050">
                <a:solidFill>
                  <a:srgbClr val="555555"/>
                </a:solidFill>
                <a:latin typeface="Barlow Condensed"/>
              </a:defRPr>
            </a:pPr>
            <a:r>
              <a:t>08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70500" y="6101080"/>
            <a:ext cx="3068800" cy="3346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1" sz="1700">
                <a:solidFill>
                  <a:srgbClr val="161616"/>
                </a:solidFill>
                <a:latin typeface="Barlow Condensed"/>
              </a:defRPr>
            </a:pPr>
            <a:r>
              <a:t>Qaimələrin üçtərəfli üzləşdirilməsi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970500" y="6405165"/>
            <a:ext cx="3068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555555"/>
                </a:solidFill>
                <a:latin typeface="IBM Plex Sans"/>
              </a:defRPr>
            </a:pPr>
            <a:r>
              <a:t>Sifariş, faktiki qəbul və qaimə müqayisə edilir;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970500" y="6570265"/>
            <a:ext cx="3068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555555"/>
                </a:solidFill>
                <a:latin typeface="IBM Plex Sans"/>
              </a:defRPr>
            </a:pPr>
            <a:r>
              <a:t>qiymət və miqdar uyğunsuzluqları göstərilir.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970500" y="6735365"/>
            <a:ext cx="3068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555555"/>
                </a:solidFill>
                <a:latin typeface="IBM Plex Sans"/>
              </a:defRPr>
            </a:pPr>
            <a:r>
              <a:t>Mübahisəli qaimənin istisna olaraq təsdiqi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970500" y="6900465"/>
            <a:ext cx="3068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555555"/>
                </a:solidFill>
                <a:latin typeface="IBM Plex Sans"/>
              </a:defRPr>
            </a:pPr>
            <a:r>
              <a:t>əsaslandırılır. Ödəniş statusu uçota alınır.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729200" y="7462520"/>
            <a:ext cx="215900" cy="2066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1" sz="1050">
                <a:solidFill>
                  <a:srgbClr val="555555"/>
                </a:solidFill>
                <a:latin typeface="Barlow Condensed"/>
              </a:defRPr>
            </a:pPr>
            <a:r>
              <a:t>09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970500" y="7424420"/>
            <a:ext cx="3068800" cy="3346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1" sz="1700">
                <a:solidFill>
                  <a:srgbClr val="161616"/>
                </a:solidFill>
                <a:latin typeface="Barlow Condensed"/>
              </a:defRPr>
            </a:pPr>
            <a:r>
              <a:t>Büdcə və xərc analitikası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970500" y="7728505"/>
            <a:ext cx="3068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555555"/>
                </a:solidFill>
                <a:latin typeface="IBM Plex Sans"/>
              </a:defRPr>
            </a:pPr>
            <a:r>
              <a:t>Kateqoriya və il üzrə limitlər, tələblərin büdcəyə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970500" y="7893605"/>
            <a:ext cx="3068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555555"/>
                </a:solidFill>
                <a:latin typeface="IBM Plex Sans"/>
              </a:defRPr>
            </a:pPr>
            <a:r>
              <a:t>təsiri və aşım xəbərdarlıqları görünür. Qəbul edilmiş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970500" y="8058705"/>
            <a:ext cx="3068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555555"/>
                </a:solidFill>
                <a:latin typeface="IBM Plex Sans"/>
              </a:defRPr>
            </a:pPr>
            <a:r>
              <a:t>sifarişlər üzrə xərclər valyuta ilə ayrılır; ay sifarişin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970500" y="8223805"/>
            <a:ext cx="3068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555555"/>
                </a:solidFill>
                <a:latin typeface="IBM Plex Sans"/>
              </a:defRPr>
            </a:pPr>
            <a:r>
              <a:t>yaradılma tarixinə görə hesablanır.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729200" y="8785860"/>
            <a:ext cx="215900" cy="2066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1" sz="1050">
                <a:solidFill>
                  <a:srgbClr val="555555"/>
                </a:solidFill>
                <a:latin typeface="Barlow Condensed"/>
              </a:defRPr>
            </a:pPr>
            <a:r>
              <a:t>10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970500" y="8747760"/>
            <a:ext cx="3068800" cy="3346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1" sz="1700">
                <a:solidFill>
                  <a:srgbClr val="161616"/>
                </a:solidFill>
                <a:latin typeface="Barlow Condensed"/>
              </a:defRPr>
            </a:pPr>
            <a:r>
              <a:t>Planlı təchizatçı xatırlatmaları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970500" y="9051845"/>
            <a:ext cx="3068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555555"/>
                </a:solidFill>
                <a:latin typeface="IBM Plex Sans"/>
              </a:defRPr>
            </a:pPr>
            <a:r>
              <a:t>Cavab verməmiş dəvətli təchizatçılar üçün e-poçt və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970500" y="9216945"/>
            <a:ext cx="3068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555555"/>
                </a:solidFill>
                <a:latin typeface="IBM Plex Sans"/>
              </a:defRPr>
            </a:pPr>
            <a:r>
              <a:t>WhatsApp ardıcıllıqları qurulur. Təklif daxil olduqda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970500" y="9382045"/>
            <a:ext cx="3068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555555"/>
                </a:solidFill>
                <a:latin typeface="IBM Plex Sans"/>
              </a:defRPr>
            </a:pPr>
            <a:r>
              <a:t>zəncir dayanır; alıcı xatırlatmaları əl ilə də dayandıra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970500" y="9547145"/>
            <a:ext cx="3068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555555"/>
                </a:solidFill>
                <a:latin typeface="IBM Plex Sans"/>
              </a:defRPr>
            </a:pPr>
            <a:r>
              <a:t>bilər.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533400" y="10210800"/>
            <a:ext cx="6493200" cy="0"/>
          </a:xfrm>
          <a:prstGeom prst="line">
            <a:avLst/>
          </a:prstGeom>
          <a:ln w="6350">
            <a:solidFill>
              <a:srgbClr val="D6D6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533400" y="10297001"/>
            <a:ext cx="5743900" cy="1673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850">
                <a:solidFill>
                  <a:srgbClr val="555555"/>
                </a:solidFill>
                <a:latin typeface="IBM Plex Sans"/>
              </a:defRPr>
            </a:pPr>
            <a:r>
              <a:t>LEADPROCURE / MƏHSUL MƏLUMAT VƏRƏQİ / AZ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544000" y="10297001"/>
            <a:ext cx="495300" cy="1673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850">
                <a:solidFill>
                  <a:srgbClr val="161616"/>
                </a:solidFill>
                <a:latin typeface="IBM Plex Sans"/>
              </a:defRPr>
            </a:pPr>
            <a:r>
              <a:t>01 / 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0" cy="142240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3400" y="254000"/>
            <a:ext cx="2933700" cy="3346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1" sz="1700">
                <a:solidFill>
                  <a:srgbClr val="FFFFFF"/>
                </a:solidFill>
                <a:latin typeface="Barlow Condensed"/>
              </a:defRPr>
            </a:pPr>
            <a:r>
              <a:t>Leadprocure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609600"/>
            <a:ext cx="6505900" cy="8464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1" sz="4300">
                <a:solidFill>
                  <a:srgbClr val="FFFFFF"/>
                </a:solidFill>
                <a:latin typeface="Barlow Condensed"/>
              </a:defRPr>
            </a:pPr>
            <a:r>
              <a:t>Profil və tətbiq şərtləri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1689100"/>
            <a:ext cx="3068800" cy="3740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1" sz="1900">
                <a:solidFill>
                  <a:srgbClr val="161616"/>
                </a:solidFill>
                <a:latin typeface="Barlow Condensed"/>
              </a:defRPr>
            </a:pPr>
            <a:r>
              <a:t>İş mühiti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33400" y="2044700"/>
            <a:ext cx="3056100" cy="0"/>
          </a:xfrm>
          <a:prstGeom prst="line">
            <a:avLst/>
          </a:prstGeom>
          <a:ln w="6350">
            <a:solidFill>
              <a:srgbClr val="D6D6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3400" y="2181145"/>
            <a:ext cx="3068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161616"/>
                </a:solidFill>
                <a:latin typeface="IBM Plex Sans"/>
              </a:defRPr>
            </a:pPr>
            <a:r>
              <a:t>Rollar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2399585"/>
            <a:ext cx="3068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555555"/>
                </a:solidFill>
                <a:latin typeface="IBM Plex Sans"/>
              </a:defRPr>
            </a:pPr>
            <a:r>
              <a:t>Alıcı administratoru · Təsdiqləyən şəxs · Alıcı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2567225"/>
            <a:ext cx="3068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555555"/>
                </a:solidFill>
                <a:latin typeface="IBM Plex Sans"/>
              </a:defRPr>
            </a:pPr>
            <a:r>
              <a:t>istifadəçisi · Təchizatçı istifadəçisi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3400" y="2874565"/>
            <a:ext cx="3068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161616"/>
                </a:solidFill>
                <a:latin typeface="IBM Plex Sans"/>
              </a:defRPr>
            </a:pPr>
            <a:r>
              <a:t>Dillər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400" y="3093005"/>
            <a:ext cx="3068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555555"/>
                </a:solidFill>
                <a:latin typeface="IBM Plex Sans"/>
              </a:defRPr>
            </a:pPr>
            <a:r>
              <a:t>Azərbaycan dili · Rus dili · İngilis dili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3400" y="3400345"/>
            <a:ext cx="3068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161616"/>
                </a:solidFill>
                <a:latin typeface="IBM Plex Sans"/>
              </a:defRPr>
            </a:pPr>
            <a:r>
              <a:t>Maliyyə məlumatları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3400" y="3618785"/>
            <a:ext cx="3068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555555"/>
                </a:solidFill>
                <a:latin typeface="IBM Plex Sans"/>
              </a:defRPr>
            </a:pPr>
            <a:r>
              <a:t>Serverdə hesablanan yekunlar; hər satınalma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400" y="3786425"/>
            <a:ext cx="3068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555555"/>
                </a:solidFill>
                <a:latin typeface="IBM Plex Sans"/>
              </a:defRPr>
            </a:pPr>
            <a:r>
              <a:t>prosesi daxilində vahid valyuta. VÖEN, mövqe üzrə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400" y="3954065"/>
            <a:ext cx="3068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555555"/>
                </a:solidFill>
                <a:latin typeface="IBM Plex Sans"/>
              </a:defRPr>
            </a:pPr>
            <a:r>
              <a:t>ƏDV, daxil və xaric vergi rejimləri; AZN ilə iş axını.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70500" y="1689100"/>
            <a:ext cx="3068800" cy="3740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1" sz="1900">
                <a:solidFill>
                  <a:srgbClr val="161616"/>
                </a:solidFill>
                <a:latin typeface="Barlow Condensed"/>
              </a:defRPr>
            </a:pPr>
            <a:r>
              <a:t>Yerləşdirmə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970500" y="2044700"/>
            <a:ext cx="3056100" cy="0"/>
          </a:xfrm>
          <a:prstGeom prst="line">
            <a:avLst/>
          </a:prstGeom>
          <a:ln w="6350">
            <a:solidFill>
              <a:srgbClr val="D6D6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970500" y="2181145"/>
            <a:ext cx="3068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161616"/>
                </a:solidFill>
                <a:latin typeface="IBM Plex Sans"/>
              </a:defRPr>
            </a:pPr>
            <a:r>
              <a:t>Bulud modeli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0500" y="2399585"/>
            <a:ext cx="3068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555555"/>
                </a:solidFill>
                <a:latin typeface="IBM Plex Sans"/>
              </a:defRPr>
            </a:pPr>
            <a:r>
              <a:t>Təşkilatlar üzrə məlumat ayrılması ilə SaaS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70500" y="2567225"/>
            <a:ext cx="3068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555555"/>
                </a:solidFill>
                <a:latin typeface="IBM Plex Sans"/>
              </a:defRPr>
            </a:pPr>
            <a:r>
              <a:t>yerləşdirmə.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70500" y="2887265"/>
            <a:ext cx="3068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161616"/>
                </a:solidFill>
                <a:latin typeface="IBM Plex Sans"/>
              </a:defRPr>
            </a:pPr>
            <a:r>
              <a:t>Müştərinin infrastrukturunda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70500" y="3105705"/>
            <a:ext cx="3068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555555"/>
                </a:solidFill>
                <a:latin typeface="IBM Plex Sans"/>
              </a:defRPr>
            </a:pPr>
            <a:r>
              <a:t>Öz infrastrukturunda yerləşdirmə və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70500" y="3273345"/>
            <a:ext cx="3068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555555"/>
                </a:solidFill>
                <a:latin typeface="IBM Plex Sans"/>
              </a:defRPr>
            </a:pPr>
            <a:r>
              <a:t>lisenziyalaşdırma; texniki əhatə ayrıca razılaşdırılır.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400" y="4391660"/>
            <a:ext cx="3068800" cy="3740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1" sz="1900">
                <a:solidFill>
                  <a:srgbClr val="161616"/>
                </a:solidFill>
                <a:latin typeface="Barlow Condensed"/>
              </a:defRPr>
            </a:pPr>
            <a:r>
              <a:t>Nəzarət mexanizmləri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33400" y="4747260"/>
            <a:ext cx="3056100" cy="0"/>
          </a:xfrm>
          <a:prstGeom prst="line">
            <a:avLst/>
          </a:prstGeom>
          <a:ln w="6350">
            <a:solidFill>
              <a:srgbClr val="D6D6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533400" y="4950460"/>
            <a:ext cx="31750" cy="3175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0400" y="4883705"/>
            <a:ext cx="2941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555555"/>
                </a:solidFill>
                <a:latin typeface="IBM Plex Sans"/>
              </a:defRPr>
            </a:pPr>
            <a:r>
              <a:t>Rollar üzrə əməliyyat səlahiyyətləri və təşkilatlar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0400" y="5051345"/>
            <a:ext cx="2941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555555"/>
                </a:solidFill>
                <a:latin typeface="IBM Plex Sans"/>
              </a:defRPr>
            </a:pPr>
            <a:r>
              <a:t>arasında məlumat ayrılması.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3400" y="5374640"/>
            <a:ext cx="31750" cy="3175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0400" y="5307885"/>
            <a:ext cx="2941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555555"/>
                </a:solidFill>
                <a:latin typeface="IBM Plex Sans"/>
              </a:defRPr>
            </a:pPr>
            <a:r>
              <a:t>Məxfi təkliflər üçün AES-256-GCM şifrələməsi və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0400" y="5475525"/>
            <a:ext cx="2941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555555"/>
                </a:solidFill>
                <a:latin typeface="IBM Plex Sans"/>
              </a:defRPr>
            </a:pPr>
            <a:r>
              <a:t>açılışa bağlı görünürlük.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3400" y="5798820"/>
            <a:ext cx="31750" cy="3175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0400" y="5732065"/>
            <a:ext cx="2941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555555"/>
                </a:solidFill>
                <a:latin typeface="IBM Plex Sans"/>
              </a:defRPr>
            </a:pPr>
            <a:r>
              <a:t>Təsdiq səlahiyyətlərinin ayrılması və əvvəlcədən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0400" y="5899705"/>
            <a:ext cx="2941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555555"/>
                </a:solidFill>
                <a:latin typeface="IBM Plex Sans"/>
              </a:defRPr>
            </a:pPr>
            <a:r>
              <a:t>müəyyən edilən qiymətləndirmə meyarları.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33400" y="6222999"/>
            <a:ext cx="31750" cy="3175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0400" y="6156245"/>
            <a:ext cx="2941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555555"/>
                </a:solidFill>
                <a:latin typeface="IBM Plex Sans"/>
              </a:defRPr>
            </a:pPr>
            <a:r>
              <a:t>Əsas əməliyyatlar üçün tətbiq istifadəçisinin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0400" y="6323885"/>
            <a:ext cx="2941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555555"/>
                </a:solidFill>
                <a:latin typeface="IBM Plex Sans"/>
              </a:defRPr>
            </a:pPr>
            <a:r>
              <a:t>dəyişə bilmədiyi audit qeydləri.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33400" y="6647180"/>
            <a:ext cx="31750" cy="3175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0400" y="6580425"/>
            <a:ext cx="2941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555555"/>
                </a:solidFill>
                <a:latin typeface="IBM Plex Sans"/>
              </a:defRPr>
            </a:pPr>
            <a:r>
              <a:t>Son təqdimetmə tarixinin və məbləğ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0400" y="6748065"/>
            <a:ext cx="2941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555555"/>
                </a:solidFill>
                <a:latin typeface="IBM Plex Sans"/>
              </a:defRPr>
            </a:pPr>
            <a:r>
              <a:t>hesablamalarının serverdə yoxlanılması.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970500" y="4391660"/>
            <a:ext cx="3068800" cy="3740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1" sz="1900">
                <a:solidFill>
                  <a:srgbClr val="161616"/>
                </a:solidFill>
                <a:latin typeface="Barlow Condensed"/>
              </a:defRPr>
            </a:pPr>
            <a:r>
              <a:t>Məlumat mübadiləsi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3970500" y="4747260"/>
            <a:ext cx="3056100" cy="0"/>
          </a:xfrm>
          <a:prstGeom prst="line">
            <a:avLst/>
          </a:prstGeom>
          <a:ln w="6350">
            <a:solidFill>
              <a:srgbClr val="D6D6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3970500" y="4883705"/>
            <a:ext cx="3068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161616"/>
                </a:solidFill>
                <a:latin typeface="IBM Plex Sans"/>
              </a:defRPr>
            </a:pPr>
            <a:r>
              <a:t>UBL və OCDS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970500" y="5102145"/>
            <a:ext cx="3068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555555"/>
                </a:solidFill>
                <a:latin typeface="IBM Plex Sans"/>
              </a:defRPr>
            </a:pPr>
            <a:r>
              <a:t>Ümumi UBL 2.1 qaimə sənədi və OCDS 1.1.5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970500" y="5269785"/>
            <a:ext cx="3068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555555"/>
                </a:solidFill>
                <a:latin typeface="IBM Plex Sans"/>
              </a:defRPr>
            </a:pPr>
            <a:r>
              <a:t>quruluşunda tender/nəticə məlumatlarının ixracı.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970500" y="5577125"/>
            <a:ext cx="3068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161616"/>
                </a:solidFill>
                <a:latin typeface="IBM Plex Sans"/>
              </a:defRPr>
            </a:pPr>
            <a:r>
              <a:t>1C üçün CSV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970500" y="5795565"/>
            <a:ext cx="3068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555555"/>
                </a:solidFill>
                <a:latin typeface="IBM Plex Sans"/>
              </a:defRPr>
            </a:pPr>
            <a:r>
              <a:t>Qaimələrin 1C-yə uyğunlaşdırıla bilən CSV faylı ilə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70500" y="5963205"/>
            <a:ext cx="3068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555555"/>
                </a:solidFill>
                <a:latin typeface="IBM Plex Sans"/>
              </a:defRPr>
            </a:pPr>
            <a:r>
              <a:t>ixracı.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970500" y="6270545"/>
            <a:ext cx="3068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161616"/>
                </a:solidFill>
                <a:latin typeface="IBM Plex Sans"/>
              </a:defRPr>
            </a:pPr>
            <a:r>
              <a:t>E-poçt və WhatsApp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970500" y="6488985"/>
            <a:ext cx="3068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555555"/>
                </a:solidFill>
                <a:latin typeface="IBM Plex Sans"/>
              </a:defRPr>
            </a:pPr>
            <a:r>
              <a:t>Təşkilatın SMTP və Meta WhatsApp Cloud kanalları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970500" y="6656625"/>
            <a:ext cx="30688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555555"/>
                </a:solidFill>
                <a:latin typeface="IBM Plex Sans"/>
              </a:defRPr>
            </a:pPr>
            <a:r>
              <a:t>ilə qoşulma.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33400" y="7172959"/>
            <a:ext cx="6505900" cy="3740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1" sz="1900">
                <a:solidFill>
                  <a:srgbClr val="161616"/>
                </a:solidFill>
                <a:latin typeface="Barlow Condensed"/>
              </a:defRPr>
            </a:pPr>
            <a:r>
              <a:t>Funksiyaların tətbiq şərtləri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533400" y="7528559"/>
            <a:ext cx="6493200" cy="0"/>
          </a:xfrm>
          <a:prstGeom prst="line">
            <a:avLst/>
          </a:prstGeom>
          <a:ln w="6350">
            <a:solidFill>
              <a:srgbClr val="D6D6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533400" y="7725409"/>
            <a:ext cx="27940" cy="2794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60400" y="7665402"/>
            <a:ext cx="6378900" cy="1771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900">
                <a:solidFill>
                  <a:srgbClr val="555555"/>
                </a:solidFill>
                <a:latin typeface="IBM Plex Sans"/>
              </a:defRPr>
            </a:pPr>
            <a:r>
              <a:t>Büdcə aşımı təsdiqi avtomatik bloklamır. Ödəniş statusunun qeydi bank köçürməsi deyil.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33400" y="7923530"/>
            <a:ext cx="27940" cy="2794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60400" y="7863522"/>
            <a:ext cx="6378900" cy="1771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900">
                <a:solidFill>
                  <a:srgbClr val="555555"/>
                </a:solidFill>
                <a:latin typeface="IBM Plex Sans"/>
              </a:defRPr>
            </a:pPr>
            <a:r>
              <a:t>CSV canlı ERP sinxronlaşdırılması deyil. Ümumi UBL ixracı Peppol şəbəkəsinə qoşulma deyil; ayrıca Access Point tələb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0400" y="8010842"/>
            <a:ext cx="6378900" cy="1771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900">
                <a:solidFill>
                  <a:srgbClr val="555555"/>
                </a:solidFill>
                <a:latin typeface="IBM Plex Sans"/>
              </a:defRPr>
            </a:pPr>
            <a:r>
              <a:t>olunur.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33400" y="8268970"/>
            <a:ext cx="27940" cy="2794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60400" y="8208962"/>
            <a:ext cx="6378900" cy="1771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900">
                <a:solidFill>
                  <a:srgbClr val="555555"/>
                </a:solidFill>
                <a:latin typeface="IBM Plex Sans"/>
              </a:defRPr>
            </a:pPr>
            <a:r>
              <a:t>Təchizatçı yoxlaması sənədlər və alıcının qərarına əsaslanır. Real ASAN İmza operator bağlantısı cari versiyada aktiv deyil.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33400" y="8467090"/>
            <a:ext cx="27940" cy="2794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60400" y="8407082"/>
            <a:ext cx="6378900" cy="1771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900">
                <a:solidFill>
                  <a:srgbClr val="555555"/>
                </a:solidFill>
                <a:latin typeface="IBM Plex Sans"/>
              </a:defRPr>
            </a:pPr>
            <a:r>
              <a:t>SMTP/Meta göndərişi kanallar qoşulduqdan sonra pilotda yoxlanılır. LLM izahı konfiqurasiyadan asılıdır; yerli evristik model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60400" y="8554402"/>
            <a:ext cx="6378900" cy="1771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900">
                <a:solidFill>
                  <a:srgbClr val="555555"/>
                </a:solidFill>
                <a:latin typeface="IBM Plex Sans"/>
              </a:defRPr>
            </a:pPr>
            <a:r>
              <a:t>mövcuddur.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33400" y="8812530"/>
            <a:ext cx="27940" cy="2794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60400" y="8752522"/>
            <a:ext cx="6378900" cy="1771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900">
                <a:solidFill>
                  <a:srgbClr val="555555"/>
                </a:solidFill>
                <a:latin typeface="IBM Plex Sans"/>
              </a:defRPr>
            </a:pPr>
            <a:r>
              <a:t>Modulların əlçatanlığı lisenziya və texniki konfiqurasiyadan asılıdır. Format dəstəyi sertifikatlaşdırma və ya hüquqi uyğunluq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60400" y="8899842"/>
            <a:ext cx="6378900" cy="1771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900">
                <a:solidFill>
                  <a:srgbClr val="555555"/>
                </a:solidFill>
                <a:latin typeface="IBM Plex Sans"/>
              </a:defRPr>
            </a:pPr>
            <a:r>
              <a:t>zəmanəti deyil.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33400" y="9271000"/>
            <a:ext cx="6493200" cy="78740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98500" y="9372600"/>
            <a:ext cx="6175700" cy="3543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1" sz="1800">
                <a:solidFill>
                  <a:srgbClr val="FFFFFF"/>
                </a:solidFill>
                <a:latin typeface="Barlow Condensed"/>
              </a:defRPr>
            </a:pPr>
            <a:r>
              <a:t>Pilot satınalma ilə başlayın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98500" y="9674145"/>
            <a:ext cx="61757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FFFFFF"/>
                </a:solidFill>
                <a:latin typeface="IBM Plex Sans"/>
              </a:defRPr>
            </a:pPr>
            <a:r>
              <a:t>Pilot üçün bir satınalma kateqoriyası seçilir; rollar, qaydalar və nəticənin qiymətləndirilməsi meyarları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98500" y="9841785"/>
            <a:ext cx="6175700" cy="2017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1025">
                <a:solidFill>
                  <a:srgbClr val="FFFFFF"/>
                </a:solidFill>
                <a:latin typeface="IBM Plex Sans"/>
              </a:defRPr>
            </a:pPr>
            <a:r>
              <a:t>birlikdə müəyyən edilir.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533400" y="10210800"/>
            <a:ext cx="6493200" cy="0"/>
          </a:xfrm>
          <a:prstGeom prst="line">
            <a:avLst/>
          </a:prstGeom>
          <a:ln w="6350">
            <a:solidFill>
              <a:srgbClr val="D6D6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533400" y="10297001"/>
            <a:ext cx="5743900" cy="1673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850">
                <a:solidFill>
                  <a:srgbClr val="555555"/>
                </a:solidFill>
                <a:latin typeface="IBM Plex Sans"/>
              </a:defRPr>
            </a:pPr>
            <a:r>
              <a:t>LEADPROCURE / MƏHSUL MƏLUMAT VƏRƏQİ / AZ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544000" y="10297001"/>
            <a:ext cx="495300" cy="1673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sz="850">
                <a:solidFill>
                  <a:srgbClr val="161616"/>
                </a:solidFill>
                <a:latin typeface="IBM Plex Sans"/>
              </a:defRPr>
            </a:pPr>
            <a:r>
              <a:t>02 / 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Leadprocure — Məhsul məlumat vərəqi</dc:title>
  <dc:subject/>
  <dc:creator>Leadprocure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