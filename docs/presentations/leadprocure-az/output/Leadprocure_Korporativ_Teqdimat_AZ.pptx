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Leadprocure korporativ satınalma komandasını, təsdiqləyənləri və təchizatçıları vahid prosesdə birləşdirir. Bu təqdimat funksiyaları real demo ekranları ilə göstərir. Məhsulun təqdimatı, 26 oktyabr 2026.</a:t>
            </a:r>
          </a:p>
          <a:p/>
          <a:p>
            <a:r>
              <a:t>Mənbələr:</a:t>
            </a:r>
          </a:p>
          <a:p>
            <a:r>
              <a:t>README.md:3–33</a:t>
            </a:r>
          </a:p>
          <a:p>
            <a:r>
              <a:t>docs/DEMO.md:23–34</a:t>
            </a:r>
          </a:p>
          <a:p>
            <a:r>
              <a:t>Ekran görüntüləri: saxlanmış AZ demo video bələdçiləri. Ekrandakı rəqəmlər və tarixlər nümayiş məlumatlarıdır.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Faydalar məhsul funksiyalarından çıxarılan əməliyyat dəyəridir; ölçülmüş müştəri ROI-si və ya zəmanətli qənaət təqdim edilmir.</a:t>
            </a:r>
          </a:p>
          <a:p/>
          <a:p>
            <a:r>
              <a:t>Mənbələr:</a:t>
            </a:r>
          </a:p>
          <a:p>
            <a:r>
              <a:t>apps/api/src/modules/requests/requests.module.ts</a:t>
            </a:r>
          </a:p>
          <a:p>
            <a:r>
              <a:t>apps/api/src/modules/dashboard/dashboard.module.ts</a:t>
            </a:r>
          </a:p>
          <a:p>
            <a:r>
              <a:t>apps/api/src/modules/contracts/contracts.module.ts</a:t>
            </a:r>
          </a:p>
          <a:p>
            <a:r>
              <a:t>Ekran görüntüləri: saxlanmış AZ demo video bələdçiləri. Ekrandakı rəqəmlər və tarixlər nümayiş məlumatlarıdır.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altı funksiya təqdimatın əsas məhsul fərqləndiriciləridir. Ətraflı nümunələr növbəti slaydlardadır.</a:t>
            </a:r>
          </a:p>
          <a:p/>
          <a:p>
            <a:r>
              <a:t>Mənbələr:</a:t>
            </a:r>
          </a:p>
          <a:p>
            <a:r>
              <a:t>apps/api/src/modules/sourcing/auction.service.ts</a:t>
            </a:r>
          </a:p>
          <a:p>
            <a:r>
              <a:t>apps/api/src/common/crypto/sealed.service.ts</a:t>
            </a:r>
          </a:p>
          <a:p>
            <a:r>
              <a:t>apps/api/src/modules/requests/requests.module.ts</a:t>
            </a:r>
          </a:p>
          <a:p>
            <a:r>
              <a:t>apps/api/src/modules/invoices/invoices.module.ts</a:t>
            </a:r>
          </a:p>
          <a:p>
            <a:r>
              <a:t>apps/api/src/modules/followups/followups.module.ts</a:t>
            </a:r>
          </a:p>
          <a:p>
            <a:r>
              <a:t>Ekran görüntüləri: saxlanmış AZ demo video bələdçiləri. Ekrandakı rəqəmlər və tarixlər nümayiş məlumatlarıdır.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 — satınalma sifarişidir. Ödəniş mərhələsi sistemdə uçot/status qeydini bildirir, bank köçürməsini deyil.</a:t>
            </a:r>
          </a:p>
          <a:p/>
          <a:p>
            <a:r>
              <a:t>Mənbələr:</a:t>
            </a:r>
          </a:p>
          <a:p>
            <a:r>
              <a:t>docs/DEMO.md:23–34</a:t>
            </a:r>
          </a:p>
          <a:p>
            <a:r>
              <a:t>apps/web/src/main.tsx:46–78</a:t>
            </a:r>
          </a:p>
          <a:p>
            <a:r>
              <a:t>Ekran görüntüləri: saxlanmış AZ demo video bələdçiləri. Ekrandakı rəqəmlər və tarixlər nümayiş məlumatlarıdır.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Ekranda demo satınalma həcmi, qənaət, aktiv tenderlər, təsdiq gözləyən tələb və büdcə xəbərdarlığı göstərilir.</a:t>
            </a:r>
          </a:p>
          <a:p/>
          <a:p>
            <a:r>
              <a:t>Mənbələr:</a:t>
            </a:r>
          </a:p>
          <a:p>
            <a:r>
              <a:t>apps/web/src/guides.ts:15–43</a:t>
            </a:r>
          </a:p>
          <a:p>
            <a:r>
              <a:t>apps/api/src/modules/dashboard/dashboard.module.ts:15–47</a:t>
            </a:r>
          </a:p>
          <a:p>
            <a:r>
              <a:t>Ekran görüntüləri: saxlanmış AZ demo video bələdçiləri. Ekrandakı rəqəmlər və tarixlər nümayiş məlumatlarıdır.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İnterfeysdə daxili satınalma tələbi “Sifarişlər”, purchase order isə “Sifarişlər (PO)” kimi göstərilir. Təqdimatda qarışıqlığı azaltmaq üçün “tələbat” və “PO” ayrılır.</a:t>
            </a:r>
          </a:p>
          <a:p/>
          <a:p>
            <a:r>
              <a:t>Mənbələr:</a:t>
            </a:r>
          </a:p>
          <a:p>
            <a:r>
              <a:t>apps/api/src/modules/requests/requests.module.ts:170–227</a:t>
            </a:r>
          </a:p>
          <a:p>
            <a:r>
              <a:t>scripts/demo-fill.mjs:197–201</a:t>
            </a:r>
          </a:p>
          <a:p>
            <a:r>
              <a:t>Ekran görüntüləri: saxlanmış AZ demo video bələdçiləri. Ekrandakı rəqəmlər və tarixlər nümayiş məlumatlarıdır.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Müəllif öz tələbini təsdiqləyə bilməz; bir şəxs eyni tələbin iki təsdiq addımını bağlaya bilməz. Şəkildəki hədlər demo konfiqurasiyasıdır, universal hüquqi limit deyil.</a:t>
            </a:r>
          </a:p>
          <a:p/>
          <a:p>
            <a:r>
              <a:t>Mənbələr:</a:t>
            </a:r>
          </a:p>
          <a:p>
            <a:r>
              <a:t>apps/api/src/modules/requests/requests.module.ts:177–201</a:t>
            </a:r>
          </a:p>
          <a:p>
            <a:r>
              <a:t>scripts/produce-guides.mjs:462–509</a:t>
            </a:r>
          </a:p>
          <a:p>
            <a:r>
              <a:t>Ekran görüntüləri: saxlanmış AZ demo video bələdçiləri. Ekrandakı rəqəmlər və tarixlər nümayiş məlumatlarıdır.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RFI məlumat toplamaq üçündür; qiymət üzrə qalib seçimi və müqavilə mükafatı üçün nəzərdə tutulmur. Birbaşa sifarişin uyğunluğu təşkilat siyasətindən asılıdır.</a:t>
            </a:r>
          </a:p>
          <a:p/>
          <a:p>
            <a:r>
              <a:t>Mənbələr:</a:t>
            </a:r>
          </a:p>
          <a:p>
            <a:r>
              <a:t>apps/web/src/guides.ts:66–74</a:t>
            </a:r>
          </a:p>
          <a:p>
            <a:r>
              <a:t>apps/api/src/modules/sourcing/sourcing.service.ts:349–355</a:t>
            </a:r>
          </a:p>
          <a:p>
            <a:r>
              <a:t>Ekran görüntüləri: saxlanmış AZ demo video bələdçiləri. Ekrandakı rəqəmlər və tarixlər nümayiş məlumatlarıdır.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ekran TƏCHİZATÇI kabinetidir: öz qiymətini görməsi normaldır. Alıcı məbləği açılışa qədər görə bilmir. Təklifin məbləği şifrələnir; ümumi sual-cavab bütün uyğun iştirakçılar üçün eyni məlumatı təmin edir.</a:t>
            </a:r>
          </a:p>
          <a:p/>
          <a:p>
            <a:r>
              <a:t>Mənbələr:</a:t>
            </a:r>
          </a:p>
          <a:p>
            <a:r>
              <a:t>apps/api/src/common/crypto/sealed.service.ts:5–33</a:t>
            </a:r>
          </a:p>
          <a:p>
            <a:r>
              <a:t>apps/api/src/modules/sourcing/sourcing.service.ts:327–415</a:t>
            </a:r>
          </a:p>
          <a:p>
            <a:r>
              <a:t>scripts/produce-guides.mjs:520–545</a:t>
            </a:r>
          </a:p>
          <a:p>
            <a:r>
              <a:t>Ekran görüntüləri: saxlanmış AZ demo video bələdçiləri. Ekrandakı rəqəmlər və tarixlər nümayiş məlumatlarıdır.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Rəqəmlər scripts/demo-fill.mjs-dəki nümayiş ssenarisindəndir. Bu, real müştəri nəticəsi və ya qənaət zəmanəti deyil. Qiymətlər ƏDV-sizdir. 5 500 / 57 000 = 9,6491%, iki onluğa yuvarlaq 9,65%.</a:t>
            </a:r>
          </a:p>
          <a:p/>
          <a:p>
            <a:r>
              <a:t>Mənbələr:</a:t>
            </a:r>
          </a:p>
          <a:p>
            <a:r>
              <a:t>scripts/demo-fill.mjs:197–246</a:t>
            </a:r>
          </a:p>
          <a:p>
            <a:r>
              <a:t>Ekran görüntüləri: saxlanmış AZ demo video bələdçiləri. Ekrandakı rəqəmlər və tarixlər nümayiş məlumatlarıdır.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Demoda meyarlar qiymət 70%, çatdırılma 30%-dir; Supply One 95×0,7+75×0,3=89; Baku Metal 82×0,7+90×0,3=84,4. AI tövsiyəsi ayrıca dəstək funksiyasıdır, bu cədvəldəki rəsmi qiymətləndirmənin əvəzi deyil. Yekun qərar alıcıdadır.</a:t>
            </a:r>
          </a:p>
          <a:p/>
          <a:p>
            <a:r>
              <a:t>Mənbələr:</a:t>
            </a:r>
          </a:p>
          <a:p>
            <a:r>
              <a:t>apps/api/src/modules/sourcing/sourcing.service.ts:485–618</a:t>
            </a:r>
          </a:p>
          <a:p>
            <a:r>
              <a:t>scripts/demo-fill.mjs:218–230</a:t>
            </a:r>
          </a:p>
          <a:p>
            <a:r>
              <a:t>services/ai-orchestrator/main.py:68–114</a:t>
            </a:r>
          </a:p>
          <a:p>
            <a:r>
              <a:t>Ekran görüntüləri: saxlanmış AZ demo video bələdçiləri. Ekrandakı rəqəmlər və tarixlər nümayiş məlumatlarıdır.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Auksion nümunəsi dizel yanacağı üçündür. Şəkildə start 32 000, ən yaxşı qiymət 31 200, növbəti maksimum 30 880 AZN-dir. Son saniyədə təklif veriləndə qaydaya əsasən vaxt uzadılır. Nəticə nümunədir.</a:t>
            </a:r>
          </a:p>
          <a:p/>
          <a:p>
            <a:r>
              <a:t>Mənbələr:</a:t>
            </a:r>
          </a:p>
          <a:p>
            <a:r>
              <a:t>apps/api/src/modules/sourcing/auction.service.ts:98–111,164–200</a:t>
            </a:r>
          </a:p>
          <a:p>
            <a:r>
              <a:t>scripts/produce-guides.mjs:573–584</a:t>
            </a:r>
          </a:p>
          <a:p>
            <a:r>
              <a:t>Ekran görüntüləri: saxlanmış AZ demo video bələdçiləri. Ekrandakı rəqəmlər və tarixlər nümayiş məlumatlarıdır.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SMTP və WhatsApp/Meta kanalları ayrıca sazlanır. Təklif verildikdə xatırlatma zənciri dayanır. Burada canlı mesaj göndərilməsi yoxlanılmayıb; göstərilən demo planıdır.</a:t>
            </a:r>
          </a:p>
          <a:p/>
          <a:p>
            <a:r>
              <a:t>Mənbələr:</a:t>
            </a:r>
          </a:p>
          <a:p>
            <a:r>
              <a:t>apps/api/src/modules/followups/followups.module.ts:186–249</a:t>
            </a:r>
          </a:p>
          <a:p>
            <a:r>
              <a:t>apps/api/src/modules/channels/channels.module.ts:30–79</a:t>
            </a:r>
          </a:p>
          <a:p>
            <a:r>
              <a:t>apps/api/src/modules/sourcing/sourcing.service.ts:413–415</a:t>
            </a:r>
          </a:p>
          <a:p>
            <a:r>
              <a:t>Ekran görüntüləri: saxlanmış AZ demo video bələdçiləri. Ekrandakı rəqəmlər və tarixlər nümayiş məlumatlarıdır.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Müqavilə qalib tender əsasında yaranır. PO-nun təsdiq, qablaşdırma, göndəriş, çatdırılma və qəbul mərhələləri var. Logistika hadisələrini təchizatçı daxil edir; GPS və ya daşıyıcı inteqrasiyası iddia edilmir.</a:t>
            </a:r>
          </a:p>
          <a:p/>
          <a:p>
            <a:r>
              <a:t>Mənbələr:</a:t>
            </a:r>
          </a:p>
          <a:p>
            <a:r>
              <a:t>apps/web/src/guides.ts:110–129</a:t>
            </a:r>
          </a:p>
          <a:p>
            <a:r>
              <a:t>apps/api/src/modules/logistics/logistics.module.ts</a:t>
            </a:r>
          </a:p>
          <a:p>
            <a:r>
              <a:t>Ekran görüntüləri: saxlanmış AZ demo video bələdçiləri. Ekrandakı rəqəmlər və tarixlər nümayiş məlumatlarıdır.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İkinci nümayiş nümunəsi: A4 kağız 40×7=280 AZN-dən 60×7=420 AZN-ə dəyişir. Təchizatçı qəbul və ya rədd edir. Məbləğ yalnız qəbuldan sonra yenilənir. Sifariş dəyişiklikləri üçün status və qəbul şərtləri mövcuddur.</a:t>
            </a:r>
          </a:p>
          <a:p/>
          <a:p>
            <a:r>
              <a:t>Mənbələr:</a:t>
            </a:r>
          </a:p>
          <a:p>
            <a:r>
              <a:t>scripts/demo-fill.mjs:307–315</a:t>
            </a:r>
          </a:p>
          <a:p>
            <a:r>
              <a:t>scripts/produce-guides.mjs:547–558</a:t>
            </a:r>
          </a:p>
          <a:p>
            <a:r>
              <a:t>Ekran görüntüləri: saxlanmış AZ demo video bələdçiləri. Ekrandakı rəqəmlər və tarixlər nümayiş məlumatlarıdır.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Sistem sifariş, qəbul edilmiş miqdar və qaimə sətirlərini üzləşdirir. Uyğunsuzluq DISPUTED statusu yaradır. Qəbul sonradan daxil edilərsə, yoxlama yenilənir. PAID yalnız ödənişin uçotudur, bank əməliyyatı deyil. Demo ƏDV hesabı 51 500×18%=9 270; cəmi 60 770.</a:t>
            </a:r>
          </a:p>
          <a:p/>
          <a:p>
            <a:r>
              <a:t>Mənbələr:</a:t>
            </a:r>
          </a:p>
          <a:p>
            <a:r>
              <a:t>apps/api/src/modules/invoices/invoices.module.ts:32–84,214–220,292–295</a:t>
            </a:r>
          </a:p>
          <a:p>
            <a:r>
              <a:t>apps/api/src/modules/contracts/contracts.module.ts:320–327</a:t>
            </a:r>
          </a:p>
          <a:p>
            <a:r>
              <a:t>scripts/demo-fill.mjs:237–246</a:t>
            </a:r>
          </a:p>
          <a:p>
            <a:r>
              <a:t>Ekran görüntüləri: saxlanmış AZ demo video bələdçiləri. Ekrandakı rəqəmlər və tarixlər nümayiş məlumatlarıdır.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Aktiv kataloq müqavilədən yaradıla və ya razılaşdırılmış qiymətləri saxlaya bilər. Sifarişdə qiymət və minimum miqdar yoxlanılır. Bunlar təşkilatın münasibət və lisenziya qaydalarına tabedir.</a:t>
            </a:r>
          </a:p>
          <a:p/>
          <a:p>
            <a:r>
              <a:t>Mənbələr:</a:t>
            </a:r>
          </a:p>
          <a:p>
            <a:r>
              <a:t>apps/web/src/guides.ts:143–153</a:t>
            </a:r>
          </a:p>
          <a:p>
            <a:r>
              <a:t>apps/api/src/modules/catalogs/catalogs.module.ts</a:t>
            </a:r>
          </a:p>
          <a:p>
            <a:r>
              <a:t>Ekran görüntüləri: saxlanmış AZ demo video bələdçiləri. Ekrandakı rəqəmlər və tarixlər nümayiş məlumatlarıdır.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Büdcə istifadəsi təsdiqlənmiş tələblərin öhdəliyi əsasında hesablanır, analitikada xərc isə ACCEPTED PO-lardır. Aşım xəbərdarlığı avtomatik bloklama deyil. Demo ekranlarındakı qənaət real müştəri nəticəsi sayılmır.</a:t>
            </a:r>
          </a:p>
          <a:p/>
          <a:p>
            <a:r>
              <a:t>Mənbələr:</a:t>
            </a:r>
          </a:p>
          <a:p>
            <a:r>
              <a:t>apps/api/src/modules/budgets/budgets.module.ts:30–63,114–137</a:t>
            </a:r>
          </a:p>
          <a:p>
            <a:r>
              <a:t>apps/api/src/modules/dashboard/dashboard.module.ts:86–147</a:t>
            </a:r>
          </a:p>
          <a:p>
            <a:r>
              <a:t>Ekran görüntüləri: saxlanmış AZ demo video bələdçiləri. Ekrandakı rəqəmlər və tarixlər nümayiş məlumatlarıdır.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KYC burada sənədlərin toplanması və alıcının qərarıdır; dövlət reyestrinə avtomatik sorğu deyil. Reytinq vaxtında çatdırılma, keyfiyyət və kommunikasiya qiymətlərini toplayır.</a:t>
            </a:r>
          </a:p>
          <a:p/>
          <a:p>
            <a:r>
              <a:t>Mənbələr:</a:t>
            </a:r>
          </a:p>
          <a:p>
            <a:r>
              <a:t>apps/web/src/guides.ts:207–232</a:t>
            </a:r>
          </a:p>
          <a:p>
            <a:r>
              <a:t>apps/api/src/modules/verification/verification.module.ts</a:t>
            </a:r>
          </a:p>
          <a:p>
            <a:r>
              <a:t>Ekran görüntüləri: saxlanmış AZ demo video bələdçiləri. Ekrandakı rəqəmlər və tarixlər nümayiş məlumatlarıdır.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RLS/ACL, AES-256-GCM və append-only audit kod səviyyəsində nəzərdə tutulmuş nəzarətlərdir. Sertifikasiya, penetrasiya testinin yeni nəticəsi və ya canlı SLA iddia edilmir. Yerləşdirmə və funksiyalar lisenziya və texniki konfiqurasiyadan asılıdır.</a:t>
            </a:r>
          </a:p>
          <a:p/>
          <a:p>
            <a:r>
              <a:t>Mənbələr:</a:t>
            </a:r>
          </a:p>
          <a:p>
            <a:r>
              <a:t>README.md:3–33</a:t>
            </a:r>
          </a:p>
          <a:p>
            <a:r>
              <a:t>infra/DEPLOY.md:1–63</a:t>
            </a:r>
          </a:p>
          <a:p>
            <a:r>
              <a:t>apps/api/src/common/crypto/sealed.service.ts:5–33</a:t>
            </a:r>
          </a:p>
          <a:p>
            <a:r>
              <a:t>apps/api/src/common/audit/audit.service.ts:6–43</a:t>
            </a:r>
          </a:p>
          <a:p>
            <a:r>
              <a:t>Ekran görüntüləri: saxlanmış AZ demo video bələdçiləri. Ekrandakı rəqəmlər və tarixlər nümayiş məlumatlarıdır.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OCDS ixracı tender və qalib məlumatları üçündür. UBL faylı Peppol şəbəkəsi vasitəsilə öz-özünə göndərilmir; Access Point tələb olunur. 1C üçün CSV var, iki tərəfli sinxronizasiya deyil. ASAN İmza operator inteqrasiyası tələb edir; hazırda development provider işləyir.</a:t>
            </a:r>
          </a:p>
          <a:p/>
          <a:p>
            <a:r>
              <a:t>Mənbələr:</a:t>
            </a:r>
          </a:p>
          <a:p>
            <a:r>
              <a:t>apps/api/src/modules/sourcing/sourcing.service.ts:674–712</a:t>
            </a:r>
          </a:p>
          <a:p>
            <a:r>
              <a:t>apps/api/src/modules/invoices/invoices.module.ts:119–148</a:t>
            </a:r>
          </a:p>
          <a:p>
            <a:r>
              <a:t>apps/api/src/modules/channels/channels.module.ts:30–79</a:t>
            </a:r>
          </a:p>
          <a:p>
            <a:r>
              <a:t>apps/api/src/common/signature/signature.provider.ts:5–35</a:t>
            </a:r>
          </a:p>
          <a:p>
            <a:r>
              <a:t>Ekran görüntüləri: saxlanmış AZ demo video bələdçiləri. Ekrandakı rəqəmlər və tarixlər nümayiş məlumatlarıdır.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təklif olunan pilot planıdır; müqavilə öhdəliyi, qiymət və ya müddət zəmanəti deyil. Qiymətləndirmə meyarları müştəri ilə əvvəlcədən razılaşdırılmalıdır.</a:t>
            </a:r>
          </a:p>
          <a:p/>
          <a:p>
            <a:r>
              <a:t>Mənbələr:</a:t>
            </a:r>
          </a:p>
          <a:p>
            <a:r>
              <a:t>Təklif olunan müştəri pilot planı — müəllif tövsiyəsi</a:t>
            </a:r>
          </a:p>
          <a:p>
            <a:r>
              <a:t>Ekran görüntüləri: saxlanmış AZ demo video bələdçiləri. Ekrandakı rəqəmlər və tarixlər nümayiş məlumatlarıdır.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317500"/>
            <a:ext cx="2540000" cy="326898"/>
          </a:xfrm>
          <a:prstGeom prst="rect">
            <a:avLst/>
          </a:prstGeom>
          <a:noFill/>
        </p:spPr>
        <p:txBody>
          <a:bodyPr wrap="none" lIns="0" rIns="0" tIns="0" bIns="0" anchor="t">
            <a:spAutoFit/>
          </a:bodyPr>
          <a:lstStyle/>
          <a:p>
            <a:pPr>
              <a:lnSpc>
                <a:spcPts val="2074"/>
              </a:lnSpc>
              <a:spcBef>
                <a:spcPts val="0"/>
              </a:spcBef>
              <a:spcAft>
                <a:spcPts val="0"/>
              </a:spcAft>
              <a:defRPr sz="1700" b="1">
                <a:solidFill>
                  <a:srgbClr val="087F62"/>
                </a:solidFill>
                <a:latin typeface="Lato"/>
              </a:defRPr>
            </a:pPr>
            <a:r>
              <a:t>Leadprocure</a:t>
            </a:r>
          </a:p>
        </p:txBody>
      </p:sp>
      <p:sp>
        <p:nvSpPr>
          <p:cNvPr id="4" name="TextBox 3"/>
          <p:cNvSpPr txBox="1"/>
          <p:nvPr/>
        </p:nvSpPr>
        <p:spPr>
          <a:xfrm>
            <a:off x="9525000" y="368300"/>
            <a:ext cx="4521200" cy="226187"/>
          </a:xfrm>
          <a:prstGeom prst="rect">
            <a:avLst/>
          </a:prstGeom>
          <a:noFill/>
        </p:spPr>
        <p:txBody>
          <a:bodyPr wrap="none" lIns="0" rIns="0" tIns="0" bIns="0" anchor="t">
            <a:spAutoFit/>
          </a:bodyPr>
          <a:lstStyle/>
          <a:p>
            <a:pPr algn="r">
              <a:lnSpc>
                <a:spcPts val="1281"/>
              </a:lnSpc>
              <a:spcBef>
                <a:spcPts val="0"/>
              </a:spcBef>
              <a:spcAft>
                <a:spcPts val="0"/>
              </a:spcAft>
              <a:defRPr sz="1050" b="0">
                <a:solidFill>
                  <a:srgbClr val="607069"/>
                </a:solidFill>
                <a:latin typeface="Lato"/>
              </a:defRPr>
            </a:pPr>
            <a:r>
              <a:t>AZƏRBAYCAN · MÜƏSSİSƏLƏR ÜÇÜN</a:t>
            </a:r>
          </a:p>
        </p:txBody>
      </p:sp>
      <p:cxnSp>
        <p:nvCxnSpPr>
          <p:cNvPr id="5" name="Connector 4"/>
          <p:cNvCxnSpPr/>
          <p:nvPr/>
        </p:nvCxnSpPr>
        <p:spPr>
          <a:xfrm>
            <a:off x="584200" y="762000"/>
            <a:ext cx="13462000" cy="0"/>
          </a:xfrm>
          <a:prstGeom prst="line">
            <a:avLst/>
          </a:prstGeom>
          <a:ln w="12700">
            <a:solidFill>
              <a:srgbClr val="DCE4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079500"/>
            <a:ext cx="13462000" cy="605790"/>
          </a:xfrm>
          <a:prstGeom prst="rect">
            <a:avLst/>
          </a:prstGeom>
          <a:noFill/>
        </p:spPr>
        <p:txBody>
          <a:bodyPr wrap="none" lIns="0" rIns="0" tIns="0" bIns="0" anchor="t">
            <a:spAutoFit/>
          </a:bodyPr>
          <a:lstStyle/>
          <a:p>
            <a:pPr>
              <a:lnSpc>
                <a:spcPts val="4270"/>
              </a:lnSpc>
              <a:spcBef>
                <a:spcPts val="0"/>
              </a:spcBef>
              <a:spcAft>
                <a:spcPts val="0"/>
              </a:spcAft>
              <a:defRPr sz="3500" b="1">
                <a:solidFill>
                  <a:srgbClr val="202B27"/>
                </a:solidFill>
                <a:latin typeface="Lato"/>
              </a:defRPr>
            </a:pPr>
            <a:r>
              <a:t>Satınalmanı vahid sistemdə idarə edin</a:t>
            </a:r>
          </a:p>
        </p:txBody>
      </p:sp>
      <p:sp>
        <p:nvSpPr>
          <p:cNvPr id="7" name="TextBox 6"/>
          <p:cNvSpPr txBox="1"/>
          <p:nvPr/>
        </p:nvSpPr>
        <p:spPr>
          <a:xfrm>
            <a:off x="584200" y="1739900"/>
            <a:ext cx="13462000" cy="326898"/>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Tələbatdan tenderə, müqavilədən qəbul və ödənişin uçotuna qədər.</a:t>
            </a:r>
          </a:p>
        </p:txBody>
      </p:sp>
      <p:sp>
        <p:nvSpPr>
          <p:cNvPr id="8" name="TextBox 7"/>
          <p:cNvSpPr txBox="1"/>
          <p:nvPr/>
        </p:nvSpPr>
        <p:spPr>
          <a:xfrm>
            <a:off x="584200" y="7835900"/>
            <a:ext cx="10160000" cy="210693"/>
          </a:xfrm>
          <a:prstGeom prst="rect">
            <a:avLst/>
          </a:prstGeom>
          <a:noFill/>
        </p:spPr>
        <p:txBody>
          <a:bodyPr wrap="none" lIns="0" rIns="0" tIns="0" bIns="0" anchor="t">
            <a:spAutoFit/>
          </a:bodyPr>
          <a:lstStyle/>
          <a:p>
            <a:pPr>
              <a:lnSpc>
                <a:spcPts val="1159"/>
              </a:lnSpc>
              <a:spcBef>
                <a:spcPts val="0"/>
              </a:spcBef>
              <a:spcAft>
                <a:spcPts val="0"/>
              </a:spcAft>
              <a:defRPr sz="950" b="0">
                <a:solidFill>
                  <a:srgbClr val="607069"/>
                </a:solidFill>
                <a:latin typeface="Lato"/>
              </a:defRPr>
            </a:pPr>
            <a:r>
              <a:t>KORPORATİV SATINALMA / MƏHSUL TƏQDİMATI</a:t>
            </a:r>
          </a:p>
        </p:txBody>
      </p:sp>
      <p:sp>
        <p:nvSpPr>
          <p:cNvPr id="9" name="TextBox 8"/>
          <p:cNvSpPr txBox="1"/>
          <p:nvPr/>
        </p:nvSpPr>
        <p:spPr>
          <a:xfrm>
            <a:off x="13411200" y="7785100"/>
            <a:ext cx="635000" cy="264922"/>
          </a:xfrm>
          <a:prstGeom prst="rect">
            <a:avLst/>
          </a:prstGeom>
          <a:noFill/>
        </p:spPr>
        <p:txBody>
          <a:bodyPr wrap="none" lIns="0" rIns="0" tIns="0" bIns="0" anchor="t">
            <a:spAutoFit/>
          </a:bodyPr>
          <a:lstStyle/>
          <a:p>
            <a:pPr algn="r">
              <a:lnSpc>
                <a:spcPts val="1586"/>
              </a:lnSpc>
              <a:spcBef>
                <a:spcPts val="0"/>
              </a:spcBef>
              <a:spcAft>
                <a:spcPts val="0"/>
              </a:spcAft>
              <a:defRPr sz="1300" b="1">
                <a:solidFill>
                  <a:srgbClr val="087F62"/>
                </a:solidFill>
                <a:latin typeface="Lato"/>
              </a:defRPr>
            </a:pPr>
            <a:r>
              <a:t>01</a:t>
            </a:r>
          </a:p>
        </p:txBody>
      </p:sp>
      <p:sp>
        <p:nvSpPr>
          <p:cNvPr id="10" name="Rounded Rectangle 9"/>
          <p:cNvSpPr/>
          <p:nvPr/>
        </p:nvSpPr>
        <p:spPr>
          <a:xfrm>
            <a:off x="584200" y="2565400"/>
            <a:ext cx="4432300" cy="4432300"/>
          </a:xfrm>
          <a:prstGeom prst="roundRect">
            <a:avLst>
              <a:gd name="adj" fmla="val 2292"/>
            </a:avLst>
          </a:prstGeom>
          <a:solidFill>
            <a:srgbClr val="E6F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9000" y="2997200"/>
            <a:ext cx="3835400" cy="2170684"/>
          </a:xfrm>
          <a:prstGeom prst="rect">
            <a:avLst/>
          </a:prstGeom>
          <a:noFill/>
        </p:spPr>
        <p:txBody>
          <a:bodyPr wrap="none" lIns="0" rIns="0" tIns="0" bIns="0" anchor="t">
            <a:spAutoFit/>
          </a:bodyPr>
          <a:lstStyle/>
          <a:p>
            <a:pPr>
              <a:lnSpc>
                <a:spcPts val="4148"/>
              </a:lnSpc>
              <a:spcBef>
                <a:spcPts val="0"/>
              </a:spcBef>
              <a:spcAft>
                <a:spcPts val="0"/>
              </a:spcAft>
              <a:defRPr sz="3400" b="1">
                <a:solidFill>
                  <a:srgbClr val="164B3C"/>
                </a:solidFill>
                <a:latin typeface="Lato"/>
              </a:defRPr>
            </a:pPr>
            <a:r>
              <a:t>Nəzarət.</a:t>
            </a:r>
          </a:p>
          <a:p>
            <a:pPr>
              <a:lnSpc>
                <a:spcPts val="4148"/>
              </a:lnSpc>
              <a:spcBef>
                <a:spcPts val="0"/>
              </a:spcBef>
              <a:spcAft>
                <a:spcPts val="0"/>
              </a:spcAft>
              <a:defRPr sz="3400" b="1">
                <a:solidFill>
                  <a:srgbClr val="164B3C"/>
                </a:solidFill>
                <a:latin typeface="Lato"/>
              </a:defRPr>
            </a:pPr>
            <a:r>
              <a:t>Rəqabət.</a:t>
            </a:r>
          </a:p>
          <a:p>
            <a:pPr>
              <a:lnSpc>
                <a:spcPts val="4148"/>
              </a:lnSpc>
              <a:spcBef>
                <a:spcPts val="0"/>
              </a:spcBef>
              <a:spcAft>
                <a:spcPts val="0"/>
              </a:spcAft>
              <a:defRPr sz="3400" b="1">
                <a:solidFill>
                  <a:srgbClr val="164B3C"/>
                </a:solidFill>
                <a:latin typeface="Lato"/>
              </a:defRPr>
            </a:pPr>
            <a:r>
              <a:t>İzlənə bilən</a:t>
            </a:r>
          </a:p>
          <a:p>
            <a:pPr>
              <a:lnSpc>
                <a:spcPts val="4148"/>
              </a:lnSpc>
              <a:spcBef>
                <a:spcPts val="0"/>
              </a:spcBef>
              <a:spcAft>
                <a:spcPts val="0"/>
              </a:spcAft>
              <a:defRPr sz="3400" b="1">
                <a:solidFill>
                  <a:srgbClr val="164B3C"/>
                </a:solidFill>
                <a:latin typeface="Lato"/>
              </a:defRPr>
            </a:pPr>
            <a:r>
              <a:t>qərarlar.</a:t>
            </a:r>
          </a:p>
        </p:txBody>
      </p:sp>
      <p:sp>
        <p:nvSpPr>
          <p:cNvPr id="12" name="TextBox 11"/>
          <p:cNvSpPr txBox="1"/>
          <p:nvPr/>
        </p:nvSpPr>
        <p:spPr>
          <a:xfrm>
            <a:off x="889000" y="5334000"/>
            <a:ext cx="3683000" cy="714248"/>
          </a:xfrm>
          <a:prstGeom prst="rect">
            <a:avLst/>
          </a:prstGeom>
          <a:noFill/>
        </p:spPr>
        <p:txBody>
          <a:bodyPr wrap="none" lIns="0" rIns="0" tIns="0" bIns="0" anchor="t">
            <a:spAutoFit/>
          </a:bodyPr>
          <a:lstStyle/>
          <a:p>
            <a:pPr>
              <a:lnSpc>
                <a:spcPts val="2562"/>
              </a:lnSpc>
              <a:spcBef>
                <a:spcPts val="0"/>
              </a:spcBef>
              <a:spcAft>
                <a:spcPts val="0"/>
              </a:spcAft>
              <a:defRPr sz="2100" b="0">
                <a:solidFill>
                  <a:srgbClr val="607069"/>
                </a:solidFill>
                <a:latin typeface="Lato"/>
              </a:defRPr>
            </a:pPr>
            <a:r>
              <a:t>Satınalma, maliyyə və rəhbərlik</a:t>
            </a:r>
          </a:p>
          <a:p>
            <a:pPr>
              <a:lnSpc>
                <a:spcPts val="2562"/>
              </a:lnSpc>
              <a:spcBef>
                <a:spcPts val="0"/>
              </a:spcBef>
              <a:spcAft>
                <a:spcPts val="0"/>
              </a:spcAft>
              <a:defRPr sz="2100" b="0">
                <a:solidFill>
                  <a:srgbClr val="607069"/>
                </a:solidFill>
                <a:latin typeface="Lato"/>
              </a:defRPr>
            </a:pPr>
            <a:r>
              <a:t>üçün ortaq iş mühiti.</a:t>
            </a:r>
          </a:p>
        </p:txBody>
      </p:sp>
      <p:sp>
        <p:nvSpPr>
          <p:cNvPr id="13" name="Rounded Rectangle 12"/>
          <p:cNvSpPr/>
          <p:nvPr/>
        </p:nvSpPr>
        <p:spPr>
          <a:xfrm>
            <a:off x="5336822" y="2616200"/>
            <a:ext cx="8706555" cy="4953000"/>
          </a:xfrm>
          <a:prstGeom prst="roundRect">
            <a:avLst>
              <a:gd name="adj" fmla="val 1538"/>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2"/>
          <a:stretch>
            <a:fillRect/>
          </a:stretch>
        </p:blipFill>
        <p:spPr>
          <a:xfrm>
            <a:off x="5400322" y="2679700"/>
            <a:ext cx="8579555" cy="4826000"/>
          </a:xfrm>
          <a:prstGeom prst="rect">
            <a:avLst/>
          </a:prstGeom>
        </p:spPr>
      </p:pic>
      <p:sp>
        <p:nvSpPr>
          <p:cNvPr id="15" name="TextBox 14"/>
          <p:cNvSpPr txBox="1"/>
          <p:nvPr/>
        </p:nvSpPr>
        <p:spPr>
          <a:xfrm>
            <a:off x="5410200" y="7454900"/>
            <a:ext cx="8382000" cy="226187"/>
          </a:xfrm>
          <a:prstGeom prst="rect">
            <a:avLst/>
          </a:prstGeom>
          <a:noFill/>
        </p:spPr>
        <p:txBody>
          <a:bodyPr wrap="none" lIns="0" rIns="0" tIns="0" bIns="0" anchor="t">
            <a:spAutoFit/>
          </a:bodyPr>
          <a:lstStyle/>
          <a:p>
            <a:pPr>
              <a:lnSpc>
                <a:spcPts val="1281"/>
              </a:lnSpc>
              <a:spcBef>
                <a:spcPts val="0"/>
              </a:spcBef>
              <a:spcAft>
                <a:spcPts val="0"/>
              </a:spcAft>
              <a:defRPr sz="1050" b="0">
                <a:solidFill>
                  <a:srgbClr val="607069"/>
                </a:solidFill>
                <a:latin typeface="Lato"/>
              </a:defRPr>
            </a:pPr>
            <a:r>
              <a:t>Məhsulun real AZ demo interfeysi · nümunə məlumatlar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317500"/>
            <a:ext cx="2540000" cy="326898"/>
          </a:xfrm>
          <a:prstGeom prst="rect">
            <a:avLst/>
          </a:prstGeom>
          <a:noFill/>
        </p:spPr>
        <p:txBody>
          <a:bodyPr wrap="none" lIns="0" rIns="0" tIns="0" bIns="0" anchor="t">
            <a:spAutoFit/>
          </a:bodyPr>
          <a:lstStyle/>
          <a:p>
            <a:pPr>
              <a:lnSpc>
                <a:spcPts val="2074"/>
              </a:lnSpc>
              <a:spcBef>
                <a:spcPts val="0"/>
              </a:spcBef>
              <a:spcAft>
                <a:spcPts val="0"/>
              </a:spcAft>
              <a:defRPr sz="1700" b="1">
                <a:solidFill>
                  <a:srgbClr val="087F62"/>
                </a:solidFill>
                <a:latin typeface="Lato"/>
              </a:defRPr>
            </a:pPr>
            <a:r>
              <a:t>Leadprocure</a:t>
            </a:r>
          </a:p>
        </p:txBody>
      </p:sp>
      <p:sp>
        <p:nvSpPr>
          <p:cNvPr id="4" name="TextBox 3"/>
          <p:cNvSpPr txBox="1"/>
          <p:nvPr/>
        </p:nvSpPr>
        <p:spPr>
          <a:xfrm>
            <a:off x="9525000" y="368300"/>
            <a:ext cx="4521200" cy="226187"/>
          </a:xfrm>
          <a:prstGeom prst="rect">
            <a:avLst/>
          </a:prstGeom>
          <a:noFill/>
        </p:spPr>
        <p:txBody>
          <a:bodyPr wrap="none" lIns="0" rIns="0" tIns="0" bIns="0" anchor="t">
            <a:spAutoFit/>
          </a:bodyPr>
          <a:lstStyle/>
          <a:p>
            <a:pPr algn="r">
              <a:lnSpc>
                <a:spcPts val="1281"/>
              </a:lnSpc>
              <a:spcBef>
                <a:spcPts val="0"/>
              </a:spcBef>
              <a:spcAft>
                <a:spcPts val="0"/>
              </a:spcAft>
              <a:defRPr sz="1050" b="0">
                <a:solidFill>
                  <a:srgbClr val="607069"/>
                </a:solidFill>
                <a:latin typeface="Lato"/>
              </a:defRPr>
            </a:pPr>
            <a:r>
              <a:t>İDARƏETMƏ DƏYƏRİ</a:t>
            </a:r>
          </a:p>
        </p:txBody>
      </p:sp>
      <p:cxnSp>
        <p:nvCxnSpPr>
          <p:cNvPr id="5" name="Connector 4"/>
          <p:cNvCxnSpPr/>
          <p:nvPr/>
        </p:nvCxnSpPr>
        <p:spPr>
          <a:xfrm>
            <a:off x="584200" y="762000"/>
            <a:ext cx="13462000" cy="0"/>
          </a:xfrm>
          <a:prstGeom prst="line">
            <a:avLst/>
          </a:prstGeom>
          <a:ln w="12700">
            <a:solidFill>
              <a:srgbClr val="DCE4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079500"/>
            <a:ext cx="13462000" cy="605790"/>
          </a:xfrm>
          <a:prstGeom prst="rect">
            <a:avLst/>
          </a:prstGeom>
          <a:noFill/>
        </p:spPr>
        <p:txBody>
          <a:bodyPr wrap="none" lIns="0" rIns="0" tIns="0" bIns="0" anchor="t">
            <a:spAutoFit/>
          </a:bodyPr>
          <a:lstStyle/>
          <a:p>
            <a:pPr>
              <a:lnSpc>
                <a:spcPts val="4270"/>
              </a:lnSpc>
              <a:spcBef>
                <a:spcPts val="0"/>
              </a:spcBef>
              <a:spcAft>
                <a:spcPts val="0"/>
              </a:spcAft>
              <a:defRPr sz="3500" b="1">
                <a:solidFill>
                  <a:srgbClr val="202B27"/>
                </a:solidFill>
                <a:latin typeface="Lato"/>
              </a:defRPr>
            </a:pPr>
            <a:r>
              <a:t>Korporativ satınalmanın üç əsas sualına cavab</a:t>
            </a:r>
          </a:p>
        </p:txBody>
      </p:sp>
      <p:sp>
        <p:nvSpPr>
          <p:cNvPr id="7" name="TextBox 6"/>
          <p:cNvSpPr txBox="1"/>
          <p:nvPr/>
        </p:nvSpPr>
        <p:spPr>
          <a:xfrm>
            <a:off x="584200" y="1739900"/>
            <a:ext cx="13462000" cy="326898"/>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Nəyə vəsait ayrılır? Qərarı kim verir? Təchizat hansı mərhələdədir?</a:t>
            </a:r>
          </a:p>
        </p:txBody>
      </p:sp>
      <p:sp>
        <p:nvSpPr>
          <p:cNvPr id="8" name="TextBox 7"/>
          <p:cNvSpPr txBox="1"/>
          <p:nvPr/>
        </p:nvSpPr>
        <p:spPr>
          <a:xfrm>
            <a:off x="584200" y="7835900"/>
            <a:ext cx="10160000" cy="210693"/>
          </a:xfrm>
          <a:prstGeom prst="rect">
            <a:avLst/>
          </a:prstGeom>
          <a:noFill/>
        </p:spPr>
        <p:txBody>
          <a:bodyPr wrap="none" lIns="0" rIns="0" tIns="0" bIns="0" anchor="t">
            <a:spAutoFit/>
          </a:bodyPr>
          <a:lstStyle/>
          <a:p>
            <a:pPr>
              <a:lnSpc>
                <a:spcPts val="1159"/>
              </a:lnSpc>
              <a:spcBef>
                <a:spcPts val="0"/>
              </a:spcBef>
              <a:spcAft>
                <a:spcPts val="0"/>
              </a:spcAft>
              <a:defRPr sz="950" b="0">
                <a:solidFill>
                  <a:srgbClr val="607069"/>
                </a:solidFill>
                <a:latin typeface="Lato"/>
              </a:defRPr>
            </a:pPr>
            <a:r>
              <a:t>KORPORATİV SATINALMA / MƏHSUL TƏQDİMATI</a:t>
            </a:r>
          </a:p>
        </p:txBody>
      </p:sp>
      <p:sp>
        <p:nvSpPr>
          <p:cNvPr id="9" name="TextBox 8"/>
          <p:cNvSpPr txBox="1"/>
          <p:nvPr/>
        </p:nvSpPr>
        <p:spPr>
          <a:xfrm>
            <a:off x="13411200" y="7785100"/>
            <a:ext cx="635000" cy="264922"/>
          </a:xfrm>
          <a:prstGeom prst="rect">
            <a:avLst/>
          </a:prstGeom>
          <a:noFill/>
        </p:spPr>
        <p:txBody>
          <a:bodyPr wrap="none" lIns="0" rIns="0" tIns="0" bIns="0" anchor="t">
            <a:spAutoFit/>
          </a:bodyPr>
          <a:lstStyle/>
          <a:p>
            <a:pPr algn="r">
              <a:lnSpc>
                <a:spcPts val="1586"/>
              </a:lnSpc>
              <a:spcBef>
                <a:spcPts val="0"/>
              </a:spcBef>
              <a:spcAft>
                <a:spcPts val="0"/>
              </a:spcAft>
              <a:defRPr sz="1300" b="1">
                <a:solidFill>
                  <a:srgbClr val="087F62"/>
                </a:solidFill>
                <a:latin typeface="Lato"/>
              </a:defRPr>
            </a:pPr>
            <a:r>
              <a:t>02</a:t>
            </a:r>
          </a:p>
        </p:txBody>
      </p:sp>
      <p:sp>
        <p:nvSpPr>
          <p:cNvPr id="10" name="Rounded Rectangle 9"/>
          <p:cNvSpPr/>
          <p:nvPr/>
        </p:nvSpPr>
        <p:spPr>
          <a:xfrm>
            <a:off x="584200" y="2743200"/>
            <a:ext cx="4318000" cy="3238500"/>
          </a:xfrm>
          <a:prstGeom prst="roundRect">
            <a:avLst>
              <a:gd name="adj" fmla="val 3137"/>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3600" y="2971800"/>
            <a:ext cx="37592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01 / MALİYYƏ ŞƏFFAFLIĞI</a:t>
            </a:r>
          </a:p>
        </p:txBody>
      </p:sp>
      <p:sp>
        <p:nvSpPr>
          <p:cNvPr id="12" name="TextBox 11"/>
          <p:cNvSpPr txBox="1"/>
          <p:nvPr/>
        </p:nvSpPr>
        <p:spPr>
          <a:xfrm>
            <a:off x="863600" y="3352800"/>
            <a:ext cx="37592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202B27"/>
                </a:solidFill>
                <a:latin typeface="Lato"/>
              </a:defRPr>
            </a:pPr>
            <a:r>
              <a:t>Xərcləri görün</a:t>
            </a:r>
          </a:p>
        </p:txBody>
      </p:sp>
      <p:sp>
        <p:nvSpPr>
          <p:cNvPr id="13" name="TextBox 12"/>
          <p:cNvSpPr txBox="1"/>
          <p:nvPr/>
        </p:nvSpPr>
        <p:spPr>
          <a:xfrm>
            <a:off x="863600" y="4165600"/>
            <a:ext cx="3759200" cy="590296"/>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Büdcə, öhdəlik, qəbul edilmiş sifariş və</a:t>
            </a:r>
          </a:p>
          <a:p>
            <a:pPr>
              <a:lnSpc>
                <a:spcPts val="2074"/>
              </a:lnSpc>
              <a:spcBef>
                <a:spcPts val="0"/>
              </a:spcBef>
              <a:spcAft>
                <a:spcPts val="0"/>
              </a:spcAft>
              <a:defRPr sz="1700" b="0">
                <a:solidFill>
                  <a:srgbClr val="607069"/>
                </a:solidFill>
                <a:latin typeface="Lato"/>
              </a:defRPr>
            </a:pPr>
            <a:r>
              <a:t>qaimə statusunu əlaqəli izləyin.</a:t>
            </a:r>
          </a:p>
        </p:txBody>
      </p:sp>
      <p:sp>
        <p:nvSpPr>
          <p:cNvPr id="14" name="Rounded Rectangle 13"/>
          <p:cNvSpPr/>
          <p:nvPr/>
        </p:nvSpPr>
        <p:spPr>
          <a:xfrm>
            <a:off x="5156200" y="2743200"/>
            <a:ext cx="4318000" cy="3238500"/>
          </a:xfrm>
          <a:prstGeom prst="roundRect">
            <a:avLst>
              <a:gd name="adj" fmla="val 3137"/>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35600" y="2971800"/>
            <a:ext cx="37592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02 / SƏLAHİYYƏT BÖLGÜSÜ</a:t>
            </a:r>
          </a:p>
        </p:txBody>
      </p:sp>
      <p:sp>
        <p:nvSpPr>
          <p:cNvPr id="16" name="TextBox 15"/>
          <p:cNvSpPr txBox="1"/>
          <p:nvPr/>
        </p:nvSpPr>
        <p:spPr>
          <a:xfrm>
            <a:off x="5435600" y="3352800"/>
            <a:ext cx="37592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202B27"/>
                </a:solidFill>
                <a:latin typeface="Lato"/>
              </a:defRPr>
            </a:pPr>
            <a:r>
              <a:t>Qərarları əsaslandırın</a:t>
            </a:r>
          </a:p>
        </p:txBody>
      </p:sp>
      <p:sp>
        <p:nvSpPr>
          <p:cNvPr id="17" name="TextBox 16"/>
          <p:cNvSpPr txBox="1"/>
          <p:nvPr/>
        </p:nvSpPr>
        <p:spPr>
          <a:xfrm>
            <a:off x="5435600" y="4165600"/>
            <a:ext cx="3759200" cy="590296"/>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Təsdiq zəncirləri, əvvəlcədən müəyyən</a:t>
            </a:r>
          </a:p>
          <a:p>
            <a:pPr>
              <a:lnSpc>
                <a:spcPts val="2074"/>
              </a:lnSpc>
              <a:spcBef>
                <a:spcPts val="0"/>
              </a:spcBef>
              <a:spcAft>
                <a:spcPts val="0"/>
              </a:spcAft>
              <a:defRPr sz="1700" b="0">
                <a:solidFill>
                  <a:srgbClr val="607069"/>
                </a:solidFill>
                <a:latin typeface="Lato"/>
              </a:defRPr>
            </a:pPr>
            <a:r>
              <a:t>edilən meyarlar və audit tarixçəsi.</a:t>
            </a:r>
          </a:p>
        </p:txBody>
      </p:sp>
      <p:sp>
        <p:nvSpPr>
          <p:cNvPr id="18" name="Rounded Rectangle 17"/>
          <p:cNvSpPr/>
          <p:nvPr/>
        </p:nvSpPr>
        <p:spPr>
          <a:xfrm>
            <a:off x="9728200" y="2743200"/>
            <a:ext cx="4318000" cy="3238500"/>
          </a:xfrm>
          <a:prstGeom prst="roundRect">
            <a:avLst>
              <a:gd name="adj" fmla="val 3137"/>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07600" y="2971800"/>
            <a:ext cx="37592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03 / ƏMƏLİYYAT NƏZARƏTİ</a:t>
            </a:r>
          </a:p>
        </p:txBody>
      </p:sp>
      <p:sp>
        <p:nvSpPr>
          <p:cNvPr id="20" name="TextBox 19"/>
          <p:cNvSpPr txBox="1"/>
          <p:nvPr/>
        </p:nvSpPr>
        <p:spPr>
          <a:xfrm>
            <a:off x="10007600" y="3352800"/>
            <a:ext cx="37592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202B27"/>
                </a:solidFill>
                <a:latin typeface="Lato"/>
              </a:defRPr>
            </a:pPr>
            <a:r>
              <a:t>İcraya nəzarət edin</a:t>
            </a:r>
          </a:p>
        </p:txBody>
      </p:sp>
      <p:sp>
        <p:nvSpPr>
          <p:cNvPr id="21" name="TextBox 20"/>
          <p:cNvSpPr txBox="1"/>
          <p:nvPr/>
        </p:nvSpPr>
        <p:spPr>
          <a:xfrm>
            <a:off x="10007600" y="4165600"/>
            <a:ext cx="3759200" cy="590296"/>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Təklifdən çatdırılmaya qədər məsul</a:t>
            </a:r>
          </a:p>
          <a:p>
            <a:pPr>
              <a:lnSpc>
                <a:spcPts val="2074"/>
              </a:lnSpc>
              <a:spcBef>
                <a:spcPts val="0"/>
              </a:spcBef>
              <a:spcAft>
                <a:spcPts val="0"/>
              </a:spcAft>
              <a:defRPr sz="1700" b="0">
                <a:solidFill>
                  <a:srgbClr val="607069"/>
                </a:solidFill>
                <a:latin typeface="Lato"/>
              </a:defRPr>
            </a:pPr>
            <a:r>
              <a:t>tərəf və növbəti addım görünür.</a:t>
            </a:r>
          </a:p>
        </p:txBody>
      </p:sp>
      <p:sp>
        <p:nvSpPr>
          <p:cNvPr id="22" name="TextBox 21"/>
          <p:cNvSpPr txBox="1"/>
          <p:nvPr/>
        </p:nvSpPr>
        <p:spPr>
          <a:xfrm>
            <a:off x="596900" y="6604000"/>
            <a:ext cx="132715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164B3C"/>
                </a:solidFill>
                <a:latin typeface="Lato"/>
              </a:defRPr>
            </a:pPr>
            <a:r>
              <a:t>Hədəf: dağınıq yazışmaları və əl ilə izlənən mərhələləri vahid prosesdə toplamaq.</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317500"/>
            <a:ext cx="2540000" cy="326898"/>
          </a:xfrm>
          <a:prstGeom prst="rect">
            <a:avLst/>
          </a:prstGeom>
          <a:noFill/>
        </p:spPr>
        <p:txBody>
          <a:bodyPr wrap="none" lIns="0" rIns="0" tIns="0" bIns="0" anchor="t">
            <a:spAutoFit/>
          </a:bodyPr>
          <a:lstStyle/>
          <a:p>
            <a:pPr>
              <a:lnSpc>
                <a:spcPts val="2074"/>
              </a:lnSpc>
              <a:spcBef>
                <a:spcPts val="0"/>
              </a:spcBef>
              <a:spcAft>
                <a:spcPts val="0"/>
              </a:spcAft>
              <a:defRPr sz="1700" b="1">
                <a:solidFill>
                  <a:srgbClr val="087F62"/>
                </a:solidFill>
                <a:latin typeface="Lato"/>
              </a:defRPr>
            </a:pPr>
            <a:r>
              <a:t>Leadprocure</a:t>
            </a:r>
          </a:p>
        </p:txBody>
      </p:sp>
      <p:sp>
        <p:nvSpPr>
          <p:cNvPr id="4" name="TextBox 3"/>
          <p:cNvSpPr txBox="1"/>
          <p:nvPr/>
        </p:nvSpPr>
        <p:spPr>
          <a:xfrm>
            <a:off x="9525000" y="368300"/>
            <a:ext cx="4521200" cy="226187"/>
          </a:xfrm>
          <a:prstGeom prst="rect">
            <a:avLst/>
          </a:prstGeom>
          <a:noFill/>
        </p:spPr>
        <p:txBody>
          <a:bodyPr wrap="none" lIns="0" rIns="0" tIns="0" bIns="0" anchor="t">
            <a:spAutoFit/>
          </a:bodyPr>
          <a:lstStyle/>
          <a:p>
            <a:pPr algn="r">
              <a:lnSpc>
                <a:spcPts val="1281"/>
              </a:lnSpc>
              <a:spcBef>
                <a:spcPts val="0"/>
              </a:spcBef>
              <a:spcAft>
                <a:spcPts val="0"/>
              </a:spcAft>
              <a:defRPr sz="1050" b="0">
                <a:solidFill>
                  <a:srgbClr val="607069"/>
                </a:solidFill>
                <a:latin typeface="Lato"/>
              </a:defRPr>
            </a:pPr>
            <a:r>
              <a:t>FƏRQLƏNDİRİCİ İMKANLAR</a:t>
            </a:r>
          </a:p>
        </p:txBody>
      </p:sp>
      <p:cxnSp>
        <p:nvCxnSpPr>
          <p:cNvPr id="5" name="Connector 4"/>
          <p:cNvCxnSpPr/>
          <p:nvPr/>
        </p:nvCxnSpPr>
        <p:spPr>
          <a:xfrm>
            <a:off x="584200" y="762000"/>
            <a:ext cx="13462000" cy="0"/>
          </a:xfrm>
          <a:prstGeom prst="line">
            <a:avLst/>
          </a:prstGeom>
          <a:ln w="12700">
            <a:solidFill>
              <a:srgbClr val="DCE4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079500"/>
            <a:ext cx="13462000" cy="605790"/>
          </a:xfrm>
          <a:prstGeom prst="rect">
            <a:avLst/>
          </a:prstGeom>
          <a:noFill/>
        </p:spPr>
        <p:txBody>
          <a:bodyPr wrap="none" lIns="0" rIns="0" tIns="0" bIns="0" anchor="t">
            <a:spAutoFit/>
          </a:bodyPr>
          <a:lstStyle/>
          <a:p>
            <a:pPr>
              <a:lnSpc>
                <a:spcPts val="4270"/>
              </a:lnSpc>
              <a:spcBef>
                <a:spcPts val="0"/>
              </a:spcBef>
              <a:spcAft>
                <a:spcPts val="0"/>
              </a:spcAft>
              <a:defRPr sz="3500" b="1">
                <a:solidFill>
                  <a:srgbClr val="202B27"/>
                </a:solidFill>
                <a:latin typeface="Lato"/>
              </a:defRPr>
            </a:pPr>
            <a:r>
              <a:t>Sadəcə tender reyestrindən daha geniş imkanlar</a:t>
            </a:r>
          </a:p>
        </p:txBody>
      </p:sp>
      <p:sp>
        <p:nvSpPr>
          <p:cNvPr id="7" name="TextBox 6"/>
          <p:cNvSpPr txBox="1"/>
          <p:nvPr/>
        </p:nvSpPr>
        <p:spPr>
          <a:xfrm>
            <a:off x="584200" y="1739900"/>
            <a:ext cx="13462000" cy="326898"/>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Rəqabəti, nəzarəti və təchizatçı ilə əməkdaşlığı birləşdirən funksiyalar.</a:t>
            </a:r>
          </a:p>
        </p:txBody>
      </p:sp>
      <p:sp>
        <p:nvSpPr>
          <p:cNvPr id="8" name="TextBox 7"/>
          <p:cNvSpPr txBox="1"/>
          <p:nvPr/>
        </p:nvSpPr>
        <p:spPr>
          <a:xfrm>
            <a:off x="584200" y="7835900"/>
            <a:ext cx="10160000" cy="210693"/>
          </a:xfrm>
          <a:prstGeom prst="rect">
            <a:avLst/>
          </a:prstGeom>
          <a:noFill/>
        </p:spPr>
        <p:txBody>
          <a:bodyPr wrap="none" lIns="0" rIns="0" tIns="0" bIns="0" anchor="t">
            <a:spAutoFit/>
          </a:bodyPr>
          <a:lstStyle/>
          <a:p>
            <a:pPr>
              <a:lnSpc>
                <a:spcPts val="1159"/>
              </a:lnSpc>
              <a:spcBef>
                <a:spcPts val="0"/>
              </a:spcBef>
              <a:spcAft>
                <a:spcPts val="0"/>
              </a:spcAft>
              <a:defRPr sz="950" b="0">
                <a:solidFill>
                  <a:srgbClr val="607069"/>
                </a:solidFill>
                <a:latin typeface="Lato"/>
              </a:defRPr>
            </a:pPr>
            <a:r>
              <a:t>KORPORATİV SATINALMA / MƏHSUL TƏQDİMATI</a:t>
            </a:r>
          </a:p>
        </p:txBody>
      </p:sp>
      <p:sp>
        <p:nvSpPr>
          <p:cNvPr id="9" name="TextBox 8"/>
          <p:cNvSpPr txBox="1"/>
          <p:nvPr/>
        </p:nvSpPr>
        <p:spPr>
          <a:xfrm>
            <a:off x="13411200" y="7785100"/>
            <a:ext cx="635000" cy="264922"/>
          </a:xfrm>
          <a:prstGeom prst="rect">
            <a:avLst/>
          </a:prstGeom>
          <a:noFill/>
        </p:spPr>
        <p:txBody>
          <a:bodyPr wrap="none" lIns="0" rIns="0" tIns="0" bIns="0" anchor="t">
            <a:spAutoFit/>
          </a:bodyPr>
          <a:lstStyle/>
          <a:p>
            <a:pPr algn="r">
              <a:lnSpc>
                <a:spcPts val="1586"/>
              </a:lnSpc>
              <a:spcBef>
                <a:spcPts val="0"/>
              </a:spcBef>
              <a:spcAft>
                <a:spcPts val="0"/>
              </a:spcAft>
              <a:defRPr sz="1300" b="1">
                <a:solidFill>
                  <a:srgbClr val="087F62"/>
                </a:solidFill>
                <a:latin typeface="Lato"/>
              </a:defRPr>
            </a:pPr>
            <a:r>
              <a:t>03</a:t>
            </a:r>
          </a:p>
        </p:txBody>
      </p:sp>
      <p:sp>
        <p:nvSpPr>
          <p:cNvPr id="10" name="TextBox 9"/>
          <p:cNvSpPr txBox="1"/>
          <p:nvPr/>
        </p:nvSpPr>
        <p:spPr>
          <a:xfrm>
            <a:off x="584200" y="2768600"/>
            <a:ext cx="4445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01</a:t>
            </a:r>
          </a:p>
        </p:txBody>
      </p:sp>
      <p:sp>
        <p:nvSpPr>
          <p:cNvPr id="11" name="TextBox 10"/>
          <p:cNvSpPr txBox="1"/>
          <p:nvPr/>
        </p:nvSpPr>
        <p:spPr>
          <a:xfrm>
            <a:off x="1143000" y="2743200"/>
            <a:ext cx="37084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202B27"/>
                </a:solidFill>
                <a:latin typeface="Lato"/>
              </a:defRPr>
            </a:pPr>
            <a:r>
              <a:t>Revers-auksion</a:t>
            </a:r>
          </a:p>
        </p:txBody>
      </p:sp>
      <p:sp>
        <p:nvSpPr>
          <p:cNvPr id="12" name="TextBox 11"/>
          <p:cNvSpPr txBox="1"/>
          <p:nvPr/>
        </p:nvSpPr>
        <p:spPr>
          <a:xfrm>
            <a:off x="1143000" y="3467100"/>
            <a:ext cx="3708400" cy="559308"/>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Qiymət rəqabəti, minimum addım və son</a:t>
            </a:r>
          </a:p>
          <a:p>
            <a:pPr>
              <a:lnSpc>
                <a:spcPts val="1952"/>
              </a:lnSpc>
              <a:spcBef>
                <a:spcPts val="0"/>
              </a:spcBef>
              <a:spcAft>
                <a:spcPts val="0"/>
              </a:spcAft>
              <a:defRPr sz="1600" b="0">
                <a:solidFill>
                  <a:srgbClr val="607069"/>
                </a:solidFill>
                <a:latin typeface="Lato"/>
              </a:defRPr>
            </a:pPr>
            <a:r>
              <a:t>saniyə təkliflərinə qarşı uzatma.</a:t>
            </a:r>
          </a:p>
        </p:txBody>
      </p:sp>
      <p:sp>
        <p:nvSpPr>
          <p:cNvPr id="13" name="TextBox 12"/>
          <p:cNvSpPr txBox="1"/>
          <p:nvPr/>
        </p:nvSpPr>
        <p:spPr>
          <a:xfrm>
            <a:off x="5181600" y="2768600"/>
            <a:ext cx="4445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02</a:t>
            </a:r>
          </a:p>
        </p:txBody>
      </p:sp>
      <p:sp>
        <p:nvSpPr>
          <p:cNvPr id="14" name="TextBox 13"/>
          <p:cNvSpPr txBox="1"/>
          <p:nvPr/>
        </p:nvSpPr>
        <p:spPr>
          <a:xfrm>
            <a:off x="5740400" y="2743200"/>
            <a:ext cx="37084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202B27"/>
                </a:solidFill>
                <a:latin typeface="Lato"/>
              </a:defRPr>
            </a:pPr>
            <a:r>
              <a:t>Məxfi təkliflər</a:t>
            </a:r>
          </a:p>
        </p:txBody>
      </p:sp>
      <p:sp>
        <p:nvSpPr>
          <p:cNvPr id="15" name="TextBox 14"/>
          <p:cNvSpPr txBox="1"/>
          <p:nvPr/>
        </p:nvSpPr>
        <p:spPr>
          <a:xfrm>
            <a:off x="5740400" y="3467100"/>
            <a:ext cx="3708400" cy="559308"/>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Təkliflərin məbləğləri açılışa qədər</a:t>
            </a:r>
          </a:p>
          <a:p>
            <a:pPr>
              <a:lnSpc>
                <a:spcPts val="1952"/>
              </a:lnSpc>
              <a:spcBef>
                <a:spcPts val="0"/>
              </a:spcBef>
              <a:spcAft>
                <a:spcPts val="0"/>
              </a:spcAft>
              <a:defRPr sz="1600" b="0">
                <a:solidFill>
                  <a:srgbClr val="607069"/>
                </a:solidFill>
                <a:latin typeface="Lato"/>
              </a:defRPr>
            </a:pPr>
            <a:r>
              <a:t>alıcıdan gizli saxlanılır.</a:t>
            </a:r>
          </a:p>
        </p:txBody>
      </p:sp>
      <p:sp>
        <p:nvSpPr>
          <p:cNvPr id="16" name="TextBox 15"/>
          <p:cNvSpPr txBox="1"/>
          <p:nvPr/>
        </p:nvSpPr>
        <p:spPr>
          <a:xfrm>
            <a:off x="9779000" y="2768600"/>
            <a:ext cx="4445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03</a:t>
            </a:r>
          </a:p>
        </p:txBody>
      </p:sp>
      <p:sp>
        <p:nvSpPr>
          <p:cNvPr id="17" name="TextBox 16"/>
          <p:cNvSpPr txBox="1"/>
          <p:nvPr/>
        </p:nvSpPr>
        <p:spPr>
          <a:xfrm>
            <a:off x="10337800" y="2743200"/>
            <a:ext cx="37084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202B27"/>
                </a:solidFill>
                <a:latin typeface="Lato"/>
              </a:defRPr>
            </a:pPr>
            <a:r>
              <a:t>Çoxmərhələli təsdiq</a:t>
            </a:r>
          </a:p>
        </p:txBody>
      </p:sp>
      <p:sp>
        <p:nvSpPr>
          <p:cNvPr id="18" name="TextBox 17"/>
          <p:cNvSpPr txBox="1"/>
          <p:nvPr/>
        </p:nvSpPr>
        <p:spPr>
          <a:xfrm>
            <a:off x="10337800" y="3467100"/>
            <a:ext cx="3708400" cy="559308"/>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Məbləğə uyğun razılaşdırma və</a:t>
            </a:r>
          </a:p>
          <a:p>
            <a:pPr>
              <a:lnSpc>
                <a:spcPts val="1952"/>
              </a:lnSpc>
              <a:spcBef>
                <a:spcPts val="0"/>
              </a:spcBef>
              <a:spcAft>
                <a:spcPts val="0"/>
              </a:spcAft>
              <a:defRPr sz="1600" b="0">
                <a:solidFill>
                  <a:srgbClr val="607069"/>
                </a:solidFill>
                <a:latin typeface="Lato"/>
              </a:defRPr>
            </a:pPr>
            <a:r>
              <a:t>səlahiyyətlərin ayrılması.</a:t>
            </a:r>
          </a:p>
        </p:txBody>
      </p:sp>
      <p:sp>
        <p:nvSpPr>
          <p:cNvPr id="19" name="TextBox 18"/>
          <p:cNvSpPr txBox="1"/>
          <p:nvPr/>
        </p:nvSpPr>
        <p:spPr>
          <a:xfrm>
            <a:off x="584200" y="5080000"/>
            <a:ext cx="4445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04</a:t>
            </a:r>
          </a:p>
        </p:txBody>
      </p:sp>
      <p:sp>
        <p:nvSpPr>
          <p:cNvPr id="20" name="TextBox 19"/>
          <p:cNvSpPr txBox="1"/>
          <p:nvPr/>
        </p:nvSpPr>
        <p:spPr>
          <a:xfrm>
            <a:off x="1143000" y="5054600"/>
            <a:ext cx="37084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202B27"/>
                </a:solidFill>
                <a:latin typeface="Lato"/>
              </a:defRPr>
            </a:pPr>
            <a:r>
              <a:t>Üçtərəfli üzləşdirmə</a:t>
            </a:r>
          </a:p>
        </p:txBody>
      </p:sp>
      <p:sp>
        <p:nvSpPr>
          <p:cNvPr id="21" name="TextBox 20"/>
          <p:cNvSpPr txBox="1"/>
          <p:nvPr/>
        </p:nvSpPr>
        <p:spPr>
          <a:xfrm>
            <a:off x="1143000" y="5778500"/>
            <a:ext cx="3708400" cy="559308"/>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Sifariş, faktiki qəbul və qaimə birlikdə</a:t>
            </a:r>
          </a:p>
          <a:p>
            <a:pPr>
              <a:lnSpc>
                <a:spcPts val="1952"/>
              </a:lnSpc>
              <a:spcBef>
                <a:spcPts val="0"/>
              </a:spcBef>
              <a:spcAft>
                <a:spcPts val="0"/>
              </a:spcAft>
              <a:defRPr sz="1600" b="0">
                <a:solidFill>
                  <a:srgbClr val="607069"/>
                </a:solidFill>
                <a:latin typeface="Lato"/>
              </a:defRPr>
            </a:pPr>
            <a:r>
              <a:t>yoxlanılır.</a:t>
            </a:r>
          </a:p>
        </p:txBody>
      </p:sp>
      <p:sp>
        <p:nvSpPr>
          <p:cNvPr id="22" name="TextBox 21"/>
          <p:cNvSpPr txBox="1"/>
          <p:nvPr/>
        </p:nvSpPr>
        <p:spPr>
          <a:xfrm>
            <a:off x="5181600" y="5080000"/>
            <a:ext cx="4445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05</a:t>
            </a:r>
          </a:p>
        </p:txBody>
      </p:sp>
      <p:sp>
        <p:nvSpPr>
          <p:cNvPr id="23" name="TextBox 22"/>
          <p:cNvSpPr txBox="1"/>
          <p:nvPr/>
        </p:nvSpPr>
        <p:spPr>
          <a:xfrm>
            <a:off x="5740400" y="5054600"/>
            <a:ext cx="37084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202B27"/>
                </a:solidFill>
                <a:latin typeface="Lato"/>
              </a:defRPr>
            </a:pPr>
            <a:r>
              <a:t>Avtomatik xatırlatma</a:t>
            </a:r>
          </a:p>
        </p:txBody>
      </p:sp>
      <p:sp>
        <p:nvSpPr>
          <p:cNvPr id="24" name="TextBox 23"/>
          <p:cNvSpPr txBox="1"/>
          <p:nvPr/>
        </p:nvSpPr>
        <p:spPr>
          <a:xfrm>
            <a:off x="5740400" y="5778500"/>
            <a:ext cx="3708400" cy="559308"/>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Cavab verməmiş dəvətli təchizatçılar</a:t>
            </a:r>
          </a:p>
          <a:p>
            <a:pPr>
              <a:lnSpc>
                <a:spcPts val="1952"/>
              </a:lnSpc>
              <a:spcBef>
                <a:spcPts val="0"/>
              </a:spcBef>
              <a:spcAft>
                <a:spcPts val="0"/>
              </a:spcAft>
              <a:defRPr sz="1600" b="0">
                <a:solidFill>
                  <a:srgbClr val="607069"/>
                </a:solidFill>
                <a:latin typeface="Lato"/>
              </a:defRPr>
            </a:pPr>
            <a:r>
              <a:t>üçün izləmə zəncirləri.</a:t>
            </a:r>
          </a:p>
        </p:txBody>
      </p:sp>
      <p:sp>
        <p:nvSpPr>
          <p:cNvPr id="25" name="TextBox 24"/>
          <p:cNvSpPr txBox="1"/>
          <p:nvPr/>
        </p:nvSpPr>
        <p:spPr>
          <a:xfrm>
            <a:off x="9779000" y="5080000"/>
            <a:ext cx="4445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06</a:t>
            </a:r>
          </a:p>
        </p:txBody>
      </p:sp>
      <p:sp>
        <p:nvSpPr>
          <p:cNvPr id="26" name="TextBox 25"/>
          <p:cNvSpPr txBox="1"/>
          <p:nvPr/>
        </p:nvSpPr>
        <p:spPr>
          <a:xfrm>
            <a:off x="10337800" y="5054600"/>
            <a:ext cx="37084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202B27"/>
                </a:solidFill>
                <a:latin typeface="Lato"/>
              </a:defRPr>
            </a:pPr>
            <a:r>
              <a:t>Lotlar üzrə seçim</a:t>
            </a:r>
          </a:p>
        </p:txBody>
      </p:sp>
      <p:sp>
        <p:nvSpPr>
          <p:cNvPr id="27" name="TextBox 26"/>
          <p:cNvSpPr txBox="1"/>
          <p:nvPr/>
        </p:nvSpPr>
        <p:spPr>
          <a:xfrm>
            <a:off x="10337800" y="5778500"/>
            <a:ext cx="3708400" cy="559308"/>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Bir tenderdə müxtəlif lotları fərqli</a:t>
            </a:r>
          </a:p>
          <a:p>
            <a:pPr>
              <a:lnSpc>
                <a:spcPts val="1952"/>
              </a:lnSpc>
              <a:spcBef>
                <a:spcPts val="0"/>
              </a:spcBef>
              <a:spcAft>
                <a:spcPts val="0"/>
              </a:spcAft>
              <a:defRPr sz="1600" b="0">
                <a:solidFill>
                  <a:srgbClr val="607069"/>
                </a:solidFill>
                <a:latin typeface="Lato"/>
              </a:defRPr>
            </a:pPr>
            <a:r>
              <a:t>təchizatçılara vermək imkanı.</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317500"/>
            <a:ext cx="2540000" cy="326898"/>
          </a:xfrm>
          <a:prstGeom prst="rect">
            <a:avLst/>
          </a:prstGeom>
          <a:noFill/>
        </p:spPr>
        <p:txBody>
          <a:bodyPr wrap="none" lIns="0" rIns="0" tIns="0" bIns="0" anchor="t">
            <a:spAutoFit/>
          </a:bodyPr>
          <a:lstStyle/>
          <a:p>
            <a:pPr>
              <a:lnSpc>
                <a:spcPts val="2074"/>
              </a:lnSpc>
              <a:spcBef>
                <a:spcPts val="0"/>
              </a:spcBef>
              <a:spcAft>
                <a:spcPts val="0"/>
              </a:spcAft>
              <a:defRPr sz="1700" b="1">
                <a:solidFill>
                  <a:srgbClr val="087F62"/>
                </a:solidFill>
                <a:latin typeface="Lato"/>
              </a:defRPr>
            </a:pPr>
            <a:r>
              <a:t>Leadprocure</a:t>
            </a:r>
          </a:p>
        </p:txBody>
      </p:sp>
      <p:sp>
        <p:nvSpPr>
          <p:cNvPr id="4" name="TextBox 3"/>
          <p:cNvSpPr txBox="1"/>
          <p:nvPr/>
        </p:nvSpPr>
        <p:spPr>
          <a:xfrm>
            <a:off x="9525000" y="368300"/>
            <a:ext cx="4521200" cy="226187"/>
          </a:xfrm>
          <a:prstGeom prst="rect">
            <a:avLst/>
          </a:prstGeom>
          <a:noFill/>
        </p:spPr>
        <p:txBody>
          <a:bodyPr wrap="none" lIns="0" rIns="0" tIns="0" bIns="0" anchor="t">
            <a:spAutoFit/>
          </a:bodyPr>
          <a:lstStyle/>
          <a:p>
            <a:pPr algn="r">
              <a:lnSpc>
                <a:spcPts val="1281"/>
              </a:lnSpc>
              <a:spcBef>
                <a:spcPts val="0"/>
              </a:spcBef>
              <a:spcAft>
                <a:spcPts val="0"/>
              </a:spcAft>
              <a:defRPr sz="1050" b="0">
                <a:solidFill>
                  <a:srgbClr val="607069"/>
                </a:solidFill>
                <a:latin typeface="Lato"/>
              </a:defRPr>
            </a:pPr>
            <a:r>
              <a:t>TAM SATINALMA DÖVRÜ</a:t>
            </a:r>
          </a:p>
        </p:txBody>
      </p:sp>
      <p:cxnSp>
        <p:nvCxnSpPr>
          <p:cNvPr id="5" name="Connector 4"/>
          <p:cNvCxnSpPr/>
          <p:nvPr/>
        </p:nvCxnSpPr>
        <p:spPr>
          <a:xfrm>
            <a:off x="584200" y="762000"/>
            <a:ext cx="13462000" cy="0"/>
          </a:xfrm>
          <a:prstGeom prst="line">
            <a:avLst/>
          </a:prstGeom>
          <a:ln w="12700">
            <a:solidFill>
              <a:srgbClr val="DCE4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079500"/>
            <a:ext cx="13462000" cy="605790"/>
          </a:xfrm>
          <a:prstGeom prst="rect">
            <a:avLst/>
          </a:prstGeom>
          <a:noFill/>
        </p:spPr>
        <p:txBody>
          <a:bodyPr wrap="none" lIns="0" rIns="0" tIns="0" bIns="0" anchor="t">
            <a:spAutoFit/>
          </a:bodyPr>
          <a:lstStyle/>
          <a:p>
            <a:pPr>
              <a:lnSpc>
                <a:spcPts val="4270"/>
              </a:lnSpc>
              <a:spcBef>
                <a:spcPts val="0"/>
              </a:spcBef>
              <a:spcAft>
                <a:spcPts val="0"/>
              </a:spcAft>
              <a:defRPr sz="3500" b="1">
                <a:solidFill>
                  <a:srgbClr val="202B27"/>
                </a:solidFill>
                <a:latin typeface="Lato"/>
              </a:defRPr>
            </a:pPr>
            <a:r>
              <a:t>Bir proses. İki tərəf. Aydın məsuliyyət.</a:t>
            </a:r>
          </a:p>
        </p:txBody>
      </p:sp>
      <p:sp>
        <p:nvSpPr>
          <p:cNvPr id="7" name="TextBox 6"/>
          <p:cNvSpPr txBox="1"/>
          <p:nvPr/>
        </p:nvSpPr>
        <p:spPr>
          <a:xfrm>
            <a:off x="584200" y="1739900"/>
            <a:ext cx="13462000" cy="326898"/>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Alıcı və təchizatçı eyni əməliyyatın özlərinə aid hissəsində işləyir.</a:t>
            </a:r>
          </a:p>
        </p:txBody>
      </p:sp>
      <p:sp>
        <p:nvSpPr>
          <p:cNvPr id="8" name="TextBox 7"/>
          <p:cNvSpPr txBox="1"/>
          <p:nvPr/>
        </p:nvSpPr>
        <p:spPr>
          <a:xfrm>
            <a:off x="584200" y="7835900"/>
            <a:ext cx="10160000" cy="210693"/>
          </a:xfrm>
          <a:prstGeom prst="rect">
            <a:avLst/>
          </a:prstGeom>
          <a:noFill/>
        </p:spPr>
        <p:txBody>
          <a:bodyPr wrap="none" lIns="0" rIns="0" tIns="0" bIns="0" anchor="t">
            <a:spAutoFit/>
          </a:bodyPr>
          <a:lstStyle/>
          <a:p>
            <a:pPr>
              <a:lnSpc>
                <a:spcPts val="1159"/>
              </a:lnSpc>
              <a:spcBef>
                <a:spcPts val="0"/>
              </a:spcBef>
              <a:spcAft>
                <a:spcPts val="0"/>
              </a:spcAft>
              <a:defRPr sz="950" b="0">
                <a:solidFill>
                  <a:srgbClr val="607069"/>
                </a:solidFill>
                <a:latin typeface="Lato"/>
              </a:defRPr>
            </a:pPr>
            <a:r>
              <a:t>KORPORATİV SATINALMA / MƏHSUL TƏQDİMATI</a:t>
            </a:r>
          </a:p>
        </p:txBody>
      </p:sp>
      <p:sp>
        <p:nvSpPr>
          <p:cNvPr id="9" name="TextBox 8"/>
          <p:cNvSpPr txBox="1"/>
          <p:nvPr/>
        </p:nvSpPr>
        <p:spPr>
          <a:xfrm>
            <a:off x="13411200" y="7785100"/>
            <a:ext cx="635000" cy="264922"/>
          </a:xfrm>
          <a:prstGeom prst="rect">
            <a:avLst/>
          </a:prstGeom>
          <a:noFill/>
        </p:spPr>
        <p:txBody>
          <a:bodyPr wrap="none" lIns="0" rIns="0" tIns="0" bIns="0" anchor="t">
            <a:spAutoFit/>
          </a:bodyPr>
          <a:lstStyle/>
          <a:p>
            <a:pPr algn="r">
              <a:lnSpc>
                <a:spcPts val="1586"/>
              </a:lnSpc>
              <a:spcBef>
                <a:spcPts val="0"/>
              </a:spcBef>
              <a:spcAft>
                <a:spcPts val="0"/>
              </a:spcAft>
              <a:defRPr sz="1300" b="1">
                <a:solidFill>
                  <a:srgbClr val="087F62"/>
                </a:solidFill>
                <a:latin typeface="Lato"/>
              </a:defRPr>
            </a:pPr>
            <a:r>
              <a:t>04</a:t>
            </a:r>
          </a:p>
        </p:txBody>
      </p:sp>
      <p:sp>
        <p:nvSpPr>
          <p:cNvPr id="10" name="Rounded Rectangle 9"/>
          <p:cNvSpPr/>
          <p:nvPr/>
        </p:nvSpPr>
        <p:spPr>
          <a:xfrm>
            <a:off x="584200" y="2730500"/>
            <a:ext cx="3175000" cy="1651000"/>
          </a:xfrm>
          <a:prstGeom prst="roundRect">
            <a:avLst>
              <a:gd name="adj" fmla="val 6153"/>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2800" y="2921000"/>
            <a:ext cx="25400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01</a:t>
            </a:r>
          </a:p>
        </p:txBody>
      </p:sp>
      <p:sp>
        <p:nvSpPr>
          <p:cNvPr id="12" name="TextBox 11"/>
          <p:cNvSpPr txBox="1"/>
          <p:nvPr/>
        </p:nvSpPr>
        <p:spPr>
          <a:xfrm>
            <a:off x="812800" y="3314700"/>
            <a:ext cx="27940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202B27"/>
                </a:solidFill>
                <a:latin typeface="Lato"/>
              </a:defRPr>
            </a:pPr>
            <a:r>
              <a:t>Tələbat</a:t>
            </a:r>
          </a:p>
        </p:txBody>
      </p:sp>
      <p:sp>
        <p:nvSpPr>
          <p:cNvPr id="13" name="TextBox 12"/>
          <p:cNvSpPr txBox="1"/>
          <p:nvPr/>
        </p:nvSpPr>
        <p:spPr>
          <a:xfrm>
            <a:off x="812800" y="3810000"/>
            <a:ext cx="2794000" cy="295910"/>
          </a:xfrm>
          <a:prstGeom prst="rect">
            <a:avLst/>
          </a:prstGeom>
          <a:noFill/>
        </p:spPr>
        <p:txBody>
          <a:bodyPr wrap="none" lIns="0" rIns="0" tIns="0" bIns="0" anchor="t">
            <a:spAutoFit/>
          </a:bodyPr>
          <a:lstStyle/>
          <a:p>
            <a:pPr>
              <a:lnSpc>
                <a:spcPts val="1830"/>
              </a:lnSpc>
              <a:spcBef>
                <a:spcPts val="0"/>
              </a:spcBef>
              <a:spcAft>
                <a:spcPts val="0"/>
              </a:spcAft>
              <a:defRPr sz="1500" b="0">
                <a:solidFill>
                  <a:srgbClr val="607069"/>
                </a:solidFill>
                <a:latin typeface="Lato"/>
              </a:defRPr>
            </a:pPr>
            <a:r>
              <a:t>Mövqelər və smeta</a:t>
            </a:r>
          </a:p>
        </p:txBody>
      </p:sp>
      <p:sp>
        <p:nvSpPr>
          <p:cNvPr id="14" name="TextBox 13"/>
          <p:cNvSpPr txBox="1"/>
          <p:nvPr/>
        </p:nvSpPr>
        <p:spPr>
          <a:xfrm>
            <a:off x="3797300" y="3390900"/>
            <a:ext cx="228600" cy="373380"/>
          </a:xfrm>
          <a:prstGeom prst="rect">
            <a:avLst/>
          </a:prstGeom>
          <a:noFill/>
        </p:spPr>
        <p:txBody>
          <a:bodyPr wrap="none" lIns="0" rIns="0" tIns="0" bIns="0" anchor="t">
            <a:spAutoFit/>
          </a:bodyPr>
          <a:lstStyle/>
          <a:p>
            <a:pPr>
              <a:lnSpc>
                <a:spcPts val="2440"/>
              </a:lnSpc>
              <a:spcBef>
                <a:spcPts val="0"/>
              </a:spcBef>
              <a:spcAft>
                <a:spcPts val="0"/>
              </a:spcAft>
              <a:defRPr sz="2000" b="0">
                <a:solidFill>
                  <a:srgbClr val="087F62"/>
                </a:solidFill>
                <a:latin typeface="Lato"/>
              </a:defRPr>
            </a:pPr>
            <a:r>
              <a:t>→</a:t>
            </a:r>
          </a:p>
        </p:txBody>
      </p:sp>
      <p:sp>
        <p:nvSpPr>
          <p:cNvPr id="15" name="Rounded Rectangle 14"/>
          <p:cNvSpPr/>
          <p:nvPr/>
        </p:nvSpPr>
        <p:spPr>
          <a:xfrm>
            <a:off x="4013200" y="2730500"/>
            <a:ext cx="3175000" cy="1651000"/>
          </a:xfrm>
          <a:prstGeom prst="roundRect">
            <a:avLst>
              <a:gd name="adj" fmla="val 6153"/>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41800" y="2921000"/>
            <a:ext cx="25400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02</a:t>
            </a:r>
          </a:p>
        </p:txBody>
      </p:sp>
      <p:sp>
        <p:nvSpPr>
          <p:cNvPr id="17" name="TextBox 16"/>
          <p:cNvSpPr txBox="1"/>
          <p:nvPr/>
        </p:nvSpPr>
        <p:spPr>
          <a:xfrm>
            <a:off x="4241800" y="3314700"/>
            <a:ext cx="27940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202B27"/>
                </a:solidFill>
                <a:latin typeface="Lato"/>
              </a:defRPr>
            </a:pPr>
            <a:r>
              <a:t>Təsdiq</a:t>
            </a:r>
          </a:p>
        </p:txBody>
      </p:sp>
      <p:sp>
        <p:nvSpPr>
          <p:cNvPr id="18" name="TextBox 17"/>
          <p:cNvSpPr txBox="1"/>
          <p:nvPr/>
        </p:nvSpPr>
        <p:spPr>
          <a:xfrm>
            <a:off x="4241800" y="3810000"/>
            <a:ext cx="2794000" cy="295910"/>
          </a:xfrm>
          <a:prstGeom prst="rect">
            <a:avLst/>
          </a:prstGeom>
          <a:noFill/>
        </p:spPr>
        <p:txBody>
          <a:bodyPr wrap="none" lIns="0" rIns="0" tIns="0" bIns="0" anchor="t">
            <a:spAutoFit/>
          </a:bodyPr>
          <a:lstStyle/>
          <a:p>
            <a:pPr>
              <a:lnSpc>
                <a:spcPts val="1830"/>
              </a:lnSpc>
              <a:spcBef>
                <a:spcPts val="0"/>
              </a:spcBef>
              <a:spcAft>
                <a:spcPts val="0"/>
              </a:spcAft>
              <a:defRPr sz="1500" b="0">
                <a:solidFill>
                  <a:srgbClr val="607069"/>
                </a:solidFill>
                <a:latin typeface="Lato"/>
              </a:defRPr>
            </a:pPr>
            <a:r>
              <a:t>Rol və məbləğ qaydası</a:t>
            </a:r>
          </a:p>
        </p:txBody>
      </p:sp>
      <p:sp>
        <p:nvSpPr>
          <p:cNvPr id="19" name="TextBox 18"/>
          <p:cNvSpPr txBox="1"/>
          <p:nvPr/>
        </p:nvSpPr>
        <p:spPr>
          <a:xfrm>
            <a:off x="7226300" y="3390900"/>
            <a:ext cx="228600" cy="373380"/>
          </a:xfrm>
          <a:prstGeom prst="rect">
            <a:avLst/>
          </a:prstGeom>
          <a:noFill/>
        </p:spPr>
        <p:txBody>
          <a:bodyPr wrap="none" lIns="0" rIns="0" tIns="0" bIns="0" anchor="t">
            <a:spAutoFit/>
          </a:bodyPr>
          <a:lstStyle/>
          <a:p>
            <a:pPr>
              <a:lnSpc>
                <a:spcPts val="2440"/>
              </a:lnSpc>
              <a:spcBef>
                <a:spcPts val="0"/>
              </a:spcBef>
              <a:spcAft>
                <a:spcPts val="0"/>
              </a:spcAft>
              <a:defRPr sz="2000" b="0">
                <a:solidFill>
                  <a:srgbClr val="087F62"/>
                </a:solidFill>
                <a:latin typeface="Lato"/>
              </a:defRPr>
            </a:pPr>
            <a:r>
              <a:t>→</a:t>
            </a:r>
          </a:p>
        </p:txBody>
      </p:sp>
      <p:sp>
        <p:nvSpPr>
          <p:cNvPr id="20" name="Rounded Rectangle 19"/>
          <p:cNvSpPr/>
          <p:nvPr/>
        </p:nvSpPr>
        <p:spPr>
          <a:xfrm>
            <a:off x="7442200" y="2730500"/>
            <a:ext cx="3175000" cy="1651000"/>
          </a:xfrm>
          <a:prstGeom prst="roundRect">
            <a:avLst>
              <a:gd name="adj" fmla="val 6153"/>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70800" y="2921000"/>
            <a:ext cx="25400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03</a:t>
            </a:r>
          </a:p>
        </p:txBody>
      </p:sp>
      <p:sp>
        <p:nvSpPr>
          <p:cNvPr id="22" name="TextBox 21"/>
          <p:cNvSpPr txBox="1"/>
          <p:nvPr/>
        </p:nvSpPr>
        <p:spPr>
          <a:xfrm>
            <a:off x="7670800" y="3314700"/>
            <a:ext cx="27940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202B27"/>
                </a:solidFill>
                <a:latin typeface="Lato"/>
              </a:defRPr>
            </a:pPr>
            <a:r>
              <a:t>Rəqabət</a:t>
            </a:r>
          </a:p>
        </p:txBody>
      </p:sp>
      <p:sp>
        <p:nvSpPr>
          <p:cNvPr id="23" name="TextBox 22"/>
          <p:cNvSpPr txBox="1"/>
          <p:nvPr/>
        </p:nvSpPr>
        <p:spPr>
          <a:xfrm>
            <a:off x="7670800" y="3810000"/>
            <a:ext cx="2794000" cy="295910"/>
          </a:xfrm>
          <a:prstGeom prst="rect">
            <a:avLst/>
          </a:prstGeom>
          <a:noFill/>
        </p:spPr>
        <p:txBody>
          <a:bodyPr wrap="none" lIns="0" rIns="0" tIns="0" bIns="0" anchor="t">
            <a:spAutoFit/>
          </a:bodyPr>
          <a:lstStyle/>
          <a:p>
            <a:pPr>
              <a:lnSpc>
                <a:spcPts val="1830"/>
              </a:lnSpc>
              <a:spcBef>
                <a:spcPts val="0"/>
              </a:spcBef>
              <a:spcAft>
                <a:spcPts val="0"/>
              </a:spcAft>
              <a:defRPr sz="1500" b="0">
                <a:solidFill>
                  <a:srgbClr val="607069"/>
                </a:solidFill>
                <a:latin typeface="Lato"/>
              </a:defRPr>
            </a:pPr>
            <a:r>
              <a:t>Tender və ya auksion</a:t>
            </a:r>
          </a:p>
        </p:txBody>
      </p:sp>
      <p:sp>
        <p:nvSpPr>
          <p:cNvPr id="24" name="TextBox 23"/>
          <p:cNvSpPr txBox="1"/>
          <p:nvPr/>
        </p:nvSpPr>
        <p:spPr>
          <a:xfrm>
            <a:off x="10655300" y="3390900"/>
            <a:ext cx="228600" cy="373380"/>
          </a:xfrm>
          <a:prstGeom prst="rect">
            <a:avLst/>
          </a:prstGeom>
          <a:noFill/>
        </p:spPr>
        <p:txBody>
          <a:bodyPr wrap="none" lIns="0" rIns="0" tIns="0" bIns="0" anchor="t">
            <a:spAutoFit/>
          </a:bodyPr>
          <a:lstStyle/>
          <a:p>
            <a:pPr>
              <a:lnSpc>
                <a:spcPts val="2440"/>
              </a:lnSpc>
              <a:spcBef>
                <a:spcPts val="0"/>
              </a:spcBef>
              <a:spcAft>
                <a:spcPts val="0"/>
              </a:spcAft>
              <a:defRPr sz="2000" b="0">
                <a:solidFill>
                  <a:srgbClr val="087F62"/>
                </a:solidFill>
                <a:latin typeface="Lato"/>
              </a:defRPr>
            </a:pPr>
            <a:r>
              <a:t>→</a:t>
            </a:r>
          </a:p>
        </p:txBody>
      </p:sp>
      <p:sp>
        <p:nvSpPr>
          <p:cNvPr id="25" name="Rounded Rectangle 24"/>
          <p:cNvSpPr/>
          <p:nvPr/>
        </p:nvSpPr>
        <p:spPr>
          <a:xfrm>
            <a:off x="10871200" y="2730500"/>
            <a:ext cx="3175000" cy="1651000"/>
          </a:xfrm>
          <a:prstGeom prst="roundRect">
            <a:avLst>
              <a:gd name="adj" fmla="val 6153"/>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099800" y="2921000"/>
            <a:ext cx="25400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04</a:t>
            </a:r>
          </a:p>
        </p:txBody>
      </p:sp>
      <p:sp>
        <p:nvSpPr>
          <p:cNvPr id="27" name="TextBox 26"/>
          <p:cNvSpPr txBox="1"/>
          <p:nvPr/>
        </p:nvSpPr>
        <p:spPr>
          <a:xfrm>
            <a:off x="11099800" y="3314700"/>
            <a:ext cx="27940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202B27"/>
                </a:solidFill>
                <a:latin typeface="Lato"/>
              </a:defRPr>
            </a:pPr>
            <a:r>
              <a:t>Seçim</a:t>
            </a:r>
          </a:p>
        </p:txBody>
      </p:sp>
      <p:sp>
        <p:nvSpPr>
          <p:cNvPr id="28" name="TextBox 27"/>
          <p:cNvSpPr txBox="1"/>
          <p:nvPr/>
        </p:nvSpPr>
        <p:spPr>
          <a:xfrm>
            <a:off x="11099800" y="3810000"/>
            <a:ext cx="2794000" cy="295910"/>
          </a:xfrm>
          <a:prstGeom prst="rect">
            <a:avLst/>
          </a:prstGeom>
          <a:noFill/>
        </p:spPr>
        <p:txBody>
          <a:bodyPr wrap="none" lIns="0" rIns="0" tIns="0" bIns="0" anchor="t">
            <a:spAutoFit/>
          </a:bodyPr>
          <a:lstStyle/>
          <a:p>
            <a:pPr>
              <a:lnSpc>
                <a:spcPts val="1830"/>
              </a:lnSpc>
              <a:spcBef>
                <a:spcPts val="0"/>
              </a:spcBef>
              <a:spcAft>
                <a:spcPts val="0"/>
              </a:spcAft>
              <a:defRPr sz="1500" b="0">
                <a:solidFill>
                  <a:srgbClr val="607069"/>
                </a:solidFill>
                <a:latin typeface="Lato"/>
              </a:defRPr>
            </a:pPr>
            <a:r>
              <a:t>Qiymətləndirmə və qalib</a:t>
            </a:r>
          </a:p>
        </p:txBody>
      </p:sp>
      <p:sp>
        <p:nvSpPr>
          <p:cNvPr id="29" name="Rounded Rectangle 28"/>
          <p:cNvSpPr/>
          <p:nvPr/>
        </p:nvSpPr>
        <p:spPr>
          <a:xfrm>
            <a:off x="584200" y="4762500"/>
            <a:ext cx="3175000" cy="1651000"/>
          </a:xfrm>
          <a:prstGeom prst="roundRect">
            <a:avLst>
              <a:gd name="adj" fmla="val 6153"/>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2800" y="4953000"/>
            <a:ext cx="25400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05</a:t>
            </a:r>
          </a:p>
        </p:txBody>
      </p:sp>
      <p:sp>
        <p:nvSpPr>
          <p:cNvPr id="31" name="TextBox 30"/>
          <p:cNvSpPr txBox="1"/>
          <p:nvPr/>
        </p:nvSpPr>
        <p:spPr>
          <a:xfrm>
            <a:off x="812800" y="5346700"/>
            <a:ext cx="27940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202B27"/>
                </a:solidFill>
                <a:latin typeface="Lato"/>
              </a:defRPr>
            </a:pPr>
            <a:r>
              <a:t>Müqavilə</a:t>
            </a:r>
          </a:p>
        </p:txBody>
      </p:sp>
      <p:sp>
        <p:nvSpPr>
          <p:cNvPr id="32" name="TextBox 31"/>
          <p:cNvSpPr txBox="1"/>
          <p:nvPr/>
        </p:nvSpPr>
        <p:spPr>
          <a:xfrm>
            <a:off x="812800" y="5842000"/>
            <a:ext cx="2794000" cy="295910"/>
          </a:xfrm>
          <a:prstGeom prst="rect">
            <a:avLst/>
          </a:prstGeom>
          <a:noFill/>
        </p:spPr>
        <p:txBody>
          <a:bodyPr wrap="none" lIns="0" rIns="0" tIns="0" bIns="0" anchor="t">
            <a:spAutoFit/>
          </a:bodyPr>
          <a:lstStyle/>
          <a:p>
            <a:pPr>
              <a:lnSpc>
                <a:spcPts val="1830"/>
              </a:lnSpc>
              <a:spcBef>
                <a:spcPts val="0"/>
              </a:spcBef>
              <a:spcAft>
                <a:spcPts val="0"/>
              </a:spcAft>
              <a:defRPr sz="1500" b="0">
                <a:solidFill>
                  <a:srgbClr val="607069"/>
                </a:solidFill>
                <a:latin typeface="Lato"/>
              </a:defRPr>
            </a:pPr>
            <a:r>
              <a:t>Razılaşdırılmış şərtlər</a:t>
            </a:r>
          </a:p>
        </p:txBody>
      </p:sp>
      <p:sp>
        <p:nvSpPr>
          <p:cNvPr id="33" name="TextBox 32"/>
          <p:cNvSpPr txBox="1"/>
          <p:nvPr/>
        </p:nvSpPr>
        <p:spPr>
          <a:xfrm>
            <a:off x="3797300" y="5422900"/>
            <a:ext cx="228600" cy="373380"/>
          </a:xfrm>
          <a:prstGeom prst="rect">
            <a:avLst/>
          </a:prstGeom>
          <a:noFill/>
        </p:spPr>
        <p:txBody>
          <a:bodyPr wrap="none" lIns="0" rIns="0" tIns="0" bIns="0" anchor="t">
            <a:spAutoFit/>
          </a:bodyPr>
          <a:lstStyle/>
          <a:p>
            <a:pPr>
              <a:lnSpc>
                <a:spcPts val="2440"/>
              </a:lnSpc>
              <a:spcBef>
                <a:spcPts val="0"/>
              </a:spcBef>
              <a:spcAft>
                <a:spcPts val="0"/>
              </a:spcAft>
              <a:defRPr sz="2000" b="0">
                <a:solidFill>
                  <a:srgbClr val="087F62"/>
                </a:solidFill>
                <a:latin typeface="Lato"/>
              </a:defRPr>
            </a:pPr>
            <a:r>
              <a:t>→</a:t>
            </a:r>
          </a:p>
        </p:txBody>
      </p:sp>
      <p:sp>
        <p:nvSpPr>
          <p:cNvPr id="34" name="Rounded Rectangle 33"/>
          <p:cNvSpPr/>
          <p:nvPr/>
        </p:nvSpPr>
        <p:spPr>
          <a:xfrm>
            <a:off x="4013200" y="4762500"/>
            <a:ext cx="3175000" cy="1651000"/>
          </a:xfrm>
          <a:prstGeom prst="roundRect">
            <a:avLst>
              <a:gd name="adj" fmla="val 6153"/>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41800" y="4953000"/>
            <a:ext cx="25400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06</a:t>
            </a:r>
          </a:p>
        </p:txBody>
      </p:sp>
      <p:sp>
        <p:nvSpPr>
          <p:cNvPr id="36" name="TextBox 35"/>
          <p:cNvSpPr txBox="1"/>
          <p:nvPr/>
        </p:nvSpPr>
        <p:spPr>
          <a:xfrm>
            <a:off x="4241800" y="5346700"/>
            <a:ext cx="27940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202B27"/>
                </a:solidFill>
                <a:latin typeface="Lato"/>
              </a:defRPr>
            </a:pPr>
            <a:r>
              <a:t>Sifariş</a:t>
            </a:r>
          </a:p>
        </p:txBody>
      </p:sp>
      <p:sp>
        <p:nvSpPr>
          <p:cNvPr id="37" name="TextBox 36"/>
          <p:cNvSpPr txBox="1"/>
          <p:nvPr/>
        </p:nvSpPr>
        <p:spPr>
          <a:xfrm>
            <a:off x="4241800" y="5842000"/>
            <a:ext cx="2794000" cy="295910"/>
          </a:xfrm>
          <a:prstGeom prst="rect">
            <a:avLst/>
          </a:prstGeom>
          <a:noFill/>
        </p:spPr>
        <p:txBody>
          <a:bodyPr wrap="none" lIns="0" rIns="0" tIns="0" bIns="0" anchor="t">
            <a:spAutoFit/>
          </a:bodyPr>
          <a:lstStyle/>
          <a:p>
            <a:pPr>
              <a:lnSpc>
                <a:spcPts val="1830"/>
              </a:lnSpc>
              <a:spcBef>
                <a:spcPts val="0"/>
              </a:spcBef>
              <a:spcAft>
                <a:spcPts val="0"/>
              </a:spcAft>
              <a:defRPr sz="1500" b="0">
                <a:solidFill>
                  <a:srgbClr val="607069"/>
                </a:solidFill>
                <a:latin typeface="Lato"/>
              </a:defRPr>
            </a:pPr>
            <a:r>
              <a:t>PO və çatdırılma</a:t>
            </a:r>
          </a:p>
        </p:txBody>
      </p:sp>
      <p:sp>
        <p:nvSpPr>
          <p:cNvPr id="38" name="TextBox 37"/>
          <p:cNvSpPr txBox="1"/>
          <p:nvPr/>
        </p:nvSpPr>
        <p:spPr>
          <a:xfrm>
            <a:off x="7226300" y="5422900"/>
            <a:ext cx="228600" cy="373380"/>
          </a:xfrm>
          <a:prstGeom prst="rect">
            <a:avLst/>
          </a:prstGeom>
          <a:noFill/>
        </p:spPr>
        <p:txBody>
          <a:bodyPr wrap="none" lIns="0" rIns="0" tIns="0" bIns="0" anchor="t">
            <a:spAutoFit/>
          </a:bodyPr>
          <a:lstStyle/>
          <a:p>
            <a:pPr>
              <a:lnSpc>
                <a:spcPts val="2440"/>
              </a:lnSpc>
              <a:spcBef>
                <a:spcPts val="0"/>
              </a:spcBef>
              <a:spcAft>
                <a:spcPts val="0"/>
              </a:spcAft>
              <a:defRPr sz="2000" b="0">
                <a:solidFill>
                  <a:srgbClr val="087F62"/>
                </a:solidFill>
                <a:latin typeface="Lato"/>
              </a:defRPr>
            </a:pPr>
            <a:r>
              <a:t>→</a:t>
            </a:r>
          </a:p>
        </p:txBody>
      </p:sp>
      <p:sp>
        <p:nvSpPr>
          <p:cNvPr id="39" name="Rounded Rectangle 38"/>
          <p:cNvSpPr/>
          <p:nvPr/>
        </p:nvSpPr>
        <p:spPr>
          <a:xfrm>
            <a:off x="7442200" y="4762500"/>
            <a:ext cx="3175000" cy="1651000"/>
          </a:xfrm>
          <a:prstGeom prst="roundRect">
            <a:avLst>
              <a:gd name="adj" fmla="val 6153"/>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70800" y="4953000"/>
            <a:ext cx="25400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07</a:t>
            </a:r>
          </a:p>
        </p:txBody>
      </p:sp>
      <p:sp>
        <p:nvSpPr>
          <p:cNvPr id="41" name="TextBox 40"/>
          <p:cNvSpPr txBox="1"/>
          <p:nvPr/>
        </p:nvSpPr>
        <p:spPr>
          <a:xfrm>
            <a:off x="7670800" y="5346700"/>
            <a:ext cx="27940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202B27"/>
                </a:solidFill>
                <a:latin typeface="Lato"/>
              </a:defRPr>
            </a:pPr>
            <a:r>
              <a:t>Qəbul</a:t>
            </a:r>
          </a:p>
        </p:txBody>
      </p:sp>
      <p:sp>
        <p:nvSpPr>
          <p:cNvPr id="42" name="TextBox 41"/>
          <p:cNvSpPr txBox="1"/>
          <p:nvPr/>
        </p:nvSpPr>
        <p:spPr>
          <a:xfrm>
            <a:off x="7670800" y="5842000"/>
            <a:ext cx="2794000" cy="295910"/>
          </a:xfrm>
          <a:prstGeom prst="rect">
            <a:avLst/>
          </a:prstGeom>
          <a:noFill/>
        </p:spPr>
        <p:txBody>
          <a:bodyPr wrap="none" lIns="0" rIns="0" tIns="0" bIns="0" anchor="t">
            <a:spAutoFit/>
          </a:bodyPr>
          <a:lstStyle/>
          <a:p>
            <a:pPr>
              <a:lnSpc>
                <a:spcPts val="1830"/>
              </a:lnSpc>
              <a:spcBef>
                <a:spcPts val="0"/>
              </a:spcBef>
              <a:spcAft>
                <a:spcPts val="0"/>
              </a:spcAft>
              <a:defRPr sz="1500" b="0">
                <a:solidFill>
                  <a:srgbClr val="607069"/>
                </a:solidFill>
                <a:latin typeface="Lato"/>
              </a:defRPr>
            </a:pPr>
            <a:r>
              <a:t>Faktiki miqdar</a:t>
            </a:r>
          </a:p>
        </p:txBody>
      </p:sp>
      <p:sp>
        <p:nvSpPr>
          <p:cNvPr id="43" name="TextBox 42"/>
          <p:cNvSpPr txBox="1"/>
          <p:nvPr/>
        </p:nvSpPr>
        <p:spPr>
          <a:xfrm>
            <a:off x="10655300" y="5422900"/>
            <a:ext cx="228600" cy="373380"/>
          </a:xfrm>
          <a:prstGeom prst="rect">
            <a:avLst/>
          </a:prstGeom>
          <a:noFill/>
        </p:spPr>
        <p:txBody>
          <a:bodyPr wrap="none" lIns="0" rIns="0" tIns="0" bIns="0" anchor="t">
            <a:spAutoFit/>
          </a:bodyPr>
          <a:lstStyle/>
          <a:p>
            <a:pPr>
              <a:lnSpc>
                <a:spcPts val="2440"/>
              </a:lnSpc>
              <a:spcBef>
                <a:spcPts val="0"/>
              </a:spcBef>
              <a:spcAft>
                <a:spcPts val="0"/>
              </a:spcAft>
              <a:defRPr sz="2000" b="0">
                <a:solidFill>
                  <a:srgbClr val="087F62"/>
                </a:solidFill>
                <a:latin typeface="Lato"/>
              </a:defRPr>
            </a:pPr>
            <a:r>
              <a:t>→</a:t>
            </a:r>
          </a:p>
        </p:txBody>
      </p:sp>
      <p:sp>
        <p:nvSpPr>
          <p:cNvPr id="44" name="Rounded Rectangle 43"/>
          <p:cNvSpPr/>
          <p:nvPr/>
        </p:nvSpPr>
        <p:spPr>
          <a:xfrm>
            <a:off x="10871200" y="4762500"/>
            <a:ext cx="3175000" cy="1651000"/>
          </a:xfrm>
          <a:prstGeom prst="roundRect">
            <a:avLst>
              <a:gd name="adj" fmla="val 6153"/>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099800" y="4953000"/>
            <a:ext cx="25400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08</a:t>
            </a:r>
          </a:p>
        </p:txBody>
      </p:sp>
      <p:sp>
        <p:nvSpPr>
          <p:cNvPr id="46" name="TextBox 45"/>
          <p:cNvSpPr txBox="1"/>
          <p:nvPr/>
        </p:nvSpPr>
        <p:spPr>
          <a:xfrm>
            <a:off x="11099800" y="5346700"/>
            <a:ext cx="27940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202B27"/>
                </a:solidFill>
                <a:latin typeface="Lato"/>
              </a:defRPr>
            </a:pPr>
            <a:r>
              <a:t>Qaimə</a:t>
            </a:r>
          </a:p>
        </p:txBody>
      </p:sp>
      <p:sp>
        <p:nvSpPr>
          <p:cNvPr id="47" name="TextBox 46"/>
          <p:cNvSpPr txBox="1"/>
          <p:nvPr/>
        </p:nvSpPr>
        <p:spPr>
          <a:xfrm>
            <a:off x="11099800" y="5842000"/>
            <a:ext cx="2794000" cy="295910"/>
          </a:xfrm>
          <a:prstGeom prst="rect">
            <a:avLst/>
          </a:prstGeom>
          <a:noFill/>
        </p:spPr>
        <p:txBody>
          <a:bodyPr wrap="none" lIns="0" rIns="0" tIns="0" bIns="0" anchor="t">
            <a:spAutoFit/>
          </a:bodyPr>
          <a:lstStyle/>
          <a:p>
            <a:pPr>
              <a:lnSpc>
                <a:spcPts val="1830"/>
              </a:lnSpc>
              <a:spcBef>
                <a:spcPts val="0"/>
              </a:spcBef>
              <a:spcAft>
                <a:spcPts val="0"/>
              </a:spcAft>
              <a:defRPr sz="1500" b="0">
                <a:solidFill>
                  <a:srgbClr val="607069"/>
                </a:solidFill>
                <a:latin typeface="Lato"/>
              </a:defRPr>
            </a:pPr>
            <a:r>
              <a:t>Üzləşdirmə və uçot</a:t>
            </a:r>
          </a:p>
        </p:txBody>
      </p:sp>
      <p:sp>
        <p:nvSpPr>
          <p:cNvPr id="48" name="TextBox 47"/>
          <p:cNvSpPr txBox="1"/>
          <p:nvPr/>
        </p:nvSpPr>
        <p:spPr>
          <a:xfrm>
            <a:off x="596900" y="7048500"/>
            <a:ext cx="6540500" cy="342392"/>
          </a:xfrm>
          <a:prstGeom prst="rect">
            <a:avLst/>
          </a:prstGeom>
          <a:noFill/>
        </p:spPr>
        <p:txBody>
          <a:bodyPr wrap="none" lIns="0" rIns="0" tIns="0" bIns="0" anchor="t">
            <a:spAutoFit/>
          </a:bodyPr>
          <a:lstStyle/>
          <a:p>
            <a:pPr>
              <a:lnSpc>
                <a:spcPts val="2196"/>
              </a:lnSpc>
              <a:spcBef>
                <a:spcPts val="0"/>
              </a:spcBef>
              <a:spcAft>
                <a:spcPts val="0"/>
              </a:spcAft>
              <a:defRPr sz="1800" b="1">
                <a:solidFill>
                  <a:srgbClr val="164B3C"/>
                </a:solidFill>
                <a:latin typeface="Lato"/>
              </a:defRPr>
            </a:pPr>
            <a:r>
              <a:t>Alıcı: tələbat, təsdiq, seçim və qəbul</a:t>
            </a:r>
          </a:p>
        </p:txBody>
      </p:sp>
      <p:sp>
        <p:nvSpPr>
          <p:cNvPr id="49" name="TextBox 48"/>
          <p:cNvSpPr txBox="1"/>
          <p:nvPr/>
        </p:nvSpPr>
        <p:spPr>
          <a:xfrm>
            <a:off x="7442200" y="7048500"/>
            <a:ext cx="6604000" cy="342392"/>
          </a:xfrm>
          <a:prstGeom prst="rect">
            <a:avLst/>
          </a:prstGeom>
          <a:noFill/>
        </p:spPr>
        <p:txBody>
          <a:bodyPr wrap="none" lIns="0" rIns="0" tIns="0" bIns="0" anchor="t">
            <a:spAutoFit/>
          </a:bodyPr>
          <a:lstStyle/>
          <a:p>
            <a:pPr>
              <a:lnSpc>
                <a:spcPts val="2196"/>
              </a:lnSpc>
              <a:spcBef>
                <a:spcPts val="0"/>
              </a:spcBef>
              <a:spcAft>
                <a:spcPts val="0"/>
              </a:spcAft>
              <a:defRPr sz="1800" b="1">
                <a:solidFill>
                  <a:srgbClr val="164B3C"/>
                </a:solidFill>
                <a:latin typeface="Lato"/>
              </a:defRPr>
            </a:pPr>
            <a:r>
              <a:t>Təchizatçı: təklif, çatdırılma və qaimə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317500"/>
            <a:ext cx="2540000" cy="326898"/>
          </a:xfrm>
          <a:prstGeom prst="rect">
            <a:avLst/>
          </a:prstGeom>
          <a:noFill/>
        </p:spPr>
        <p:txBody>
          <a:bodyPr wrap="none" lIns="0" rIns="0" tIns="0" bIns="0" anchor="t">
            <a:spAutoFit/>
          </a:bodyPr>
          <a:lstStyle/>
          <a:p>
            <a:pPr>
              <a:lnSpc>
                <a:spcPts val="2074"/>
              </a:lnSpc>
              <a:spcBef>
                <a:spcPts val="0"/>
              </a:spcBef>
              <a:spcAft>
                <a:spcPts val="0"/>
              </a:spcAft>
              <a:defRPr sz="1700" b="1">
                <a:solidFill>
                  <a:srgbClr val="087F62"/>
                </a:solidFill>
                <a:latin typeface="Lato"/>
              </a:defRPr>
            </a:pPr>
            <a:r>
              <a:t>Leadprocure</a:t>
            </a:r>
          </a:p>
        </p:txBody>
      </p:sp>
      <p:sp>
        <p:nvSpPr>
          <p:cNvPr id="4" name="TextBox 3"/>
          <p:cNvSpPr txBox="1"/>
          <p:nvPr/>
        </p:nvSpPr>
        <p:spPr>
          <a:xfrm>
            <a:off x="9525000" y="368300"/>
            <a:ext cx="4521200" cy="226187"/>
          </a:xfrm>
          <a:prstGeom prst="rect">
            <a:avLst/>
          </a:prstGeom>
          <a:noFill/>
        </p:spPr>
        <p:txBody>
          <a:bodyPr wrap="none" lIns="0" rIns="0" tIns="0" bIns="0" anchor="t">
            <a:spAutoFit/>
          </a:bodyPr>
          <a:lstStyle/>
          <a:p>
            <a:pPr algn="r">
              <a:lnSpc>
                <a:spcPts val="1281"/>
              </a:lnSpc>
              <a:spcBef>
                <a:spcPts val="0"/>
              </a:spcBef>
              <a:spcAft>
                <a:spcPts val="0"/>
              </a:spcAft>
              <a:defRPr sz="1050" b="0">
                <a:solidFill>
                  <a:srgbClr val="607069"/>
                </a:solidFill>
                <a:latin typeface="Lato"/>
              </a:defRPr>
            </a:pPr>
            <a:r>
              <a:t>RƏHBƏRLİK VƏ SATINALMA KOMANDASI</a:t>
            </a:r>
          </a:p>
        </p:txBody>
      </p:sp>
      <p:cxnSp>
        <p:nvCxnSpPr>
          <p:cNvPr id="5" name="Connector 4"/>
          <p:cNvCxnSpPr/>
          <p:nvPr/>
        </p:nvCxnSpPr>
        <p:spPr>
          <a:xfrm>
            <a:off x="584200" y="762000"/>
            <a:ext cx="13462000" cy="0"/>
          </a:xfrm>
          <a:prstGeom prst="line">
            <a:avLst/>
          </a:prstGeom>
          <a:ln w="12700">
            <a:solidFill>
              <a:srgbClr val="DCE4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079500"/>
            <a:ext cx="13462000" cy="605790"/>
          </a:xfrm>
          <a:prstGeom prst="rect">
            <a:avLst/>
          </a:prstGeom>
          <a:noFill/>
        </p:spPr>
        <p:txBody>
          <a:bodyPr wrap="none" lIns="0" rIns="0" tIns="0" bIns="0" anchor="t">
            <a:spAutoFit/>
          </a:bodyPr>
          <a:lstStyle/>
          <a:p>
            <a:pPr>
              <a:lnSpc>
                <a:spcPts val="4270"/>
              </a:lnSpc>
              <a:spcBef>
                <a:spcPts val="0"/>
              </a:spcBef>
              <a:spcAft>
                <a:spcPts val="0"/>
              </a:spcAft>
              <a:defRPr sz="3500" b="1">
                <a:solidFill>
                  <a:srgbClr val="202B27"/>
                </a:solidFill>
                <a:latin typeface="Lato"/>
              </a:defRPr>
            </a:pPr>
            <a:r>
              <a:t>Görüləcək işlər bir idarə panelində</a:t>
            </a:r>
          </a:p>
        </p:txBody>
      </p:sp>
      <p:sp>
        <p:nvSpPr>
          <p:cNvPr id="7" name="TextBox 6"/>
          <p:cNvSpPr txBox="1"/>
          <p:nvPr/>
        </p:nvSpPr>
        <p:spPr>
          <a:xfrm>
            <a:off x="584200" y="1739900"/>
            <a:ext cx="13462000" cy="326898"/>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Göstəricilər, qərar gözləyən tapşırıqlar və əməliyyat bildirişləri.</a:t>
            </a:r>
          </a:p>
        </p:txBody>
      </p:sp>
      <p:sp>
        <p:nvSpPr>
          <p:cNvPr id="8" name="TextBox 7"/>
          <p:cNvSpPr txBox="1"/>
          <p:nvPr/>
        </p:nvSpPr>
        <p:spPr>
          <a:xfrm>
            <a:off x="584200" y="7835900"/>
            <a:ext cx="10160000" cy="210693"/>
          </a:xfrm>
          <a:prstGeom prst="rect">
            <a:avLst/>
          </a:prstGeom>
          <a:noFill/>
        </p:spPr>
        <p:txBody>
          <a:bodyPr wrap="none" lIns="0" rIns="0" tIns="0" bIns="0" anchor="t">
            <a:spAutoFit/>
          </a:bodyPr>
          <a:lstStyle/>
          <a:p>
            <a:pPr>
              <a:lnSpc>
                <a:spcPts val="1159"/>
              </a:lnSpc>
              <a:spcBef>
                <a:spcPts val="0"/>
              </a:spcBef>
              <a:spcAft>
                <a:spcPts val="0"/>
              </a:spcAft>
              <a:defRPr sz="950" b="0">
                <a:solidFill>
                  <a:srgbClr val="607069"/>
                </a:solidFill>
                <a:latin typeface="Lato"/>
              </a:defRPr>
            </a:pPr>
            <a:r>
              <a:t>KORPORATİV SATINALMA / MƏHSUL TƏQDİMATI</a:t>
            </a:r>
          </a:p>
        </p:txBody>
      </p:sp>
      <p:sp>
        <p:nvSpPr>
          <p:cNvPr id="9" name="TextBox 8"/>
          <p:cNvSpPr txBox="1"/>
          <p:nvPr/>
        </p:nvSpPr>
        <p:spPr>
          <a:xfrm>
            <a:off x="13411200" y="7785100"/>
            <a:ext cx="635000" cy="264922"/>
          </a:xfrm>
          <a:prstGeom prst="rect">
            <a:avLst/>
          </a:prstGeom>
          <a:noFill/>
        </p:spPr>
        <p:txBody>
          <a:bodyPr wrap="none" lIns="0" rIns="0" tIns="0" bIns="0" anchor="t">
            <a:spAutoFit/>
          </a:bodyPr>
          <a:lstStyle/>
          <a:p>
            <a:pPr algn="r">
              <a:lnSpc>
                <a:spcPts val="1586"/>
              </a:lnSpc>
              <a:spcBef>
                <a:spcPts val="0"/>
              </a:spcBef>
              <a:spcAft>
                <a:spcPts val="0"/>
              </a:spcAft>
              <a:defRPr sz="1300" b="1">
                <a:solidFill>
                  <a:srgbClr val="087F62"/>
                </a:solidFill>
                <a:latin typeface="Lato"/>
              </a:defRPr>
            </a:pPr>
            <a:r>
              <a:t>05</a:t>
            </a:r>
          </a:p>
        </p:txBody>
      </p:sp>
      <p:sp>
        <p:nvSpPr>
          <p:cNvPr id="10" name="Rounded Rectangle 9"/>
          <p:cNvSpPr/>
          <p:nvPr/>
        </p:nvSpPr>
        <p:spPr>
          <a:xfrm>
            <a:off x="969433" y="2540000"/>
            <a:ext cx="8932333" cy="5080000"/>
          </a:xfrm>
          <a:prstGeom prst="roundRect">
            <a:avLst>
              <a:gd name="adj" fmla="val 1500"/>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1032933" y="2603500"/>
            <a:ext cx="8805333" cy="4953000"/>
          </a:xfrm>
          <a:prstGeom prst="rect">
            <a:avLst/>
          </a:prstGeom>
        </p:spPr>
      </p:pic>
      <p:sp>
        <p:nvSpPr>
          <p:cNvPr id="12" name="TextBox 11"/>
          <p:cNvSpPr txBox="1"/>
          <p:nvPr/>
        </p:nvSpPr>
        <p:spPr>
          <a:xfrm>
            <a:off x="1032933" y="7683500"/>
            <a:ext cx="8805333" cy="226187"/>
          </a:xfrm>
          <a:prstGeom prst="rect">
            <a:avLst/>
          </a:prstGeom>
          <a:noFill/>
        </p:spPr>
        <p:txBody>
          <a:bodyPr wrap="none" lIns="0" rIns="0" tIns="0" bIns="0" anchor="t">
            <a:spAutoFit/>
          </a:bodyPr>
          <a:lstStyle/>
          <a:p>
            <a:pPr>
              <a:lnSpc>
                <a:spcPts val="1281"/>
              </a:lnSpc>
              <a:spcBef>
                <a:spcPts val="0"/>
              </a:spcBef>
              <a:spcAft>
                <a:spcPts val="0"/>
              </a:spcAft>
              <a:defRPr sz="1050" b="0">
                <a:solidFill>
                  <a:srgbClr val="607069"/>
                </a:solidFill>
                <a:latin typeface="Lato"/>
              </a:defRPr>
            </a:pPr>
            <a:r>
              <a:t>AZ demo interfeysi</a:t>
            </a:r>
          </a:p>
        </p:txBody>
      </p:sp>
      <p:sp>
        <p:nvSpPr>
          <p:cNvPr id="13" name="TextBox 12"/>
          <p:cNvSpPr txBox="1"/>
          <p:nvPr/>
        </p:nvSpPr>
        <p:spPr>
          <a:xfrm>
            <a:off x="10693400" y="2819400"/>
            <a:ext cx="4445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01</a:t>
            </a:r>
          </a:p>
        </p:txBody>
      </p:sp>
      <p:sp>
        <p:nvSpPr>
          <p:cNvPr id="14" name="TextBox 13"/>
          <p:cNvSpPr txBox="1"/>
          <p:nvPr/>
        </p:nvSpPr>
        <p:spPr>
          <a:xfrm>
            <a:off x="11252200" y="2794000"/>
            <a:ext cx="27813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202B27"/>
                </a:solidFill>
                <a:latin typeface="Lato"/>
              </a:defRPr>
            </a:pPr>
            <a:r>
              <a:t>Prioritetlər görünür</a:t>
            </a:r>
          </a:p>
        </p:txBody>
      </p:sp>
      <p:sp>
        <p:nvSpPr>
          <p:cNvPr id="15" name="TextBox 14"/>
          <p:cNvSpPr txBox="1"/>
          <p:nvPr/>
        </p:nvSpPr>
        <p:spPr>
          <a:xfrm>
            <a:off x="11252200" y="3517900"/>
            <a:ext cx="2781300" cy="559308"/>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Təsdiq, qalib seçimi və qəbul</a:t>
            </a:r>
          </a:p>
          <a:p>
            <a:pPr>
              <a:lnSpc>
                <a:spcPts val="1952"/>
              </a:lnSpc>
              <a:spcBef>
                <a:spcPts val="0"/>
              </a:spcBef>
              <a:spcAft>
                <a:spcPts val="0"/>
              </a:spcAft>
              <a:defRPr sz="1600" b="0">
                <a:solidFill>
                  <a:srgbClr val="607069"/>
                </a:solidFill>
                <a:latin typeface="Lato"/>
              </a:defRPr>
            </a:pPr>
            <a:r>
              <a:t>kimi növbəti addımlar.</a:t>
            </a:r>
          </a:p>
        </p:txBody>
      </p:sp>
      <p:sp>
        <p:nvSpPr>
          <p:cNvPr id="16" name="TextBox 15"/>
          <p:cNvSpPr txBox="1"/>
          <p:nvPr/>
        </p:nvSpPr>
        <p:spPr>
          <a:xfrm>
            <a:off x="10693400" y="5041900"/>
            <a:ext cx="4445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02</a:t>
            </a:r>
          </a:p>
        </p:txBody>
      </p:sp>
      <p:sp>
        <p:nvSpPr>
          <p:cNvPr id="17" name="TextBox 16"/>
          <p:cNvSpPr txBox="1"/>
          <p:nvPr/>
        </p:nvSpPr>
        <p:spPr>
          <a:xfrm>
            <a:off x="11252200" y="5016500"/>
            <a:ext cx="27813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202B27"/>
                </a:solidFill>
                <a:latin typeface="Lato"/>
              </a:defRPr>
            </a:pPr>
            <a:r>
              <a:t>Vahid baxış</a:t>
            </a:r>
          </a:p>
        </p:txBody>
      </p:sp>
      <p:sp>
        <p:nvSpPr>
          <p:cNvPr id="18" name="TextBox 17"/>
          <p:cNvSpPr txBox="1"/>
          <p:nvPr/>
        </p:nvSpPr>
        <p:spPr>
          <a:xfrm>
            <a:off x="11252200" y="5740400"/>
            <a:ext cx="2781300" cy="559308"/>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Aktiv tenderlər, sifarişlər və</a:t>
            </a:r>
          </a:p>
          <a:p>
            <a:pPr>
              <a:lnSpc>
                <a:spcPts val="1952"/>
              </a:lnSpc>
              <a:spcBef>
                <a:spcPts val="0"/>
              </a:spcBef>
              <a:spcAft>
                <a:spcPts val="0"/>
              </a:spcAft>
              <a:defRPr sz="1600" b="0">
                <a:solidFill>
                  <a:srgbClr val="607069"/>
                </a:solidFill>
                <a:latin typeface="Lato"/>
              </a:defRPr>
            </a:pPr>
            <a:r>
              <a:t>bildirişlər eyni ekranda.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317500"/>
            <a:ext cx="2540000" cy="326898"/>
          </a:xfrm>
          <a:prstGeom prst="rect">
            <a:avLst/>
          </a:prstGeom>
          <a:noFill/>
        </p:spPr>
        <p:txBody>
          <a:bodyPr wrap="none" lIns="0" rIns="0" tIns="0" bIns="0" anchor="t">
            <a:spAutoFit/>
          </a:bodyPr>
          <a:lstStyle/>
          <a:p>
            <a:pPr>
              <a:lnSpc>
                <a:spcPts val="2074"/>
              </a:lnSpc>
              <a:spcBef>
                <a:spcPts val="0"/>
              </a:spcBef>
              <a:spcAft>
                <a:spcPts val="0"/>
              </a:spcAft>
              <a:defRPr sz="1700" b="1">
                <a:solidFill>
                  <a:srgbClr val="087F62"/>
                </a:solidFill>
                <a:latin typeface="Lato"/>
              </a:defRPr>
            </a:pPr>
            <a:r>
              <a:t>Leadprocure</a:t>
            </a:r>
          </a:p>
        </p:txBody>
      </p:sp>
      <p:sp>
        <p:nvSpPr>
          <p:cNvPr id="4" name="TextBox 3"/>
          <p:cNvSpPr txBox="1"/>
          <p:nvPr/>
        </p:nvSpPr>
        <p:spPr>
          <a:xfrm>
            <a:off x="9525000" y="368300"/>
            <a:ext cx="4521200" cy="226187"/>
          </a:xfrm>
          <a:prstGeom prst="rect">
            <a:avLst/>
          </a:prstGeom>
          <a:noFill/>
        </p:spPr>
        <p:txBody>
          <a:bodyPr wrap="none" lIns="0" rIns="0" tIns="0" bIns="0" anchor="t">
            <a:spAutoFit/>
          </a:bodyPr>
          <a:lstStyle/>
          <a:p>
            <a:pPr algn="r">
              <a:lnSpc>
                <a:spcPts val="1281"/>
              </a:lnSpc>
              <a:spcBef>
                <a:spcPts val="0"/>
              </a:spcBef>
              <a:spcAft>
                <a:spcPts val="0"/>
              </a:spcAft>
              <a:defRPr sz="1050" b="0">
                <a:solidFill>
                  <a:srgbClr val="607069"/>
                </a:solidFill>
                <a:latin typeface="Lato"/>
              </a:defRPr>
            </a:pPr>
            <a:r>
              <a:t>TƏLƏBATIN İDARƏ EDİLMƏSİ</a:t>
            </a:r>
          </a:p>
        </p:txBody>
      </p:sp>
      <p:cxnSp>
        <p:nvCxnSpPr>
          <p:cNvPr id="5" name="Connector 4"/>
          <p:cNvCxnSpPr/>
          <p:nvPr/>
        </p:nvCxnSpPr>
        <p:spPr>
          <a:xfrm>
            <a:off x="584200" y="762000"/>
            <a:ext cx="13462000" cy="0"/>
          </a:xfrm>
          <a:prstGeom prst="line">
            <a:avLst/>
          </a:prstGeom>
          <a:ln w="12700">
            <a:solidFill>
              <a:srgbClr val="DCE4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079500"/>
            <a:ext cx="13462000" cy="605790"/>
          </a:xfrm>
          <a:prstGeom prst="rect">
            <a:avLst/>
          </a:prstGeom>
          <a:noFill/>
        </p:spPr>
        <p:txBody>
          <a:bodyPr wrap="none" lIns="0" rIns="0" tIns="0" bIns="0" anchor="t">
            <a:spAutoFit/>
          </a:bodyPr>
          <a:lstStyle/>
          <a:p>
            <a:pPr>
              <a:lnSpc>
                <a:spcPts val="4270"/>
              </a:lnSpc>
              <a:spcBef>
                <a:spcPts val="0"/>
              </a:spcBef>
              <a:spcAft>
                <a:spcPts val="0"/>
              </a:spcAft>
              <a:defRPr sz="3500" b="1">
                <a:solidFill>
                  <a:srgbClr val="202B27"/>
                </a:solidFill>
                <a:latin typeface="Lato"/>
              </a:defRPr>
            </a:pPr>
            <a:r>
              <a:t>Satınalma dəqiq tələbatdan başlayır</a:t>
            </a:r>
          </a:p>
        </p:txBody>
      </p:sp>
      <p:sp>
        <p:nvSpPr>
          <p:cNvPr id="7" name="TextBox 6"/>
          <p:cNvSpPr txBox="1"/>
          <p:nvPr/>
        </p:nvSpPr>
        <p:spPr>
          <a:xfrm>
            <a:off x="584200" y="1739900"/>
            <a:ext cx="13462000" cy="326898"/>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Kateqoriya, miqdar və qiymət smetası sonrakı qərarların əsasını yaradır.</a:t>
            </a:r>
          </a:p>
        </p:txBody>
      </p:sp>
      <p:sp>
        <p:nvSpPr>
          <p:cNvPr id="8" name="TextBox 7"/>
          <p:cNvSpPr txBox="1"/>
          <p:nvPr/>
        </p:nvSpPr>
        <p:spPr>
          <a:xfrm>
            <a:off x="584200" y="7835900"/>
            <a:ext cx="10160000" cy="210693"/>
          </a:xfrm>
          <a:prstGeom prst="rect">
            <a:avLst/>
          </a:prstGeom>
          <a:noFill/>
        </p:spPr>
        <p:txBody>
          <a:bodyPr wrap="none" lIns="0" rIns="0" tIns="0" bIns="0" anchor="t">
            <a:spAutoFit/>
          </a:bodyPr>
          <a:lstStyle/>
          <a:p>
            <a:pPr>
              <a:lnSpc>
                <a:spcPts val="1159"/>
              </a:lnSpc>
              <a:spcBef>
                <a:spcPts val="0"/>
              </a:spcBef>
              <a:spcAft>
                <a:spcPts val="0"/>
              </a:spcAft>
              <a:defRPr sz="950" b="0">
                <a:solidFill>
                  <a:srgbClr val="607069"/>
                </a:solidFill>
                <a:latin typeface="Lato"/>
              </a:defRPr>
            </a:pPr>
            <a:r>
              <a:t>KORPORATİV SATINALMA / MƏHSUL TƏQDİMATI</a:t>
            </a:r>
          </a:p>
        </p:txBody>
      </p:sp>
      <p:sp>
        <p:nvSpPr>
          <p:cNvPr id="9" name="TextBox 8"/>
          <p:cNvSpPr txBox="1"/>
          <p:nvPr/>
        </p:nvSpPr>
        <p:spPr>
          <a:xfrm>
            <a:off x="13411200" y="7785100"/>
            <a:ext cx="635000" cy="264922"/>
          </a:xfrm>
          <a:prstGeom prst="rect">
            <a:avLst/>
          </a:prstGeom>
          <a:noFill/>
        </p:spPr>
        <p:txBody>
          <a:bodyPr wrap="none" lIns="0" rIns="0" tIns="0" bIns="0" anchor="t">
            <a:spAutoFit/>
          </a:bodyPr>
          <a:lstStyle/>
          <a:p>
            <a:pPr algn="r">
              <a:lnSpc>
                <a:spcPts val="1586"/>
              </a:lnSpc>
              <a:spcBef>
                <a:spcPts val="0"/>
              </a:spcBef>
              <a:spcAft>
                <a:spcPts val="0"/>
              </a:spcAft>
              <a:defRPr sz="1300" b="1">
                <a:solidFill>
                  <a:srgbClr val="087F62"/>
                </a:solidFill>
                <a:latin typeface="Lato"/>
              </a:defRPr>
            </a:pPr>
            <a:r>
              <a:t>06</a:t>
            </a:r>
          </a:p>
        </p:txBody>
      </p:sp>
      <p:sp>
        <p:nvSpPr>
          <p:cNvPr id="10" name="Rounded Rectangle 9"/>
          <p:cNvSpPr/>
          <p:nvPr/>
        </p:nvSpPr>
        <p:spPr>
          <a:xfrm>
            <a:off x="734483" y="2540000"/>
            <a:ext cx="8932333" cy="5080000"/>
          </a:xfrm>
          <a:prstGeom prst="roundRect">
            <a:avLst>
              <a:gd name="adj" fmla="val 1500"/>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797983" y="2603500"/>
            <a:ext cx="8805333" cy="4953000"/>
          </a:xfrm>
          <a:prstGeom prst="rect">
            <a:avLst/>
          </a:prstGeom>
        </p:spPr>
      </p:pic>
      <p:sp>
        <p:nvSpPr>
          <p:cNvPr id="12" name="TextBox 11"/>
          <p:cNvSpPr txBox="1"/>
          <p:nvPr/>
        </p:nvSpPr>
        <p:spPr>
          <a:xfrm>
            <a:off x="797983" y="7683500"/>
            <a:ext cx="8805333" cy="226187"/>
          </a:xfrm>
          <a:prstGeom prst="rect">
            <a:avLst/>
          </a:prstGeom>
          <a:noFill/>
        </p:spPr>
        <p:txBody>
          <a:bodyPr wrap="none" lIns="0" rIns="0" tIns="0" bIns="0" anchor="t">
            <a:spAutoFit/>
          </a:bodyPr>
          <a:lstStyle/>
          <a:p>
            <a:pPr>
              <a:lnSpc>
                <a:spcPts val="1281"/>
              </a:lnSpc>
              <a:spcBef>
                <a:spcPts val="0"/>
              </a:spcBef>
              <a:spcAft>
                <a:spcPts val="0"/>
              </a:spcAft>
              <a:defRPr sz="1050" b="0">
                <a:solidFill>
                  <a:srgbClr val="607069"/>
                </a:solidFill>
                <a:latin typeface="Lato"/>
              </a:defRPr>
            </a:pPr>
            <a:r>
              <a:t>AZ demo interfeysi</a:t>
            </a:r>
          </a:p>
        </p:txBody>
      </p:sp>
      <p:sp>
        <p:nvSpPr>
          <p:cNvPr id="13" name="TextBox 12"/>
          <p:cNvSpPr txBox="1"/>
          <p:nvPr/>
        </p:nvSpPr>
        <p:spPr>
          <a:xfrm>
            <a:off x="10236200" y="2743200"/>
            <a:ext cx="3810000" cy="249428"/>
          </a:xfrm>
          <a:prstGeom prst="rect">
            <a:avLst/>
          </a:prstGeom>
          <a:noFill/>
        </p:spPr>
        <p:txBody>
          <a:bodyPr wrap="none" lIns="0" rIns="0" tIns="0" bIns="0" anchor="t">
            <a:spAutoFit/>
          </a:bodyPr>
          <a:lstStyle/>
          <a:p>
            <a:pPr>
              <a:lnSpc>
                <a:spcPts val="1464"/>
              </a:lnSpc>
              <a:spcBef>
                <a:spcPts val="0"/>
              </a:spcBef>
              <a:spcAft>
                <a:spcPts val="0"/>
              </a:spcAft>
              <a:defRPr sz="1200" b="1">
                <a:solidFill>
                  <a:srgbClr val="087F62"/>
                </a:solidFill>
                <a:latin typeface="Lato"/>
              </a:defRPr>
            </a:pPr>
            <a:r>
              <a:t>NÜMUNƏ / DATA MƏRKƏZİ</a:t>
            </a:r>
          </a:p>
        </p:txBody>
      </p:sp>
      <p:sp>
        <p:nvSpPr>
          <p:cNvPr id="14" name="TextBox 13"/>
          <p:cNvSpPr txBox="1"/>
          <p:nvPr/>
        </p:nvSpPr>
        <p:spPr>
          <a:xfrm>
            <a:off x="10236200" y="3200400"/>
            <a:ext cx="3797300" cy="962152"/>
          </a:xfrm>
          <a:prstGeom prst="rect">
            <a:avLst/>
          </a:prstGeom>
          <a:noFill/>
        </p:spPr>
        <p:txBody>
          <a:bodyPr wrap="none" lIns="0" rIns="0" tIns="0" bIns="0" anchor="t">
            <a:spAutoFit/>
          </a:bodyPr>
          <a:lstStyle/>
          <a:p>
            <a:pPr>
              <a:lnSpc>
                <a:spcPts val="3538"/>
              </a:lnSpc>
              <a:spcBef>
                <a:spcPts val="0"/>
              </a:spcBef>
              <a:spcAft>
                <a:spcPts val="0"/>
              </a:spcAft>
              <a:defRPr sz="2900" b="1">
                <a:solidFill>
                  <a:srgbClr val="202B27"/>
                </a:solidFill>
                <a:latin typeface="Lato"/>
              </a:defRPr>
            </a:pPr>
            <a:r>
              <a:t>4 server</a:t>
            </a:r>
          </a:p>
          <a:p>
            <a:pPr>
              <a:lnSpc>
                <a:spcPts val="3538"/>
              </a:lnSpc>
              <a:spcBef>
                <a:spcPts val="0"/>
              </a:spcBef>
              <a:spcAft>
                <a:spcPts val="0"/>
              </a:spcAft>
              <a:defRPr sz="2900" b="1">
                <a:solidFill>
                  <a:srgbClr val="202B27"/>
                </a:solidFill>
                <a:latin typeface="Lato"/>
              </a:defRPr>
            </a:pPr>
            <a:r>
              <a:t>2 kommutator</a:t>
            </a:r>
          </a:p>
        </p:txBody>
      </p:sp>
      <p:cxnSp>
        <p:nvCxnSpPr>
          <p:cNvPr id="15" name="Connector 14"/>
          <p:cNvCxnSpPr/>
          <p:nvPr/>
        </p:nvCxnSpPr>
        <p:spPr>
          <a:xfrm>
            <a:off x="10236200" y="4406900"/>
            <a:ext cx="3810000" cy="0"/>
          </a:xfrm>
          <a:prstGeom prst="line">
            <a:avLst/>
          </a:prstGeom>
          <a:ln w="12700">
            <a:solidFill>
              <a:srgbClr val="DCE4D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236200" y="4749800"/>
            <a:ext cx="3797300" cy="590296"/>
          </a:xfrm>
          <a:prstGeom prst="rect">
            <a:avLst/>
          </a:prstGeom>
          <a:noFill/>
        </p:spPr>
        <p:txBody>
          <a:bodyPr wrap="none" lIns="0" rIns="0" tIns="0" bIns="0" anchor="t">
            <a:spAutoFit/>
          </a:bodyPr>
          <a:lstStyle/>
          <a:p>
            <a:pPr>
              <a:lnSpc>
                <a:spcPts val="4148"/>
              </a:lnSpc>
              <a:spcBef>
                <a:spcPts val="0"/>
              </a:spcBef>
              <a:spcAft>
                <a:spcPts val="0"/>
              </a:spcAft>
              <a:defRPr sz="3400" b="1">
                <a:solidFill>
                  <a:srgbClr val="087F62"/>
                </a:solidFill>
                <a:latin typeface="Lato"/>
              </a:defRPr>
            </a:pPr>
            <a:r>
              <a:t>57 000 AZN</a:t>
            </a:r>
          </a:p>
        </p:txBody>
      </p:sp>
      <p:sp>
        <p:nvSpPr>
          <p:cNvPr id="17" name="TextBox 16"/>
          <p:cNvSpPr txBox="1"/>
          <p:nvPr/>
        </p:nvSpPr>
        <p:spPr>
          <a:xfrm>
            <a:off x="10236200" y="5511800"/>
            <a:ext cx="3708400" cy="946657"/>
          </a:xfrm>
          <a:prstGeom prst="rect">
            <a:avLst/>
          </a:prstGeom>
          <a:noFill/>
        </p:spPr>
        <p:txBody>
          <a:bodyPr wrap="none" lIns="0" rIns="0" tIns="0" bIns="0" anchor="t">
            <a:spAutoFit/>
          </a:bodyPr>
          <a:lstStyle/>
          <a:p>
            <a:pPr>
              <a:lnSpc>
                <a:spcPts val="2318"/>
              </a:lnSpc>
              <a:spcBef>
                <a:spcPts val="0"/>
              </a:spcBef>
              <a:spcAft>
                <a:spcPts val="0"/>
              </a:spcAft>
              <a:defRPr sz="1900" b="0">
                <a:solidFill>
                  <a:srgbClr val="607069"/>
                </a:solidFill>
                <a:latin typeface="Lato"/>
              </a:defRPr>
            </a:pPr>
            <a:r>
              <a:t>İlkin smeta, ƏDV-siz. Məbləğlər</a:t>
            </a:r>
          </a:p>
          <a:p>
            <a:pPr>
              <a:lnSpc>
                <a:spcPts val="2318"/>
              </a:lnSpc>
              <a:spcBef>
                <a:spcPts val="0"/>
              </a:spcBef>
              <a:spcAft>
                <a:spcPts val="0"/>
              </a:spcAft>
              <a:defRPr sz="1900" b="0">
                <a:solidFill>
                  <a:srgbClr val="607069"/>
                </a:solidFill>
                <a:latin typeface="Lato"/>
              </a:defRPr>
            </a:pPr>
            <a:r>
              <a:t>mövqelər əsasında serverdə</a:t>
            </a:r>
          </a:p>
          <a:p>
            <a:pPr>
              <a:lnSpc>
                <a:spcPts val="2318"/>
              </a:lnSpc>
              <a:spcBef>
                <a:spcPts val="0"/>
              </a:spcBef>
              <a:spcAft>
                <a:spcPts val="0"/>
              </a:spcAft>
              <a:defRPr sz="1900" b="0">
                <a:solidFill>
                  <a:srgbClr val="607069"/>
                </a:solidFill>
                <a:latin typeface="Lato"/>
              </a:defRPr>
            </a:pPr>
            <a:r>
              <a:t>hesablanır.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317500"/>
            <a:ext cx="2540000" cy="326898"/>
          </a:xfrm>
          <a:prstGeom prst="rect">
            <a:avLst/>
          </a:prstGeom>
          <a:noFill/>
        </p:spPr>
        <p:txBody>
          <a:bodyPr wrap="none" lIns="0" rIns="0" tIns="0" bIns="0" anchor="t">
            <a:spAutoFit/>
          </a:bodyPr>
          <a:lstStyle/>
          <a:p>
            <a:pPr>
              <a:lnSpc>
                <a:spcPts val="2074"/>
              </a:lnSpc>
              <a:spcBef>
                <a:spcPts val="0"/>
              </a:spcBef>
              <a:spcAft>
                <a:spcPts val="0"/>
              </a:spcAft>
              <a:defRPr sz="1700" b="1">
                <a:solidFill>
                  <a:srgbClr val="087F62"/>
                </a:solidFill>
                <a:latin typeface="Lato"/>
              </a:defRPr>
            </a:pPr>
            <a:r>
              <a:t>Leadprocure</a:t>
            </a:r>
          </a:p>
        </p:txBody>
      </p:sp>
      <p:sp>
        <p:nvSpPr>
          <p:cNvPr id="4" name="TextBox 3"/>
          <p:cNvSpPr txBox="1"/>
          <p:nvPr/>
        </p:nvSpPr>
        <p:spPr>
          <a:xfrm>
            <a:off x="9525000" y="368300"/>
            <a:ext cx="4521200" cy="226187"/>
          </a:xfrm>
          <a:prstGeom prst="rect">
            <a:avLst/>
          </a:prstGeom>
          <a:noFill/>
        </p:spPr>
        <p:txBody>
          <a:bodyPr wrap="none" lIns="0" rIns="0" tIns="0" bIns="0" anchor="t">
            <a:spAutoFit/>
          </a:bodyPr>
          <a:lstStyle/>
          <a:p>
            <a:pPr algn="r">
              <a:lnSpc>
                <a:spcPts val="1281"/>
              </a:lnSpc>
              <a:spcBef>
                <a:spcPts val="0"/>
              </a:spcBef>
              <a:spcAft>
                <a:spcPts val="0"/>
              </a:spcAft>
              <a:defRPr sz="1050" b="0">
                <a:solidFill>
                  <a:srgbClr val="607069"/>
                </a:solidFill>
                <a:latin typeface="Lato"/>
              </a:defRPr>
            </a:pPr>
            <a:r>
              <a:t>DAXİLİ NƏZARƏT</a:t>
            </a:r>
          </a:p>
        </p:txBody>
      </p:sp>
      <p:cxnSp>
        <p:nvCxnSpPr>
          <p:cNvPr id="5" name="Connector 4"/>
          <p:cNvCxnSpPr/>
          <p:nvPr/>
        </p:nvCxnSpPr>
        <p:spPr>
          <a:xfrm>
            <a:off x="584200" y="762000"/>
            <a:ext cx="13462000" cy="0"/>
          </a:xfrm>
          <a:prstGeom prst="line">
            <a:avLst/>
          </a:prstGeom>
          <a:ln w="12700">
            <a:solidFill>
              <a:srgbClr val="DCE4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079500"/>
            <a:ext cx="13462000" cy="605790"/>
          </a:xfrm>
          <a:prstGeom prst="rect">
            <a:avLst/>
          </a:prstGeom>
          <a:noFill/>
        </p:spPr>
        <p:txBody>
          <a:bodyPr wrap="none" lIns="0" rIns="0" tIns="0" bIns="0" anchor="t">
            <a:spAutoFit/>
          </a:bodyPr>
          <a:lstStyle/>
          <a:p>
            <a:pPr>
              <a:lnSpc>
                <a:spcPts val="4270"/>
              </a:lnSpc>
              <a:spcBef>
                <a:spcPts val="0"/>
              </a:spcBef>
              <a:spcAft>
                <a:spcPts val="0"/>
              </a:spcAft>
              <a:defRPr sz="3500" b="1">
                <a:solidFill>
                  <a:srgbClr val="202B27"/>
                </a:solidFill>
                <a:latin typeface="Lato"/>
              </a:defRPr>
            </a:pPr>
            <a:r>
              <a:t>Təsdiq prosesi aydın qaydalara əsaslanır</a:t>
            </a:r>
          </a:p>
        </p:txBody>
      </p:sp>
      <p:sp>
        <p:nvSpPr>
          <p:cNvPr id="7" name="TextBox 6"/>
          <p:cNvSpPr txBox="1"/>
          <p:nvPr/>
        </p:nvSpPr>
        <p:spPr>
          <a:xfrm>
            <a:off x="584200" y="1739900"/>
            <a:ext cx="13462000" cy="326898"/>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Məbləğə görə təsdiq zənciri və vəzifələrin ayrılması.</a:t>
            </a:r>
          </a:p>
        </p:txBody>
      </p:sp>
      <p:sp>
        <p:nvSpPr>
          <p:cNvPr id="8" name="TextBox 7"/>
          <p:cNvSpPr txBox="1"/>
          <p:nvPr/>
        </p:nvSpPr>
        <p:spPr>
          <a:xfrm>
            <a:off x="584200" y="7835900"/>
            <a:ext cx="10160000" cy="210693"/>
          </a:xfrm>
          <a:prstGeom prst="rect">
            <a:avLst/>
          </a:prstGeom>
          <a:noFill/>
        </p:spPr>
        <p:txBody>
          <a:bodyPr wrap="none" lIns="0" rIns="0" tIns="0" bIns="0" anchor="t">
            <a:spAutoFit/>
          </a:bodyPr>
          <a:lstStyle/>
          <a:p>
            <a:pPr>
              <a:lnSpc>
                <a:spcPts val="1159"/>
              </a:lnSpc>
              <a:spcBef>
                <a:spcPts val="0"/>
              </a:spcBef>
              <a:spcAft>
                <a:spcPts val="0"/>
              </a:spcAft>
              <a:defRPr sz="950" b="0">
                <a:solidFill>
                  <a:srgbClr val="607069"/>
                </a:solidFill>
                <a:latin typeface="Lato"/>
              </a:defRPr>
            </a:pPr>
            <a:r>
              <a:t>KORPORATİV SATINALMA / MƏHSUL TƏQDİMATI</a:t>
            </a:r>
          </a:p>
        </p:txBody>
      </p:sp>
      <p:sp>
        <p:nvSpPr>
          <p:cNvPr id="9" name="TextBox 8"/>
          <p:cNvSpPr txBox="1"/>
          <p:nvPr/>
        </p:nvSpPr>
        <p:spPr>
          <a:xfrm>
            <a:off x="13411200" y="7785100"/>
            <a:ext cx="635000" cy="264922"/>
          </a:xfrm>
          <a:prstGeom prst="rect">
            <a:avLst/>
          </a:prstGeom>
          <a:noFill/>
        </p:spPr>
        <p:txBody>
          <a:bodyPr wrap="none" lIns="0" rIns="0" tIns="0" bIns="0" anchor="t">
            <a:spAutoFit/>
          </a:bodyPr>
          <a:lstStyle/>
          <a:p>
            <a:pPr algn="r">
              <a:lnSpc>
                <a:spcPts val="1586"/>
              </a:lnSpc>
              <a:spcBef>
                <a:spcPts val="0"/>
              </a:spcBef>
              <a:spcAft>
                <a:spcPts val="0"/>
              </a:spcAft>
              <a:defRPr sz="1300" b="1">
                <a:solidFill>
                  <a:srgbClr val="087F62"/>
                </a:solidFill>
                <a:latin typeface="Lato"/>
              </a:defRPr>
            </a:pPr>
            <a:r>
              <a:t>07</a:t>
            </a:r>
          </a:p>
        </p:txBody>
      </p:sp>
      <p:sp>
        <p:nvSpPr>
          <p:cNvPr id="10" name="Rounded Rectangle 9"/>
          <p:cNvSpPr/>
          <p:nvPr/>
        </p:nvSpPr>
        <p:spPr>
          <a:xfrm>
            <a:off x="2044700" y="2578100"/>
            <a:ext cx="10541000" cy="3937000"/>
          </a:xfrm>
          <a:prstGeom prst="roundRect">
            <a:avLst>
              <a:gd name="adj" fmla="val 1935"/>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2108200" y="2641600"/>
            <a:ext cx="10414000" cy="3810000"/>
          </a:xfrm>
          <a:prstGeom prst="rect">
            <a:avLst/>
          </a:prstGeom>
        </p:spPr>
      </p:pic>
      <p:sp>
        <p:nvSpPr>
          <p:cNvPr id="12" name="TextBox 11"/>
          <p:cNvSpPr txBox="1"/>
          <p:nvPr/>
        </p:nvSpPr>
        <p:spPr>
          <a:xfrm>
            <a:off x="2108200" y="6578600"/>
            <a:ext cx="10414000" cy="226187"/>
          </a:xfrm>
          <a:prstGeom prst="rect">
            <a:avLst/>
          </a:prstGeom>
          <a:noFill/>
        </p:spPr>
        <p:txBody>
          <a:bodyPr wrap="none" lIns="0" rIns="0" tIns="0" bIns="0" anchor="t">
            <a:spAutoFit/>
          </a:bodyPr>
          <a:lstStyle/>
          <a:p>
            <a:pPr>
              <a:lnSpc>
                <a:spcPts val="1281"/>
              </a:lnSpc>
              <a:spcBef>
                <a:spcPts val="0"/>
              </a:spcBef>
              <a:spcAft>
                <a:spcPts val="0"/>
              </a:spcAft>
              <a:defRPr sz="1050" b="0">
                <a:solidFill>
                  <a:srgbClr val="607069"/>
                </a:solidFill>
                <a:latin typeface="Lato"/>
              </a:defRPr>
            </a:pPr>
            <a:r>
              <a:t>AZ demo interfeysi · ekran fraqmenti</a:t>
            </a:r>
          </a:p>
        </p:txBody>
      </p:sp>
      <p:sp>
        <p:nvSpPr>
          <p:cNvPr id="13" name="TextBox 12"/>
          <p:cNvSpPr txBox="1"/>
          <p:nvPr/>
        </p:nvSpPr>
        <p:spPr>
          <a:xfrm>
            <a:off x="584200" y="6985000"/>
            <a:ext cx="41910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087F62"/>
                </a:solidFill>
                <a:latin typeface="Lato"/>
              </a:defRPr>
            </a:pPr>
            <a:r>
              <a:t>Müəllif ≠ təsdiqləyən</a:t>
            </a:r>
          </a:p>
        </p:txBody>
      </p:sp>
      <p:sp>
        <p:nvSpPr>
          <p:cNvPr id="14" name="TextBox 13"/>
          <p:cNvSpPr txBox="1"/>
          <p:nvPr/>
        </p:nvSpPr>
        <p:spPr>
          <a:xfrm>
            <a:off x="5207000" y="6985000"/>
            <a:ext cx="42545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087F62"/>
                </a:solidFill>
                <a:latin typeface="Lato"/>
              </a:defRPr>
            </a:pPr>
            <a:r>
              <a:t>Məbləğə görə marşrut</a:t>
            </a:r>
          </a:p>
        </p:txBody>
      </p:sp>
      <p:sp>
        <p:nvSpPr>
          <p:cNvPr id="15" name="TextBox 14"/>
          <p:cNvSpPr txBox="1"/>
          <p:nvPr/>
        </p:nvSpPr>
        <p:spPr>
          <a:xfrm>
            <a:off x="9829800" y="6985000"/>
            <a:ext cx="41910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087F62"/>
                </a:solidFill>
                <a:latin typeface="Lato"/>
              </a:defRPr>
            </a:pPr>
            <a:r>
              <a:t>Hər addımın tarixçəsi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317500"/>
            <a:ext cx="2540000" cy="326898"/>
          </a:xfrm>
          <a:prstGeom prst="rect">
            <a:avLst/>
          </a:prstGeom>
          <a:noFill/>
        </p:spPr>
        <p:txBody>
          <a:bodyPr wrap="none" lIns="0" rIns="0" tIns="0" bIns="0" anchor="t">
            <a:spAutoFit/>
          </a:bodyPr>
          <a:lstStyle/>
          <a:p>
            <a:pPr>
              <a:lnSpc>
                <a:spcPts val="2074"/>
              </a:lnSpc>
              <a:spcBef>
                <a:spcPts val="0"/>
              </a:spcBef>
              <a:spcAft>
                <a:spcPts val="0"/>
              </a:spcAft>
              <a:defRPr sz="1700" b="1">
                <a:solidFill>
                  <a:srgbClr val="087F62"/>
                </a:solidFill>
                <a:latin typeface="Lato"/>
              </a:defRPr>
            </a:pPr>
            <a:r>
              <a:t>Leadprocure</a:t>
            </a:r>
          </a:p>
        </p:txBody>
      </p:sp>
      <p:sp>
        <p:nvSpPr>
          <p:cNvPr id="4" name="TextBox 3"/>
          <p:cNvSpPr txBox="1"/>
          <p:nvPr/>
        </p:nvSpPr>
        <p:spPr>
          <a:xfrm>
            <a:off x="9525000" y="368300"/>
            <a:ext cx="4521200" cy="226187"/>
          </a:xfrm>
          <a:prstGeom prst="rect">
            <a:avLst/>
          </a:prstGeom>
          <a:noFill/>
        </p:spPr>
        <p:txBody>
          <a:bodyPr wrap="none" lIns="0" rIns="0" tIns="0" bIns="0" anchor="t">
            <a:spAutoFit/>
          </a:bodyPr>
          <a:lstStyle/>
          <a:p>
            <a:pPr algn="r">
              <a:lnSpc>
                <a:spcPts val="1281"/>
              </a:lnSpc>
              <a:spcBef>
                <a:spcPts val="0"/>
              </a:spcBef>
              <a:spcAft>
                <a:spcPts val="0"/>
              </a:spcAft>
              <a:defRPr sz="1050" b="0">
                <a:solidFill>
                  <a:srgbClr val="607069"/>
                </a:solidFill>
                <a:latin typeface="Lato"/>
              </a:defRPr>
            </a:pPr>
            <a:r>
              <a:t>SATINALMA ÜSULLARI</a:t>
            </a:r>
          </a:p>
        </p:txBody>
      </p:sp>
      <p:cxnSp>
        <p:nvCxnSpPr>
          <p:cNvPr id="5" name="Connector 4"/>
          <p:cNvCxnSpPr/>
          <p:nvPr/>
        </p:nvCxnSpPr>
        <p:spPr>
          <a:xfrm>
            <a:off x="584200" y="762000"/>
            <a:ext cx="13462000" cy="0"/>
          </a:xfrm>
          <a:prstGeom prst="line">
            <a:avLst/>
          </a:prstGeom>
          <a:ln w="12700">
            <a:solidFill>
              <a:srgbClr val="DCE4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079500"/>
            <a:ext cx="13462000" cy="605790"/>
          </a:xfrm>
          <a:prstGeom prst="rect">
            <a:avLst/>
          </a:prstGeom>
          <a:noFill/>
        </p:spPr>
        <p:txBody>
          <a:bodyPr wrap="none" lIns="0" rIns="0" tIns="0" bIns="0" anchor="t">
            <a:spAutoFit/>
          </a:bodyPr>
          <a:lstStyle/>
          <a:p>
            <a:pPr>
              <a:lnSpc>
                <a:spcPts val="4270"/>
              </a:lnSpc>
              <a:spcBef>
                <a:spcPts val="0"/>
              </a:spcBef>
              <a:spcAft>
                <a:spcPts val="0"/>
              </a:spcAft>
              <a:defRPr sz="3500" b="1">
                <a:solidFill>
                  <a:srgbClr val="202B27"/>
                </a:solidFill>
                <a:latin typeface="Lato"/>
              </a:defRPr>
            </a:pPr>
            <a:r>
              <a:t>Hər ehtiyac üçün uyğun prosedur</a:t>
            </a:r>
          </a:p>
        </p:txBody>
      </p:sp>
      <p:sp>
        <p:nvSpPr>
          <p:cNvPr id="7" name="TextBox 6"/>
          <p:cNvSpPr txBox="1"/>
          <p:nvPr/>
        </p:nvSpPr>
        <p:spPr>
          <a:xfrm>
            <a:off x="584200" y="1739900"/>
            <a:ext cx="13462000" cy="326898"/>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Metod siyasəti kateqoriya və məbləğ hədlərinə əsaslanır.</a:t>
            </a:r>
          </a:p>
        </p:txBody>
      </p:sp>
      <p:sp>
        <p:nvSpPr>
          <p:cNvPr id="8" name="TextBox 7"/>
          <p:cNvSpPr txBox="1"/>
          <p:nvPr/>
        </p:nvSpPr>
        <p:spPr>
          <a:xfrm>
            <a:off x="584200" y="7835900"/>
            <a:ext cx="10160000" cy="210693"/>
          </a:xfrm>
          <a:prstGeom prst="rect">
            <a:avLst/>
          </a:prstGeom>
          <a:noFill/>
        </p:spPr>
        <p:txBody>
          <a:bodyPr wrap="none" lIns="0" rIns="0" tIns="0" bIns="0" anchor="t">
            <a:spAutoFit/>
          </a:bodyPr>
          <a:lstStyle/>
          <a:p>
            <a:pPr>
              <a:lnSpc>
                <a:spcPts val="1159"/>
              </a:lnSpc>
              <a:spcBef>
                <a:spcPts val="0"/>
              </a:spcBef>
              <a:spcAft>
                <a:spcPts val="0"/>
              </a:spcAft>
              <a:defRPr sz="950" b="0">
                <a:solidFill>
                  <a:srgbClr val="607069"/>
                </a:solidFill>
                <a:latin typeface="Lato"/>
              </a:defRPr>
            </a:pPr>
            <a:r>
              <a:t>KORPORATİV SATINALMA / MƏHSUL TƏQDİMATI</a:t>
            </a:r>
          </a:p>
        </p:txBody>
      </p:sp>
      <p:sp>
        <p:nvSpPr>
          <p:cNvPr id="9" name="TextBox 8"/>
          <p:cNvSpPr txBox="1"/>
          <p:nvPr/>
        </p:nvSpPr>
        <p:spPr>
          <a:xfrm>
            <a:off x="13411200" y="7785100"/>
            <a:ext cx="635000" cy="264922"/>
          </a:xfrm>
          <a:prstGeom prst="rect">
            <a:avLst/>
          </a:prstGeom>
          <a:noFill/>
        </p:spPr>
        <p:txBody>
          <a:bodyPr wrap="none" lIns="0" rIns="0" tIns="0" bIns="0" anchor="t">
            <a:spAutoFit/>
          </a:bodyPr>
          <a:lstStyle/>
          <a:p>
            <a:pPr algn="r">
              <a:lnSpc>
                <a:spcPts val="1586"/>
              </a:lnSpc>
              <a:spcBef>
                <a:spcPts val="0"/>
              </a:spcBef>
              <a:spcAft>
                <a:spcPts val="0"/>
              </a:spcAft>
              <a:defRPr sz="1300" b="1">
                <a:solidFill>
                  <a:srgbClr val="087F62"/>
                </a:solidFill>
                <a:latin typeface="Lato"/>
              </a:defRPr>
            </a:pPr>
            <a:r>
              <a:t>08</a:t>
            </a:r>
          </a:p>
        </p:txBody>
      </p:sp>
      <p:sp>
        <p:nvSpPr>
          <p:cNvPr id="10" name="Rounded Rectangle 9"/>
          <p:cNvSpPr/>
          <p:nvPr/>
        </p:nvSpPr>
        <p:spPr>
          <a:xfrm>
            <a:off x="584200" y="2667000"/>
            <a:ext cx="4267200" cy="2070100"/>
          </a:xfrm>
          <a:prstGeom prst="roundRect">
            <a:avLst>
              <a:gd name="adj" fmla="val 4294"/>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2857500"/>
            <a:ext cx="3746500" cy="249428"/>
          </a:xfrm>
          <a:prstGeom prst="rect">
            <a:avLst/>
          </a:prstGeom>
          <a:noFill/>
        </p:spPr>
        <p:txBody>
          <a:bodyPr wrap="none" lIns="0" rIns="0" tIns="0" bIns="0" anchor="t">
            <a:spAutoFit/>
          </a:bodyPr>
          <a:lstStyle/>
          <a:p>
            <a:pPr>
              <a:lnSpc>
                <a:spcPts val="1464"/>
              </a:lnSpc>
              <a:spcBef>
                <a:spcPts val="0"/>
              </a:spcBef>
              <a:spcAft>
                <a:spcPts val="0"/>
              </a:spcAft>
              <a:defRPr sz="1200" b="1">
                <a:solidFill>
                  <a:srgbClr val="087F62"/>
                </a:solidFill>
                <a:latin typeface="Lato"/>
              </a:defRPr>
            </a:pPr>
            <a:r>
              <a:t>RFQ</a:t>
            </a:r>
          </a:p>
        </p:txBody>
      </p:sp>
      <p:sp>
        <p:nvSpPr>
          <p:cNvPr id="12" name="TextBox 11"/>
          <p:cNvSpPr txBox="1"/>
          <p:nvPr/>
        </p:nvSpPr>
        <p:spPr>
          <a:xfrm>
            <a:off x="838200" y="3213100"/>
            <a:ext cx="3746500" cy="404368"/>
          </a:xfrm>
          <a:prstGeom prst="rect">
            <a:avLst/>
          </a:prstGeom>
          <a:noFill/>
        </p:spPr>
        <p:txBody>
          <a:bodyPr wrap="none" lIns="0" rIns="0" tIns="0" bIns="0" anchor="t">
            <a:spAutoFit/>
          </a:bodyPr>
          <a:lstStyle/>
          <a:p>
            <a:pPr>
              <a:lnSpc>
                <a:spcPts val="2684"/>
              </a:lnSpc>
              <a:spcBef>
                <a:spcPts val="0"/>
              </a:spcBef>
              <a:spcAft>
                <a:spcPts val="0"/>
              </a:spcAft>
              <a:defRPr sz="2200" b="1">
                <a:solidFill>
                  <a:srgbClr val="202B27"/>
                </a:solidFill>
                <a:latin typeface="Lato"/>
              </a:defRPr>
            </a:pPr>
            <a:r>
              <a:t>Qiymət sorğusu</a:t>
            </a:r>
          </a:p>
        </p:txBody>
      </p:sp>
      <p:sp>
        <p:nvSpPr>
          <p:cNvPr id="13" name="TextBox 12"/>
          <p:cNvSpPr txBox="1"/>
          <p:nvPr/>
        </p:nvSpPr>
        <p:spPr>
          <a:xfrm>
            <a:off x="838200" y="3708400"/>
            <a:ext cx="3746500" cy="590296"/>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Müəyyən edilmiş tələblər üzrə məxfi</a:t>
            </a:r>
          </a:p>
          <a:p>
            <a:pPr>
              <a:lnSpc>
                <a:spcPts val="2074"/>
              </a:lnSpc>
              <a:spcBef>
                <a:spcPts val="0"/>
              </a:spcBef>
              <a:spcAft>
                <a:spcPts val="0"/>
              </a:spcAft>
              <a:defRPr sz="1700" b="0">
                <a:solidFill>
                  <a:srgbClr val="607069"/>
                </a:solidFill>
                <a:latin typeface="Lato"/>
              </a:defRPr>
            </a:pPr>
            <a:r>
              <a:t>qiymət təklifləri.</a:t>
            </a:r>
          </a:p>
        </p:txBody>
      </p:sp>
      <p:sp>
        <p:nvSpPr>
          <p:cNvPr id="14" name="Rounded Rectangle 13"/>
          <p:cNvSpPr/>
          <p:nvPr/>
        </p:nvSpPr>
        <p:spPr>
          <a:xfrm>
            <a:off x="5181600" y="2667000"/>
            <a:ext cx="4267200" cy="2070100"/>
          </a:xfrm>
          <a:prstGeom prst="roundRect">
            <a:avLst>
              <a:gd name="adj" fmla="val 4294"/>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35600" y="2857500"/>
            <a:ext cx="3746500" cy="249428"/>
          </a:xfrm>
          <a:prstGeom prst="rect">
            <a:avLst/>
          </a:prstGeom>
          <a:noFill/>
        </p:spPr>
        <p:txBody>
          <a:bodyPr wrap="none" lIns="0" rIns="0" tIns="0" bIns="0" anchor="t">
            <a:spAutoFit/>
          </a:bodyPr>
          <a:lstStyle/>
          <a:p>
            <a:pPr>
              <a:lnSpc>
                <a:spcPts val="1464"/>
              </a:lnSpc>
              <a:spcBef>
                <a:spcPts val="0"/>
              </a:spcBef>
              <a:spcAft>
                <a:spcPts val="0"/>
              </a:spcAft>
              <a:defRPr sz="1200" b="1">
                <a:solidFill>
                  <a:srgbClr val="087F62"/>
                </a:solidFill>
                <a:latin typeface="Lato"/>
              </a:defRPr>
            </a:pPr>
            <a:r>
              <a:t>RFP</a:t>
            </a:r>
          </a:p>
        </p:txBody>
      </p:sp>
      <p:sp>
        <p:nvSpPr>
          <p:cNvPr id="16" name="TextBox 15"/>
          <p:cNvSpPr txBox="1"/>
          <p:nvPr/>
        </p:nvSpPr>
        <p:spPr>
          <a:xfrm>
            <a:off x="5435600" y="3213100"/>
            <a:ext cx="3746500" cy="404368"/>
          </a:xfrm>
          <a:prstGeom prst="rect">
            <a:avLst/>
          </a:prstGeom>
          <a:noFill/>
        </p:spPr>
        <p:txBody>
          <a:bodyPr wrap="none" lIns="0" rIns="0" tIns="0" bIns="0" anchor="t">
            <a:spAutoFit/>
          </a:bodyPr>
          <a:lstStyle/>
          <a:p>
            <a:pPr>
              <a:lnSpc>
                <a:spcPts val="2684"/>
              </a:lnSpc>
              <a:spcBef>
                <a:spcPts val="0"/>
              </a:spcBef>
              <a:spcAft>
                <a:spcPts val="0"/>
              </a:spcAft>
              <a:defRPr sz="2200" b="1">
                <a:solidFill>
                  <a:srgbClr val="202B27"/>
                </a:solidFill>
                <a:latin typeface="Lato"/>
              </a:defRPr>
            </a:pPr>
            <a:r>
              <a:t>Texniki təklif</a:t>
            </a:r>
          </a:p>
        </p:txBody>
      </p:sp>
      <p:sp>
        <p:nvSpPr>
          <p:cNvPr id="17" name="TextBox 16"/>
          <p:cNvSpPr txBox="1"/>
          <p:nvPr/>
        </p:nvSpPr>
        <p:spPr>
          <a:xfrm>
            <a:off x="5435600" y="3708400"/>
            <a:ext cx="3746500" cy="590296"/>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Qiymətlə yanaşı məzmunlu texniki</a:t>
            </a:r>
          </a:p>
          <a:p>
            <a:pPr>
              <a:lnSpc>
                <a:spcPts val="2074"/>
              </a:lnSpc>
              <a:spcBef>
                <a:spcPts val="0"/>
              </a:spcBef>
              <a:spcAft>
                <a:spcPts val="0"/>
              </a:spcAft>
              <a:defRPr sz="1700" b="0">
                <a:solidFill>
                  <a:srgbClr val="607069"/>
                </a:solidFill>
                <a:latin typeface="Lato"/>
              </a:defRPr>
            </a:pPr>
            <a:r>
              <a:t>təklifin qiymətləndirilməsi.</a:t>
            </a:r>
          </a:p>
        </p:txBody>
      </p:sp>
      <p:sp>
        <p:nvSpPr>
          <p:cNvPr id="18" name="Rounded Rectangle 17"/>
          <p:cNvSpPr/>
          <p:nvPr/>
        </p:nvSpPr>
        <p:spPr>
          <a:xfrm>
            <a:off x="9779000" y="2667000"/>
            <a:ext cx="4267200" cy="2070100"/>
          </a:xfrm>
          <a:prstGeom prst="roundRect">
            <a:avLst>
              <a:gd name="adj" fmla="val 4294"/>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33000" y="2857500"/>
            <a:ext cx="3746500" cy="249428"/>
          </a:xfrm>
          <a:prstGeom prst="rect">
            <a:avLst/>
          </a:prstGeom>
          <a:noFill/>
        </p:spPr>
        <p:txBody>
          <a:bodyPr wrap="none" lIns="0" rIns="0" tIns="0" bIns="0" anchor="t">
            <a:spAutoFit/>
          </a:bodyPr>
          <a:lstStyle/>
          <a:p>
            <a:pPr>
              <a:lnSpc>
                <a:spcPts val="1464"/>
              </a:lnSpc>
              <a:spcBef>
                <a:spcPts val="0"/>
              </a:spcBef>
              <a:spcAft>
                <a:spcPts val="0"/>
              </a:spcAft>
              <a:defRPr sz="1200" b="1">
                <a:solidFill>
                  <a:srgbClr val="087F62"/>
                </a:solidFill>
                <a:latin typeface="Lato"/>
              </a:defRPr>
            </a:pPr>
            <a:r>
              <a:t>RFI</a:t>
            </a:r>
          </a:p>
        </p:txBody>
      </p:sp>
      <p:sp>
        <p:nvSpPr>
          <p:cNvPr id="20" name="TextBox 19"/>
          <p:cNvSpPr txBox="1"/>
          <p:nvPr/>
        </p:nvSpPr>
        <p:spPr>
          <a:xfrm>
            <a:off x="10033000" y="3213100"/>
            <a:ext cx="3746500" cy="404368"/>
          </a:xfrm>
          <a:prstGeom prst="rect">
            <a:avLst/>
          </a:prstGeom>
          <a:noFill/>
        </p:spPr>
        <p:txBody>
          <a:bodyPr wrap="none" lIns="0" rIns="0" tIns="0" bIns="0" anchor="t">
            <a:spAutoFit/>
          </a:bodyPr>
          <a:lstStyle/>
          <a:p>
            <a:pPr>
              <a:lnSpc>
                <a:spcPts val="2684"/>
              </a:lnSpc>
              <a:spcBef>
                <a:spcPts val="0"/>
              </a:spcBef>
              <a:spcAft>
                <a:spcPts val="0"/>
              </a:spcAft>
              <a:defRPr sz="2200" b="1">
                <a:solidFill>
                  <a:srgbClr val="202B27"/>
                </a:solidFill>
                <a:latin typeface="Lato"/>
              </a:defRPr>
            </a:pPr>
            <a:r>
              <a:t>Məlumat sorğusu</a:t>
            </a:r>
          </a:p>
        </p:txBody>
      </p:sp>
      <p:sp>
        <p:nvSpPr>
          <p:cNvPr id="21" name="TextBox 20"/>
          <p:cNvSpPr txBox="1"/>
          <p:nvPr/>
        </p:nvSpPr>
        <p:spPr>
          <a:xfrm>
            <a:off x="10033000" y="3708400"/>
            <a:ext cx="3746500" cy="590296"/>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Bazar və həll variantları haqqında</a:t>
            </a:r>
          </a:p>
          <a:p>
            <a:pPr>
              <a:lnSpc>
                <a:spcPts val="2074"/>
              </a:lnSpc>
              <a:spcBef>
                <a:spcPts val="0"/>
              </a:spcBef>
              <a:spcAft>
                <a:spcPts val="0"/>
              </a:spcAft>
              <a:defRPr sz="1700" b="0">
                <a:solidFill>
                  <a:srgbClr val="607069"/>
                </a:solidFill>
                <a:latin typeface="Lato"/>
              </a:defRPr>
            </a:pPr>
            <a:r>
              <a:t>qiymətsiz məlumat toplama.</a:t>
            </a:r>
          </a:p>
        </p:txBody>
      </p:sp>
      <p:sp>
        <p:nvSpPr>
          <p:cNvPr id="22" name="Rounded Rectangle 21"/>
          <p:cNvSpPr/>
          <p:nvPr/>
        </p:nvSpPr>
        <p:spPr>
          <a:xfrm>
            <a:off x="584200" y="5016500"/>
            <a:ext cx="4267200" cy="2070100"/>
          </a:xfrm>
          <a:prstGeom prst="roundRect">
            <a:avLst>
              <a:gd name="adj" fmla="val 4294"/>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8200" y="5207000"/>
            <a:ext cx="3746500" cy="249428"/>
          </a:xfrm>
          <a:prstGeom prst="rect">
            <a:avLst/>
          </a:prstGeom>
          <a:noFill/>
        </p:spPr>
        <p:txBody>
          <a:bodyPr wrap="none" lIns="0" rIns="0" tIns="0" bIns="0" anchor="t">
            <a:spAutoFit/>
          </a:bodyPr>
          <a:lstStyle/>
          <a:p>
            <a:pPr>
              <a:lnSpc>
                <a:spcPts val="1464"/>
              </a:lnSpc>
              <a:spcBef>
                <a:spcPts val="0"/>
              </a:spcBef>
              <a:spcAft>
                <a:spcPts val="0"/>
              </a:spcAft>
              <a:defRPr sz="1200" b="1">
                <a:solidFill>
                  <a:srgbClr val="087F62"/>
                </a:solidFill>
                <a:latin typeface="Lato"/>
              </a:defRPr>
            </a:pPr>
            <a:r>
              <a:t>AUKSİON</a:t>
            </a:r>
          </a:p>
        </p:txBody>
      </p:sp>
      <p:sp>
        <p:nvSpPr>
          <p:cNvPr id="24" name="TextBox 23"/>
          <p:cNvSpPr txBox="1"/>
          <p:nvPr/>
        </p:nvSpPr>
        <p:spPr>
          <a:xfrm>
            <a:off x="838200" y="5562600"/>
            <a:ext cx="3746500" cy="404368"/>
          </a:xfrm>
          <a:prstGeom prst="rect">
            <a:avLst/>
          </a:prstGeom>
          <a:noFill/>
        </p:spPr>
        <p:txBody>
          <a:bodyPr wrap="none" lIns="0" rIns="0" tIns="0" bIns="0" anchor="t">
            <a:spAutoFit/>
          </a:bodyPr>
          <a:lstStyle/>
          <a:p>
            <a:pPr>
              <a:lnSpc>
                <a:spcPts val="2684"/>
              </a:lnSpc>
              <a:spcBef>
                <a:spcPts val="0"/>
              </a:spcBef>
              <a:spcAft>
                <a:spcPts val="0"/>
              </a:spcAft>
              <a:defRPr sz="2200" b="1">
                <a:solidFill>
                  <a:srgbClr val="202B27"/>
                </a:solidFill>
                <a:latin typeface="Lato"/>
              </a:defRPr>
            </a:pPr>
            <a:r>
              <a:t>Azalan qiymət</a:t>
            </a:r>
          </a:p>
        </p:txBody>
      </p:sp>
      <p:sp>
        <p:nvSpPr>
          <p:cNvPr id="25" name="TextBox 24"/>
          <p:cNvSpPr txBox="1"/>
          <p:nvPr/>
        </p:nvSpPr>
        <p:spPr>
          <a:xfrm>
            <a:off x="838200" y="6057900"/>
            <a:ext cx="3746500" cy="590296"/>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Təchizatçıların qaydalı şəkildə daha</a:t>
            </a:r>
          </a:p>
          <a:p>
            <a:pPr>
              <a:lnSpc>
                <a:spcPts val="2074"/>
              </a:lnSpc>
              <a:spcBef>
                <a:spcPts val="0"/>
              </a:spcBef>
              <a:spcAft>
                <a:spcPts val="0"/>
              </a:spcAft>
              <a:defRPr sz="1700" b="0">
                <a:solidFill>
                  <a:srgbClr val="607069"/>
                </a:solidFill>
                <a:latin typeface="Lato"/>
              </a:defRPr>
            </a:pPr>
            <a:r>
              <a:t>aşağı qiymət verməsi.</a:t>
            </a:r>
          </a:p>
        </p:txBody>
      </p:sp>
      <p:sp>
        <p:nvSpPr>
          <p:cNvPr id="26" name="Rounded Rectangle 25"/>
          <p:cNvSpPr/>
          <p:nvPr/>
        </p:nvSpPr>
        <p:spPr>
          <a:xfrm>
            <a:off x="5181600" y="5016500"/>
            <a:ext cx="4267200" cy="2070100"/>
          </a:xfrm>
          <a:prstGeom prst="roundRect">
            <a:avLst>
              <a:gd name="adj" fmla="val 4294"/>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35600" y="5207000"/>
            <a:ext cx="3746500" cy="249428"/>
          </a:xfrm>
          <a:prstGeom prst="rect">
            <a:avLst/>
          </a:prstGeom>
          <a:noFill/>
        </p:spPr>
        <p:txBody>
          <a:bodyPr wrap="none" lIns="0" rIns="0" tIns="0" bIns="0" anchor="t">
            <a:spAutoFit/>
          </a:bodyPr>
          <a:lstStyle/>
          <a:p>
            <a:pPr>
              <a:lnSpc>
                <a:spcPts val="1464"/>
              </a:lnSpc>
              <a:spcBef>
                <a:spcPts val="0"/>
              </a:spcBef>
              <a:spcAft>
                <a:spcPts val="0"/>
              </a:spcAft>
              <a:defRPr sz="1200" b="1">
                <a:solidFill>
                  <a:srgbClr val="087F62"/>
                </a:solidFill>
                <a:latin typeface="Lato"/>
              </a:defRPr>
            </a:pPr>
            <a:r>
              <a:t>BİRBAŞA</a:t>
            </a:r>
          </a:p>
        </p:txBody>
      </p:sp>
      <p:sp>
        <p:nvSpPr>
          <p:cNvPr id="28" name="TextBox 27"/>
          <p:cNvSpPr txBox="1"/>
          <p:nvPr/>
        </p:nvSpPr>
        <p:spPr>
          <a:xfrm>
            <a:off x="5435600" y="5562600"/>
            <a:ext cx="3746500" cy="404368"/>
          </a:xfrm>
          <a:prstGeom prst="rect">
            <a:avLst/>
          </a:prstGeom>
          <a:noFill/>
        </p:spPr>
        <p:txBody>
          <a:bodyPr wrap="none" lIns="0" rIns="0" tIns="0" bIns="0" anchor="t">
            <a:spAutoFit/>
          </a:bodyPr>
          <a:lstStyle/>
          <a:p>
            <a:pPr>
              <a:lnSpc>
                <a:spcPts val="2684"/>
              </a:lnSpc>
              <a:spcBef>
                <a:spcPts val="0"/>
              </a:spcBef>
              <a:spcAft>
                <a:spcPts val="0"/>
              </a:spcAft>
              <a:defRPr sz="2200" b="1">
                <a:solidFill>
                  <a:srgbClr val="202B27"/>
                </a:solidFill>
                <a:latin typeface="Lato"/>
              </a:defRPr>
            </a:pPr>
            <a:r>
              <a:t>Sadə satınalma</a:t>
            </a:r>
          </a:p>
        </p:txBody>
      </p:sp>
      <p:sp>
        <p:nvSpPr>
          <p:cNvPr id="29" name="TextBox 28"/>
          <p:cNvSpPr txBox="1"/>
          <p:nvPr/>
        </p:nvSpPr>
        <p:spPr>
          <a:xfrm>
            <a:off x="5435600" y="6057900"/>
            <a:ext cx="3746500" cy="590296"/>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Siyasətin icazə verdiyi məbləğlər üçün</a:t>
            </a:r>
          </a:p>
          <a:p>
            <a:pPr>
              <a:lnSpc>
                <a:spcPts val="2074"/>
              </a:lnSpc>
              <a:spcBef>
                <a:spcPts val="0"/>
              </a:spcBef>
              <a:spcAft>
                <a:spcPts val="0"/>
              </a:spcAft>
              <a:defRPr sz="1700" b="0">
                <a:solidFill>
                  <a:srgbClr val="607069"/>
                </a:solidFill>
                <a:latin typeface="Lato"/>
              </a:defRPr>
            </a:pPr>
            <a:r>
              <a:t>birbaşa PO.</a:t>
            </a:r>
          </a:p>
        </p:txBody>
      </p:sp>
      <p:sp>
        <p:nvSpPr>
          <p:cNvPr id="30" name="Rounded Rectangle 29"/>
          <p:cNvSpPr/>
          <p:nvPr/>
        </p:nvSpPr>
        <p:spPr>
          <a:xfrm>
            <a:off x="9779000" y="5016500"/>
            <a:ext cx="4267200" cy="2070100"/>
          </a:xfrm>
          <a:prstGeom prst="roundRect">
            <a:avLst>
              <a:gd name="adj" fmla="val 4294"/>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33000" y="5207000"/>
            <a:ext cx="3746500" cy="249428"/>
          </a:xfrm>
          <a:prstGeom prst="rect">
            <a:avLst/>
          </a:prstGeom>
          <a:noFill/>
        </p:spPr>
        <p:txBody>
          <a:bodyPr wrap="none" lIns="0" rIns="0" tIns="0" bIns="0" anchor="t">
            <a:spAutoFit/>
          </a:bodyPr>
          <a:lstStyle/>
          <a:p>
            <a:pPr>
              <a:lnSpc>
                <a:spcPts val="1464"/>
              </a:lnSpc>
              <a:spcBef>
                <a:spcPts val="0"/>
              </a:spcBef>
              <a:spcAft>
                <a:spcPts val="0"/>
              </a:spcAft>
              <a:defRPr sz="1200" b="1">
                <a:solidFill>
                  <a:srgbClr val="087F62"/>
                </a:solidFill>
                <a:latin typeface="Lato"/>
              </a:defRPr>
            </a:pPr>
            <a:r>
              <a:t>KATALOQ</a:t>
            </a:r>
          </a:p>
        </p:txBody>
      </p:sp>
      <p:sp>
        <p:nvSpPr>
          <p:cNvPr id="32" name="TextBox 31"/>
          <p:cNvSpPr txBox="1"/>
          <p:nvPr/>
        </p:nvSpPr>
        <p:spPr>
          <a:xfrm>
            <a:off x="10033000" y="5562600"/>
            <a:ext cx="3746500" cy="404368"/>
          </a:xfrm>
          <a:prstGeom prst="rect">
            <a:avLst/>
          </a:prstGeom>
          <a:noFill/>
        </p:spPr>
        <p:txBody>
          <a:bodyPr wrap="none" lIns="0" rIns="0" tIns="0" bIns="0" anchor="t">
            <a:spAutoFit/>
          </a:bodyPr>
          <a:lstStyle/>
          <a:p>
            <a:pPr>
              <a:lnSpc>
                <a:spcPts val="2684"/>
              </a:lnSpc>
              <a:spcBef>
                <a:spcPts val="0"/>
              </a:spcBef>
              <a:spcAft>
                <a:spcPts val="0"/>
              </a:spcAft>
              <a:defRPr sz="2200" b="1">
                <a:solidFill>
                  <a:srgbClr val="202B27"/>
                </a:solidFill>
                <a:latin typeface="Lato"/>
              </a:defRPr>
            </a:pPr>
            <a:r>
              <a:t>Təkrar sifariş</a:t>
            </a:r>
          </a:p>
        </p:txBody>
      </p:sp>
      <p:sp>
        <p:nvSpPr>
          <p:cNvPr id="33" name="TextBox 32"/>
          <p:cNvSpPr txBox="1"/>
          <p:nvPr/>
        </p:nvSpPr>
        <p:spPr>
          <a:xfrm>
            <a:off x="10033000" y="6057900"/>
            <a:ext cx="3746500" cy="590296"/>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Razılaşdırılmış qiymətlər və minimum</a:t>
            </a:r>
          </a:p>
          <a:p>
            <a:pPr>
              <a:lnSpc>
                <a:spcPts val="2074"/>
              </a:lnSpc>
              <a:spcBef>
                <a:spcPts val="0"/>
              </a:spcBef>
              <a:spcAft>
                <a:spcPts val="0"/>
              </a:spcAft>
              <a:defRPr sz="1700" b="0">
                <a:solidFill>
                  <a:srgbClr val="607069"/>
                </a:solidFill>
                <a:latin typeface="Lato"/>
              </a:defRPr>
            </a:pPr>
            <a:r>
              <a:t>sifariş miqdarı.</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317500"/>
            <a:ext cx="2540000" cy="326898"/>
          </a:xfrm>
          <a:prstGeom prst="rect">
            <a:avLst/>
          </a:prstGeom>
          <a:noFill/>
        </p:spPr>
        <p:txBody>
          <a:bodyPr wrap="none" lIns="0" rIns="0" tIns="0" bIns="0" anchor="t">
            <a:spAutoFit/>
          </a:bodyPr>
          <a:lstStyle/>
          <a:p>
            <a:pPr>
              <a:lnSpc>
                <a:spcPts val="2074"/>
              </a:lnSpc>
              <a:spcBef>
                <a:spcPts val="0"/>
              </a:spcBef>
              <a:spcAft>
                <a:spcPts val="0"/>
              </a:spcAft>
              <a:defRPr sz="1700" b="1">
                <a:solidFill>
                  <a:srgbClr val="087F62"/>
                </a:solidFill>
                <a:latin typeface="Lato"/>
              </a:defRPr>
            </a:pPr>
            <a:r>
              <a:t>Leadprocure</a:t>
            </a:r>
          </a:p>
        </p:txBody>
      </p:sp>
      <p:sp>
        <p:nvSpPr>
          <p:cNvPr id="4" name="TextBox 3"/>
          <p:cNvSpPr txBox="1"/>
          <p:nvPr/>
        </p:nvSpPr>
        <p:spPr>
          <a:xfrm>
            <a:off x="9525000" y="368300"/>
            <a:ext cx="4521200" cy="226187"/>
          </a:xfrm>
          <a:prstGeom prst="rect">
            <a:avLst/>
          </a:prstGeom>
          <a:noFill/>
        </p:spPr>
        <p:txBody>
          <a:bodyPr wrap="none" lIns="0" rIns="0" tIns="0" bIns="0" anchor="t">
            <a:spAutoFit/>
          </a:bodyPr>
          <a:lstStyle/>
          <a:p>
            <a:pPr algn="r">
              <a:lnSpc>
                <a:spcPts val="1281"/>
              </a:lnSpc>
              <a:spcBef>
                <a:spcPts val="0"/>
              </a:spcBef>
              <a:spcAft>
                <a:spcPts val="0"/>
              </a:spcAft>
              <a:defRPr sz="1050" b="0">
                <a:solidFill>
                  <a:srgbClr val="607069"/>
                </a:solidFill>
                <a:latin typeface="Lato"/>
              </a:defRPr>
            </a:pPr>
            <a:r>
              <a:t>MƏXFİ TENDER</a:t>
            </a:r>
          </a:p>
        </p:txBody>
      </p:sp>
      <p:cxnSp>
        <p:nvCxnSpPr>
          <p:cNvPr id="5" name="Connector 4"/>
          <p:cNvCxnSpPr/>
          <p:nvPr/>
        </p:nvCxnSpPr>
        <p:spPr>
          <a:xfrm>
            <a:off x="584200" y="762000"/>
            <a:ext cx="13462000" cy="0"/>
          </a:xfrm>
          <a:prstGeom prst="line">
            <a:avLst/>
          </a:prstGeom>
          <a:ln w="12700">
            <a:solidFill>
              <a:srgbClr val="DCE4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079500"/>
            <a:ext cx="13462000" cy="605790"/>
          </a:xfrm>
          <a:prstGeom prst="rect">
            <a:avLst/>
          </a:prstGeom>
          <a:noFill/>
        </p:spPr>
        <p:txBody>
          <a:bodyPr wrap="none" lIns="0" rIns="0" tIns="0" bIns="0" anchor="t">
            <a:spAutoFit/>
          </a:bodyPr>
          <a:lstStyle/>
          <a:p>
            <a:pPr>
              <a:lnSpc>
                <a:spcPts val="4270"/>
              </a:lnSpc>
              <a:spcBef>
                <a:spcPts val="0"/>
              </a:spcBef>
              <a:spcAft>
                <a:spcPts val="0"/>
              </a:spcAft>
              <a:defRPr sz="3500" b="1">
                <a:solidFill>
                  <a:srgbClr val="202B27"/>
                </a:solidFill>
                <a:latin typeface="Lato"/>
              </a:defRPr>
            </a:pPr>
            <a:r>
              <a:t>Qiymətlər açılışa qədər qorunur</a:t>
            </a:r>
          </a:p>
        </p:txBody>
      </p:sp>
      <p:sp>
        <p:nvSpPr>
          <p:cNvPr id="7" name="TextBox 6"/>
          <p:cNvSpPr txBox="1"/>
          <p:nvPr/>
        </p:nvSpPr>
        <p:spPr>
          <a:xfrm>
            <a:off x="584200" y="1739900"/>
            <a:ext cx="13462000" cy="326898"/>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Alıcı iştirak faktını görür; təchizatçı öz təklifini idarə edir.</a:t>
            </a:r>
          </a:p>
        </p:txBody>
      </p:sp>
      <p:sp>
        <p:nvSpPr>
          <p:cNvPr id="8" name="TextBox 7"/>
          <p:cNvSpPr txBox="1"/>
          <p:nvPr/>
        </p:nvSpPr>
        <p:spPr>
          <a:xfrm>
            <a:off x="584200" y="7835900"/>
            <a:ext cx="10160000" cy="210693"/>
          </a:xfrm>
          <a:prstGeom prst="rect">
            <a:avLst/>
          </a:prstGeom>
          <a:noFill/>
        </p:spPr>
        <p:txBody>
          <a:bodyPr wrap="none" lIns="0" rIns="0" tIns="0" bIns="0" anchor="t">
            <a:spAutoFit/>
          </a:bodyPr>
          <a:lstStyle/>
          <a:p>
            <a:pPr>
              <a:lnSpc>
                <a:spcPts val="1159"/>
              </a:lnSpc>
              <a:spcBef>
                <a:spcPts val="0"/>
              </a:spcBef>
              <a:spcAft>
                <a:spcPts val="0"/>
              </a:spcAft>
              <a:defRPr sz="950" b="0">
                <a:solidFill>
                  <a:srgbClr val="607069"/>
                </a:solidFill>
                <a:latin typeface="Lato"/>
              </a:defRPr>
            </a:pPr>
            <a:r>
              <a:t>KORPORATİV SATINALMA / MƏHSUL TƏQDİMATI</a:t>
            </a:r>
          </a:p>
        </p:txBody>
      </p:sp>
      <p:sp>
        <p:nvSpPr>
          <p:cNvPr id="9" name="TextBox 8"/>
          <p:cNvSpPr txBox="1"/>
          <p:nvPr/>
        </p:nvSpPr>
        <p:spPr>
          <a:xfrm>
            <a:off x="13411200" y="7785100"/>
            <a:ext cx="635000" cy="264922"/>
          </a:xfrm>
          <a:prstGeom prst="rect">
            <a:avLst/>
          </a:prstGeom>
          <a:noFill/>
        </p:spPr>
        <p:txBody>
          <a:bodyPr wrap="none" lIns="0" rIns="0" tIns="0" bIns="0" anchor="t">
            <a:spAutoFit/>
          </a:bodyPr>
          <a:lstStyle/>
          <a:p>
            <a:pPr algn="r">
              <a:lnSpc>
                <a:spcPts val="1586"/>
              </a:lnSpc>
              <a:spcBef>
                <a:spcPts val="0"/>
              </a:spcBef>
              <a:spcAft>
                <a:spcPts val="0"/>
              </a:spcAft>
              <a:defRPr sz="1300" b="1">
                <a:solidFill>
                  <a:srgbClr val="087F62"/>
                </a:solidFill>
                <a:latin typeface="Lato"/>
              </a:defRPr>
            </a:pPr>
            <a:r>
              <a:t>09</a:t>
            </a:r>
          </a:p>
        </p:txBody>
      </p:sp>
      <p:sp>
        <p:nvSpPr>
          <p:cNvPr id="10" name="Rounded Rectangle 9"/>
          <p:cNvSpPr/>
          <p:nvPr/>
        </p:nvSpPr>
        <p:spPr>
          <a:xfrm>
            <a:off x="910872" y="2616200"/>
            <a:ext cx="8706555" cy="4953000"/>
          </a:xfrm>
          <a:prstGeom prst="roundRect">
            <a:avLst>
              <a:gd name="adj" fmla="val 1538"/>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974372" y="2679700"/>
            <a:ext cx="8579555" cy="4826000"/>
          </a:xfrm>
          <a:prstGeom prst="rect">
            <a:avLst/>
          </a:prstGeom>
        </p:spPr>
      </p:pic>
      <p:sp>
        <p:nvSpPr>
          <p:cNvPr id="12" name="TextBox 11"/>
          <p:cNvSpPr txBox="1"/>
          <p:nvPr/>
        </p:nvSpPr>
        <p:spPr>
          <a:xfrm>
            <a:off x="974372" y="7632700"/>
            <a:ext cx="8579555" cy="226187"/>
          </a:xfrm>
          <a:prstGeom prst="rect">
            <a:avLst/>
          </a:prstGeom>
          <a:noFill/>
        </p:spPr>
        <p:txBody>
          <a:bodyPr wrap="none" lIns="0" rIns="0" tIns="0" bIns="0" anchor="t">
            <a:spAutoFit/>
          </a:bodyPr>
          <a:lstStyle/>
          <a:p>
            <a:pPr>
              <a:lnSpc>
                <a:spcPts val="1281"/>
              </a:lnSpc>
              <a:spcBef>
                <a:spcPts val="0"/>
              </a:spcBef>
              <a:spcAft>
                <a:spcPts val="0"/>
              </a:spcAft>
              <a:defRPr sz="1050" b="0">
                <a:solidFill>
                  <a:srgbClr val="607069"/>
                </a:solidFill>
                <a:latin typeface="Lato"/>
              </a:defRPr>
            </a:pPr>
            <a:r>
              <a:t>AZ demo interfeysi</a:t>
            </a:r>
          </a:p>
        </p:txBody>
      </p:sp>
      <p:sp>
        <p:nvSpPr>
          <p:cNvPr id="13" name="TextBox 12"/>
          <p:cNvSpPr txBox="1"/>
          <p:nvPr/>
        </p:nvSpPr>
        <p:spPr>
          <a:xfrm>
            <a:off x="10388600" y="2768600"/>
            <a:ext cx="3657600" cy="249428"/>
          </a:xfrm>
          <a:prstGeom prst="rect">
            <a:avLst/>
          </a:prstGeom>
          <a:noFill/>
        </p:spPr>
        <p:txBody>
          <a:bodyPr wrap="none" lIns="0" rIns="0" tIns="0" bIns="0" anchor="t">
            <a:spAutoFit/>
          </a:bodyPr>
          <a:lstStyle/>
          <a:p>
            <a:pPr>
              <a:lnSpc>
                <a:spcPts val="1464"/>
              </a:lnSpc>
              <a:spcBef>
                <a:spcPts val="0"/>
              </a:spcBef>
              <a:spcAft>
                <a:spcPts val="0"/>
              </a:spcAft>
              <a:defRPr sz="1200" b="1">
                <a:solidFill>
                  <a:srgbClr val="087F62"/>
                </a:solidFill>
                <a:latin typeface="Lato"/>
              </a:defRPr>
            </a:pPr>
            <a:r>
              <a:t>TƏCHİZATÇI KABİNETİ</a:t>
            </a:r>
          </a:p>
        </p:txBody>
      </p:sp>
      <p:sp>
        <p:nvSpPr>
          <p:cNvPr id="14" name="TextBox 13"/>
          <p:cNvSpPr txBox="1"/>
          <p:nvPr/>
        </p:nvSpPr>
        <p:spPr>
          <a:xfrm>
            <a:off x="10388600" y="3251200"/>
            <a:ext cx="4445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01</a:t>
            </a:r>
          </a:p>
        </p:txBody>
      </p:sp>
      <p:sp>
        <p:nvSpPr>
          <p:cNvPr id="15" name="TextBox 14"/>
          <p:cNvSpPr txBox="1"/>
          <p:nvPr/>
        </p:nvSpPr>
        <p:spPr>
          <a:xfrm>
            <a:off x="10947400" y="3225800"/>
            <a:ext cx="30988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202B27"/>
                </a:solidFill>
                <a:latin typeface="Lato"/>
              </a:defRPr>
            </a:pPr>
            <a:r>
              <a:t>Şifrələnmiş məbləğ</a:t>
            </a:r>
          </a:p>
        </p:txBody>
      </p:sp>
      <p:sp>
        <p:nvSpPr>
          <p:cNvPr id="16" name="TextBox 15"/>
          <p:cNvSpPr txBox="1"/>
          <p:nvPr/>
        </p:nvSpPr>
        <p:spPr>
          <a:xfrm>
            <a:off x="10947400" y="3949700"/>
            <a:ext cx="3098800" cy="559308"/>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Açılışdan əvvəl alıcı üçün qiymət</a:t>
            </a:r>
          </a:p>
          <a:p>
            <a:pPr>
              <a:lnSpc>
                <a:spcPts val="1952"/>
              </a:lnSpc>
              <a:spcBef>
                <a:spcPts val="0"/>
              </a:spcBef>
              <a:spcAft>
                <a:spcPts val="0"/>
              </a:spcAft>
              <a:defRPr sz="1600" b="0">
                <a:solidFill>
                  <a:srgbClr val="607069"/>
                </a:solidFill>
                <a:latin typeface="Lato"/>
              </a:defRPr>
            </a:pPr>
            <a:r>
              <a:t>məlumatı bağlıdır.</a:t>
            </a:r>
          </a:p>
        </p:txBody>
      </p:sp>
      <p:sp>
        <p:nvSpPr>
          <p:cNvPr id="17" name="TextBox 16"/>
          <p:cNvSpPr txBox="1"/>
          <p:nvPr/>
        </p:nvSpPr>
        <p:spPr>
          <a:xfrm>
            <a:off x="10388600" y="5410200"/>
            <a:ext cx="4445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02</a:t>
            </a:r>
          </a:p>
        </p:txBody>
      </p:sp>
      <p:sp>
        <p:nvSpPr>
          <p:cNvPr id="18" name="TextBox 17"/>
          <p:cNvSpPr txBox="1"/>
          <p:nvPr/>
        </p:nvSpPr>
        <p:spPr>
          <a:xfrm>
            <a:off x="10947400" y="5384800"/>
            <a:ext cx="30988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202B27"/>
                </a:solidFill>
                <a:latin typeface="Lato"/>
              </a:defRPr>
            </a:pPr>
            <a:r>
              <a:t>Bərabər məlumat</a:t>
            </a:r>
          </a:p>
        </p:txBody>
      </p:sp>
      <p:sp>
        <p:nvSpPr>
          <p:cNvPr id="19" name="TextBox 18"/>
          <p:cNvSpPr txBox="1"/>
          <p:nvPr/>
        </p:nvSpPr>
        <p:spPr>
          <a:xfrm>
            <a:off x="10947400" y="6108700"/>
            <a:ext cx="3098800" cy="559308"/>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Sual-cavab bölməsində cavablar</a:t>
            </a:r>
          </a:p>
          <a:p>
            <a:pPr>
              <a:lnSpc>
                <a:spcPts val="1952"/>
              </a:lnSpc>
              <a:spcBef>
                <a:spcPts val="0"/>
              </a:spcBef>
              <a:spcAft>
                <a:spcPts val="0"/>
              </a:spcAft>
              <a:defRPr sz="1600" b="0">
                <a:solidFill>
                  <a:srgbClr val="607069"/>
                </a:solidFill>
                <a:latin typeface="Lato"/>
              </a:defRPr>
            </a:pPr>
            <a:r>
              <a:t>iştirakçılar üçün ortaqdır.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317500"/>
            <a:ext cx="2540000" cy="326898"/>
          </a:xfrm>
          <a:prstGeom prst="rect">
            <a:avLst/>
          </a:prstGeom>
          <a:noFill/>
        </p:spPr>
        <p:txBody>
          <a:bodyPr wrap="none" lIns="0" rIns="0" tIns="0" bIns="0" anchor="t">
            <a:spAutoFit/>
          </a:bodyPr>
          <a:lstStyle/>
          <a:p>
            <a:pPr>
              <a:lnSpc>
                <a:spcPts val="2074"/>
              </a:lnSpc>
              <a:spcBef>
                <a:spcPts val="0"/>
              </a:spcBef>
              <a:spcAft>
                <a:spcPts val="0"/>
              </a:spcAft>
              <a:defRPr sz="1700" b="1">
                <a:solidFill>
                  <a:srgbClr val="087F62"/>
                </a:solidFill>
                <a:latin typeface="Lato"/>
              </a:defRPr>
            </a:pPr>
            <a:r>
              <a:t>Leadprocure</a:t>
            </a:r>
          </a:p>
        </p:txBody>
      </p:sp>
      <p:sp>
        <p:nvSpPr>
          <p:cNvPr id="4" name="TextBox 3"/>
          <p:cNvSpPr txBox="1"/>
          <p:nvPr/>
        </p:nvSpPr>
        <p:spPr>
          <a:xfrm>
            <a:off x="9525000" y="368300"/>
            <a:ext cx="4521200" cy="226187"/>
          </a:xfrm>
          <a:prstGeom prst="rect">
            <a:avLst/>
          </a:prstGeom>
          <a:noFill/>
        </p:spPr>
        <p:txBody>
          <a:bodyPr wrap="none" lIns="0" rIns="0" tIns="0" bIns="0" anchor="t">
            <a:spAutoFit/>
          </a:bodyPr>
          <a:lstStyle/>
          <a:p>
            <a:pPr algn="r">
              <a:lnSpc>
                <a:spcPts val="1281"/>
              </a:lnSpc>
              <a:spcBef>
                <a:spcPts val="0"/>
              </a:spcBef>
              <a:spcAft>
                <a:spcPts val="0"/>
              </a:spcAft>
              <a:defRPr sz="1050" b="0">
                <a:solidFill>
                  <a:srgbClr val="607069"/>
                </a:solidFill>
                <a:latin typeface="Lato"/>
              </a:defRPr>
            </a:pPr>
            <a:r>
              <a:t>NÜMAYİŞ NÜMUNƏSİ</a:t>
            </a:r>
          </a:p>
        </p:txBody>
      </p:sp>
      <p:cxnSp>
        <p:nvCxnSpPr>
          <p:cNvPr id="5" name="Connector 4"/>
          <p:cNvCxnSpPr/>
          <p:nvPr/>
        </p:nvCxnSpPr>
        <p:spPr>
          <a:xfrm>
            <a:off x="584200" y="762000"/>
            <a:ext cx="13462000" cy="0"/>
          </a:xfrm>
          <a:prstGeom prst="line">
            <a:avLst/>
          </a:prstGeom>
          <a:ln w="12700">
            <a:solidFill>
              <a:srgbClr val="DCE4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079500"/>
            <a:ext cx="13462000" cy="605790"/>
          </a:xfrm>
          <a:prstGeom prst="rect">
            <a:avLst/>
          </a:prstGeom>
          <a:noFill/>
        </p:spPr>
        <p:txBody>
          <a:bodyPr wrap="none" lIns="0" rIns="0" tIns="0" bIns="0" anchor="t">
            <a:spAutoFit/>
          </a:bodyPr>
          <a:lstStyle/>
          <a:p>
            <a:pPr>
              <a:lnSpc>
                <a:spcPts val="4270"/>
              </a:lnSpc>
              <a:spcBef>
                <a:spcPts val="0"/>
              </a:spcBef>
              <a:spcAft>
                <a:spcPts val="0"/>
              </a:spcAft>
              <a:defRPr sz="3500" b="1">
                <a:solidFill>
                  <a:srgbClr val="202B27"/>
                </a:solidFill>
                <a:latin typeface="Lato"/>
              </a:defRPr>
            </a:pPr>
            <a:r>
              <a:t>57 000 AZN smetadan 51 500 AZN təklifə</a:t>
            </a:r>
          </a:p>
        </p:txBody>
      </p:sp>
      <p:sp>
        <p:nvSpPr>
          <p:cNvPr id="7" name="TextBox 6"/>
          <p:cNvSpPr txBox="1"/>
          <p:nvPr/>
        </p:nvSpPr>
        <p:spPr>
          <a:xfrm>
            <a:off x="584200" y="1739900"/>
            <a:ext cx="13462000" cy="326898"/>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Data mərkəzi üçün 4 server və 2 kommutatorun satınalması.</a:t>
            </a:r>
          </a:p>
        </p:txBody>
      </p:sp>
      <p:sp>
        <p:nvSpPr>
          <p:cNvPr id="8" name="TextBox 7"/>
          <p:cNvSpPr txBox="1"/>
          <p:nvPr/>
        </p:nvSpPr>
        <p:spPr>
          <a:xfrm>
            <a:off x="584200" y="7835900"/>
            <a:ext cx="10160000" cy="210693"/>
          </a:xfrm>
          <a:prstGeom prst="rect">
            <a:avLst/>
          </a:prstGeom>
          <a:noFill/>
        </p:spPr>
        <p:txBody>
          <a:bodyPr wrap="none" lIns="0" rIns="0" tIns="0" bIns="0" anchor="t">
            <a:spAutoFit/>
          </a:bodyPr>
          <a:lstStyle/>
          <a:p>
            <a:pPr>
              <a:lnSpc>
                <a:spcPts val="1159"/>
              </a:lnSpc>
              <a:spcBef>
                <a:spcPts val="0"/>
              </a:spcBef>
              <a:spcAft>
                <a:spcPts val="0"/>
              </a:spcAft>
              <a:defRPr sz="950" b="0">
                <a:solidFill>
                  <a:srgbClr val="607069"/>
                </a:solidFill>
                <a:latin typeface="Lato"/>
              </a:defRPr>
            </a:pPr>
            <a:r>
              <a:t>KORPORATİV SATINALMA / MƏHSUL TƏQDİMATI</a:t>
            </a:r>
          </a:p>
        </p:txBody>
      </p:sp>
      <p:sp>
        <p:nvSpPr>
          <p:cNvPr id="9" name="TextBox 8"/>
          <p:cNvSpPr txBox="1"/>
          <p:nvPr/>
        </p:nvSpPr>
        <p:spPr>
          <a:xfrm>
            <a:off x="13411200" y="7785100"/>
            <a:ext cx="635000" cy="264922"/>
          </a:xfrm>
          <a:prstGeom prst="rect">
            <a:avLst/>
          </a:prstGeom>
          <a:noFill/>
        </p:spPr>
        <p:txBody>
          <a:bodyPr wrap="none" lIns="0" rIns="0" tIns="0" bIns="0" anchor="t">
            <a:spAutoFit/>
          </a:bodyPr>
          <a:lstStyle/>
          <a:p>
            <a:pPr algn="r">
              <a:lnSpc>
                <a:spcPts val="1586"/>
              </a:lnSpc>
              <a:spcBef>
                <a:spcPts val="0"/>
              </a:spcBef>
              <a:spcAft>
                <a:spcPts val="0"/>
              </a:spcAft>
              <a:defRPr sz="1300" b="1">
                <a:solidFill>
                  <a:srgbClr val="087F62"/>
                </a:solidFill>
                <a:latin typeface="Lato"/>
              </a:defRPr>
            </a:pPr>
            <a:r>
              <a:t>10</a:t>
            </a:r>
          </a:p>
        </p:txBody>
      </p:sp>
      <p:sp>
        <p:nvSpPr>
          <p:cNvPr id="10" name="Rectangle 9"/>
          <p:cNvSpPr/>
          <p:nvPr/>
        </p:nvSpPr>
        <p:spPr>
          <a:xfrm>
            <a:off x="584200" y="2667000"/>
            <a:ext cx="4165600" cy="609600"/>
          </a:xfrm>
          <a:prstGeom prst="rect">
            <a:avLst/>
          </a:prstGeom>
          <a:solidFill>
            <a:srgbClr val="164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7400" y="2819400"/>
            <a:ext cx="3848100" cy="311404"/>
          </a:xfrm>
          <a:prstGeom prst="rect">
            <a:avLst/>
          </a:prstGeom>
          <a:noFill/>
        </p:spPr>
        <p:txBody>
          <a:bodyPr wrap="none" lIns="0" rIns="0" tIns="0" bIns="0" anchor="t">
            <a:spAutoFit/>
          </a:bodyPr>
          <a:lstStyle/>
          <a:p>
            <a:pPr>
              <a:lnSpc>
                <a:spcPts val="1952"/>
              </a:lnSpc>
              <a:spcBef>
                <a:spcPts val="0"/>
              </a:spcBef>
              <a:spcAft>
                <a:spcPts val="0"/>
              </a:spcAft>
              <a:defRPr sz="1600" b="1">
                <a:solidFill>
                  <a:srgbClr val="FFFFFF"/>
                </a:solidFill>
                <a:latin typeface="Lato"/>
              </a:defRPr>
            </a:pPr>
            <a:r>
              <a:t>Mövqe</a:t>
            </a:r>
          </a:p>
        </p:txBody>
      </p:sp>
      <p:sp>
        <p:nvSpPr>
          <p:cNvPr id="12" name="Rectangle 11"/>
          <p:cNvSpPr/>
          <p:nvPr/>
        </p:nvSpPr>
        <p:spPr>
          <a:xfrm>
            <a:off x="4749800" y="2667000"/>
            <a:ext cx="3086100" cy="609600"/>
          </a:xfrm>
          <a:prstGeom prst="rect">
            <a:avLst/>
          </a:prstGeom>
          <a:solidFill>
            <a:srgbClr val="164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53000" y="2819400"/>
            <a:ext cx="2768600" cy="311404"/>
          </a:xfrm>
          <a:prstGeom prst="rect">
            <a:avLst/>
          </a:prstGeom>
          <a:noFill/>
        </p:spPr>
        <p:txBody>
          <a:bodyPr wrap="none" lIns="0" rIns="0" tIns="0" bIns="0" anchor="t">
            <a:spAutoFit/>
          </a:bodyPr>
          <a:lstStyle/>
          <a:p>
            <a:pPr>
              <a:lnSpc>
                <a:spcPts val="1952"/>
              </a:lnSpc>
              <a:spcBef>
                <a:spcPts val="0"/>
              </a:spcBef>
              <a:spcAft>
                <a:spcPts val="0"/>
              </a:spcAft>
              <a:defRPr sz="1600" b="1">
                <a:solidFill>
                  <a:srgbClr val="FFFFFF"/>
                </a:solidFill>
                <a:latin typeface="Lato"/>
              </a:defRPr>
            </a:pPr>
            <a:r>
              <a:t>İlkin smeta</a:t>
            </a:r>
          </a:p>
        </p:txBody>
      </p:sp>
      <p:sp>
        <p:nvSpPr>
          <p:cNvPr id="14" name="Rectangle 13"/>
          <p:cNvSpPr/>
          <p:nvPr/>
        </p:nvSpPr>
        <p:spPr>
          <a:xfrm>
            <a:off x="7835900" y="2667000"/>
            <a:ext cx="3098800" cy="609600"/>
          </a:xfrm>
          <a:prstGeom prst="rect">
            <a:avLst/>
          </a:prstGeom>
          <a:solidFill>
            <a:srgbClr val="164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39100" y="2819400"/>
            <a:ext cx="2781300" cy="311404"/>
          </a:xfrm>
          <a:prstGeom prst="rect">
            <a:avLst/>
          </a:prstGeom>
          <a:noFill/>
        </p:spPr>
        <p:txBody>
          <a:bodyPr wrap="none" lIns="0" rIns="0" tIns="0" bIns="0" anchor="t">
            <a:spAutoFit/>
          </a:bodyPr>
          <a:lstStyle/>
          <a:p>
            <a:pPr>
              <a:lnSpc>
                <a:spcPts val="1952"/>
              </a:lnSpc>
              <a:spcBef>
                <a:spcPts val="0"/>
              </a:spcBef>
              <a:spcAft>
                <a:spcPts val="0"/>
              </a:spcAft>
              <a:defRPr sz="1600" b="1">
                <a:solidFill>
                  <a:srgbClr val="FFFFFF"/>
                </a:solidFill>
                <a:latin typeface="Lato"/>
              </a:defRPr>
            </a:pPr>
            <a:r>
              <a:t>Supply One</a:t>
            </a:r>
          </a:p>
        </p:txBody>
      </p:sp>
      <p:sp>
        <p:nvSpPr>
          <p:cNvPr id="16" name="Rectangle 15"/>
          <p:cNvSpPr/>
          <p:nvPr/>
        </p:nvSpPr>
        <p:spPr>
          <a:xfrm>
            <a:off x="10934700" y="2667000"/>
            <a:ext cx="3111500" cy="609600"/>
          </a:xfrm>
          <a:prstGeom prst="rect">
            <a:avLst/>
          </a:prstGeom>
          <a:solidFill>
            <a:srgbClr val="164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37900" y="2819400"/>
            <a:ext cx="2794000" cy="311404"/>
          </a:xfrm>
          <a:prstGeom prst="rect">
            <a:avLst/>
          </a:prstGeom>
          <a:noFill/>
        </p:spPr>
        <p:txBody>
          <a:bodyPr wrap="none" lIns="0" rIns="0" tIns="0" bIns="0" anchor="t">
            <a:spAutoFit/>
          </a:bodyPr>
          <a:lstStyle/>
          <a:p>
            <a:pPr>
              <a:lnSpc>
                <a:spcPts val="1952"/>
              </a:lnSpc>
              <a:spcBef>
                <a:spcPts val="0"/>
              </a:spcBef>
              <a:spcAft>
                <a:spcPts val="0"/>
              </a:spcAft>
              <a:defRPr sz="1600" b="1">
                <a:solidFill>
                  <a:srgbClr val="FFFFFF"/>
                </a:solidFill>
                <a:latin typeface="Lato"/>
              </a:defRPr>
            </a:pPr>
            <a:r>
              <a:t>Baku Metal</a:t>
            </a:r>
          </a:p>
        </p:txBody>
      </p:sp>
      <p:sp>
        <p:nvSpPr>
          <p:cNvPr id="18" name="Rectangle 17"/>
          <p:cNvSpPr/>
          <p:nvPr/>
        </p:nvSpPr>
        <p:spPr>
          <a:xfrm>
            <a:off x="584200" y="3276600"/>
            <a:ext cx="4165600" cy="596900"/>
          </a:xfrm>
          <a:prstGeom prst="rect">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7400" y="3441700"/>
            <a:ext cx="3835400" cy="342392"/>
          </a:xfrm>
          <a:prstGeom prst="rect">
            <a:avLst/>
          </a:prstGeom>
          <a:noFill/>
        </p:spPr>
        <p:txBody>
          <a:bodyPr wrap="none" lIns="0" rIns="0" tIns="0" bIns="0" anchor="t">
            <a:spAutoFit/>
          </a:bodyPr>
          <a:lstStyle/>
          <a:p>
            <a:pPr>
              <a:lnSpc>
                <a:spcPts val="2196"/>
              </a:lnSpc>
              <a:spcBef>
                <a:spcPts val="0"/>
              </a:spcBef>
              <a:spcAft>
                <a:spcPts val="0"/>
              </a:spcAft>
              <a:defRPr sz="1800" b="0">
                <a:solidFill>
                  <a:srgbClr val="202B27"/>
                </a:solidFill>
                <a:latin typeface="Lato"/>
              </a:defRPr>
            </a:pPr>
            <a:r>
              <a:t>4 server</a:t>
            </a:r>
          </a:p>
        </p:txBody>
      </p:sp>
      <p:sp>
        <p:nvSpPr>
          <p:cNvPr id="20" name="Rectangle 19"/>
          <p:cNvSpPr/>
          <p:nvPr/>
        </p:nvSpPr>
        <p:spPr>
          <a:xfrm>
            <a:off x="4749800" y="3276600"/>
            <a:ext cx="3086100" cy="596900"/>
          </a:xfrm>
          <a:prstGeom prst="rect">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53000" y="3441700"/>
            <a:ext cx="2755900" cy="342392"/>
          </a:xfrm>
          <a:prstGeom prst="rect">
            <a:avLst/>
          </a:prstGeom>
          <a:noFill/>
        </p:spPr>
        <p:txBody>
          <a:bodyPr wrap="none" lIns="0" rIns="0" tIns="0" bIns="0" anchor="t">
            <a:spAutoFit/>
          </a:bodyPr>
          <a:lstStyle/>
          <a:p>
            <a:pPr>
              <a:lnSpc>
                <a:spcPts val="2196"/>
              </a:lnSpc>
              <a:spcBef>
                <a:spcPts val="0"/>
              </a:spcBef>
              <a:spcAft>
                <a:spcPts val="0"/>
              </a:spcAft>
              <a:defRPr sz="1800" b="0">
                <a:solidFill>
                  <a:srgbClr val="202B27"/>
                </a:solidFill>
                <a:latin typeface="Lato"/>
              </a:defRPr>
            </a:pPr>
            <a:r>
              <a:t>48 000 AZN</a:t>
            </a:r>
          </a:p>
        </p:txBody>
      </p:sp>
      <p:sp>
        <p:nvSpPr>
          <p:cNvPr id="22" name="Rectangle 21"/>
          <p:cNvSpPr/>
          <p:nvPr/>
        </p:nvSpPr>
        <p:spPr>
          <a:xfrm>
            <a:off x="7835900" y="3276600"/>
            <a:ext cx="3098800" cy="596900"/>
          </a:xfrm>
          <a:prstGeom prst="rect">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39100" y="3441700"/>
            <a:ext cx="2768600" cy="342392"/>
          </a:xfrm>
          <a:prstGeom prst="rect">
            <a:avLst/>
          </a:prstGeom>
          <a:noFill/>
        </p:spPr>
        <p:txBody>
          <a:bodyPr wrap="none" lIns="0" rIns="0" tIns="0" bIns="0" anchor="t">
            <a:spAutoFit/>
          </a:bodyPr>
          <a:lstStyle/>
          <a:p>
            <a:pPr>
              <a:lnSpc>
                <a:spcPts val="2196"/>
              </a:lnSpc>
              <a:spcBef>
                <a:spcPts val="0"/>
              </a:spcBef>
              <a:spcAft>
                <a:spcPts val="0"/>
              </a:spcAft>
              <a:defRPr sz="1800" b="0">
                <a:solidFill>
                  <a:srgbClr val="202B27"/>
                </a:solidFill>
                <a:latin typeface="Lato"/>
              </a:defRPr>
            </a:pPr>
            <a:r>
              <a:t>43 200 AZN</a:t>
            </a:r>
          </a:p>
        </p:txBody>
      </p:sp>
      <p:sp>
        <p:nvSpPr>
          <p:cNvPr id="24" name="Rectangle 23"/>
          <p:cNvSpPr/>
          <p:nvPr/>
        </p:nvSpPr>
        <p:spPr>
          <a:xfrm>
            <a:off x="10934700" y="3276600"/>
            <a:ext cx="3111500" cy="596900"/>
          </a:xfrm>
          <a:prstGeom prst="rect">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137900" y="3441700"/>
            <a:ext cx="2781300" cy="342392"/>
          </a:xfrm>
          <a:prstGeom prst="rect">
            <a:avLst/>
          </a:prstGeom>
          <a:noFill/>
        </p:spPr>
        <p:txBody>
          <a:bodyPr wrap="none" lIns="0" rIns="0" tIns="0" bIns="0" anchor="t">
            <a:spAutoFit/>
          </a:bodyPr>
          <a:lstStyle/>
          <a:p>
            <a:pPr>
              <a:lnSpc>
                <a:spcPts val="2196"/>
              </a:lnSpc>
              <a:spcBef>
                <a:spcPts val="0"/>
              </a:spcBef>
              <a:spcAft>
                <a:spcPts val="0"/>
              </a:spcAft>
              <a:defRPr sz="1800" b="0">
                <a:solidFill>
                  <a:srgbClr val="202B27"/>
                </a:solidFill>
                <a:latin typeface="Lato"/>
              </a:defRPr>
            </a:pPr>
            <a:r>
              <a:t>46 000 AZN</a:t>
            </a:r>
          </a:p>
        </p:txBody>
      </p:sp>
      <p:sp>
        <p:nvSpPr>
          <p:cNvPr id="26" name="Rectangle 25"/>
          <p:cNvSpPr/>
          <p:nvPr/>
        </p:nvSpPr>
        <p:spPr>
          <a:xfrm>
            <a:off x="584200" y="3873500"/>
            <a:ext cx="4165600" cy="596900"/>
          </a:xfrm>
          <a:prstGeom prst="rect">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7400" y="4038600"/>
            <a:ext cx="3835400" cy="342392"/>
          </a:xfrm>
          <a:prstGeom prst="rect">
            <a:avLst/>
          </a:prstGeom>
          <a:noFill/>
        </p:spPr>
        <p:txBody>
          <a:bodyPr wrap="none" lIns="0" rIns="0" tIns="0" bIns="0" anchor="t">
            <a:spAutoFit/>
          </a:bodyPr>
          <a:lstStyle/>
          <a:p>
            <a:pPr>
              <a:lnSpc>
                <a:spcPts val="2196"/>
              </a:lnSpc>
              <a:spcBef>
                <a:spcPts val="0"/>
              </a:spcBef>
              <a:spcAft>
                <a:spcPts val="0"/>
              </a:spcAft>
              <a:defRPr sz="1800" b="0">
                <a:solidFill>
                  <a:srgbClr val="202B27"/>
                </a:solidFill>
                <a:latin typeface="Lato"/>
              </a:defRPr>
            </a:pPr>
            <a:r>
              <a:t>2 kommutator</a:t>
            </a:r>
          </a:p>
        </p:txBody>
      </p:sp>
      <p:sp>
        <p:nvSpPr>
          <p:cNvPr id="28" name="Rectangle 27"/>
          <p:cNvSpPr/>
          <p:nvPr/>
        </p:nvSpPr>
        <p:spPr>
          <a:xfrm>
            <a:off x="4749800" y="3873500"/>
            <a:ext cx="3086100" cy="596900"/>
          </a:xfrm>
          <a:prstGeom prst="rect">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53000" y="4038600"/>
            <a:ext cx="2755900" cy="342392"/>
          </a:xfrm>
          <a:prstGeom prst="rect">
            <a:avLst/>
          </a:prstGeom>
          <a:noFill/>
        </p:spPr>
        <p:txBody>
          <a:bodyPr wrap="none" lIns="0" rIns="0" tIns="0" bIns="0" anchor="t">
            <a:spAutoFit/>
          </a:bodyPr>
          <a:lstStyle/>
          <a:p>
            <a:pPr>
              <a:lnSpc>
                <a:spcPts val="2196"/>
              </a:lnSpc>
              <a:spcBef>
                <a:spcPts val="0"/>
              </a:spcBef>
              <a:spcAft>
                <a:spcPts val="0"/>
              </a:spcAft>
              <a:defRPr sz="1800" b="0">
                <a:solidFill>
                  <a:srgbClr val="202B27"/>
                </a:solidFill>
                <a:latin typeface="Lato"/>
              </a:defRPr>
            </a:pPr>
            <a:r>
              <a:t>9 000 AZN</a:t>
            </a:r>
          </a:p>
        </p:txBody>
      </p:sp>
      <p:sp>
        <p:nvSpPr>
          <p:cNvPr id="30" name="Rectangle 29"/>
          <p:cNvSpPr/>
          <p:nvPr/>
        </p:nvSpPr>
        <p:spPr>
          <a:xfrm>
            <a:off x="7835900" y="3873500"/>
            <a:ext cx="3098800" cy="596900"/>
          </a:xfrm>
          <a:prstGeom prst="rect">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39100" y="4038600"/>
            <a:ext cx="2768600" cy="342392"/>
          </a:xfrm>
          <a:prstGeom prst="rect">
            <a:avLst/>
          </a:prstGeom>
          <a:noFill/>
        </p:spPr>
        <p:txBody>
          <a:bodyPr wrap="none" lIns="0" rIns="0" tIns="0" bIns="0" anchor="t">
            <a:spAutoFit/>
          </a:bodyPr>
          <a:lstStyle/>
          <a:p>
            <a:pPr>
              <a:lnSpc>
                <a:spcPts val="2196"/>
              </a:lnSpc>
              <a:spcBef>
                <a:spcPts val="0"/>
              </a:spcBef>
              <a:spcAft>
                <a:spcPts val="0"/>
              </a:spcAft>
              <a:defRPr sz="1800" b="0">
                <a:solidFill>
                  <a:srgbClr val="202B27"/>
                </a:solidFill>
                <a:latin typeface="Lato"/>
              </a:defRPr>
            </a:pPr>
            <a:r>
              <a:t>8 300 AZN</a:t>
            </a:r>
          </a:p>
        </p:txBody>
      </p:sp>
      <p:sp>
        <p:nvSpPr>
          <p:cNvPr id="32" name="Rectangle 31"/>
          <p:cNvSpPr/>
          <p:nvPr/>
        </p:nvSpPr>
        <p:spPr>
          <a:xfrm>
            <a:off x="10934700" y="3873500"/>
            <a:ext cx="3111500" cy="596900"/>
          </a:xfrm>
          <a:prstGeom prst="rect">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137900" y="4038600"/>
            <a:ext cx="2781300" cy="342392"/>
          </a:xfrm>
          <a:prstGeom prst="rect">
            <a:avLst/>
          </a:prstGeom>
          <a:noFill/>
        </p:spPr>
        <p:txBody>
          <a:bodyPr wrap="none" lIns="0" rIns="0" tIns="0" bIns="0" anchor="t">
            <a:spAutoFit/>
          </a:bodyPr>
          <a:lstStyle/>
          <a:p>
            <a:pPr>
              <a:lnSpc>
                <a:spcPts val="2196"/>
              </a:lnSpc>
              <a:spcBef>
                <a:spcPts val="0"/>
              </a:spcBef>
              <a:spcAft>
                <a:spcPts val="0"/>
              </a:spcAft>
              <a:defRPr sz="1800" b="0">
                <a:solidFill>
                  <a:srgbClr val="202B27"/>
                </a:solidFill>
                <a:latin typeface="Lato"/>
              </a:defRPr>
            </a:pPr>
            <a:r>
              <a:t>8 600 AZN</a:t>
            </a:r>
          </a:p>
        </p:txBody>
      </p:sp>
      <p:sp>
        <p:nvSpPr>
          <p:cNvPr id="34" name="Rectangle 33"/>
          <p:cNvSpPr/>
          <p:nvPr/>
        </p:nvSpPr>
        <p:spPr>
          <a:xfrm>
            <a:off x="584200" y="4470400"/>
            <a:ext cx="4165600" cy="596900"/>
          </a:xfrm>
          <a:prstGeom prst="rect">
            <a:avLst/>
          </a:prstGeom>
          <a:solidFill>
            <a:srgbClr val="E6F1E9"/>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7400" y="4635500"/>
            <a:ext cx="3835400" cy="342392"/>
          </a:xfrm>
          <a:prstGeom prst="rect">
            <a:avLst/>
          </a:prstGeom>
          <a:noFill/>
        </p:spPr>
        <p:txBody>
          <a:bodyPr wrap="none" lIns="0" rIns="0" tIns="0" bIns="0" anchor="t">
            <a:spAutoFit/>
          </a:bodyPr>
          <a:lstStyle/>
          <a:p>
            <a:pPr>
              <a:lnSpc>
                <a:spcPts val="2196"/>
              </a:lnSpc>
              <a:spcBef>
                <a:spcPts val="0"/>
              </a:spcBef>
              <a:spcAft>
                <a:spcPts val="0"/>
              </a:spcAft>
              <a:defRPr sz="1800" b="1">
                <a:solidFill>
                  <a:srgbClr val="087F62"/>
                </a:solidFill>
                <a:latin typeface="Lato"/>
              </a:defRPr>
            </a:pPr>
            <a:r>
              <a:t>Cəmi / ƏDV-siz</a:t>
            </a:r>
          </a:p>
        </p:txBody>
      </p:sp>
      <p:sp>
        <p:nvSpPr>
          <p:cNvPr id="36" name="Rectangle 35"/>
          <p:cNvSpPr/>
          <p:nvPr/>
        </p:nvSpPr>
        <p:spPr>
          <a:xfrm>
            <a:off x="4749800" y="4470400"/>
            <a:ext cx="3086100" cy="596900"/>
          </a:xfrm>
          <a:prstGeom prst="rect">
            <a:avLst/>
          </a:prstGeom>
          <a:solidFill>
            <a:srgbClr val="E6F1E9"/>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53000" y="4635500"/>
            <a:ext cx="2755900" cy="342392"/>
          </a:xfrm>
          <a:prstGeom prst="rect">
            <a:avLst/>
          </a:prstGeom>
          <a:noFill/>
        </p:spPr>
        <p:txBody>
          <a:bodyPr wrap="none" lIns="0" rIns="0" tIns="0" bIns="0" anchor="t">
            <a:spAutoFit/>
          </a:bodyPr>
          <a:lstStyle/>
          <a:p>
            <a:pPr>
              <a:lnSpc>
                <a:spcPts val="2196"/>
              </a:lnSpc>
              <a:spcBef>
                <a:spcPts val="0"/>
              </a:spcBef>
              <a:spcAft>
                <a:spcPts val="0"/>
              </a:spcAft>
              <a:defRPr sz="1800" b="1">
                <a:solidFill>
                  <a:srgbClr val="087F62"/>
                </a:solidFill>
                <a:latin typeface="Lato"/>
              </a:defRPr>
            </a:pPr>
            <a:r>
              <a:t>57 000 AZN</a:t>
            </a:r>
          </a:p>
        </p:txBody>
      </p:sp>
      <p:sp>
        <p:nvSpPr>
          <p:cNvPr id="38" name="Rectangle 37"/>
          <p:cNvSpPr/>
          <p:nvPr/>
        </p:nvSpPr>
        <p:spPr>
          <a:xfrm>
            <a:off x="7835900" y="4470400"/>
            <a:ext cx="3098800" cy="596900"/>
          </a:xfrm>
          <a:prstGeom prst="rect">
            <a:avLst/>
          </a:prstGeom>
          <a:solidFill>
            <a:srgbClr val="E6F1E9"/>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39100" y="4635500"/>
            <a:ext cx="2768600" cy="342392"/>
          </a:xfrm>
          <a:prstGeom prst="rect">
            <a:avLst/>
          </a:prstGeom>
          <a:noFill/>
        </p:spPr>
        <p:txBody>
          <a:bodyPr wrap="none" lIns="0" rIns="0" tIns="0" bIns="0" anchor="t">
            <a:spAutoFit/>
          </a:bodyPr>
          <a:lstStyle/>
          <a:p>
            <a:pPr>
              <a:lnSpc>
                <a:spcPts val="2196"/>
              </a:lnSpc>
              <a:spcBef>
                <a:spcPts val="0"/>
              </a:spcBef>
              <a:spcAft>
                <a:spcPts val="0"/>
              </a:spcAft>
              <a:defRPr sz="1800" b="1">
                <a:solidFill>
                  <a:srgbClr val="087F62"/>
                </a:solidFill>
                <a:latin typeface="Lato"/>
              </a:defRPr>
            </a:pPr>
            <a:r>
              <a:t>51 500 AZN</a:t>
            </a:r>
          </a:p>
        </p:txBody>
      </p:sp>
      <p:sp>
        <p:nvSpPr>
          <p:cNvPr id="40" name="Rectangle 39"/>
          <p:cNvSpPr/>
          <p:nvPr/>
        </p:nvSpPr>
        <p:spPr>
          <a:xfrm>
            <a:off x="10934700" y="4470400"/>
            <a:ext cx="3111500" cy="596900"/>
          </a:xfrm>
          <a:prstGeom prst="rect">
            <a:avLst/>
          </a:prstGeom>
          <a:solidFill>
            <a:srgbClr val="E6F1E9"/>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137900" y="4635500"/>
            <a:ext cx="2781300" cy="342392"/>
          </a:xfrm>
          <a:prstGeom prst="rect">
            <a:avLst/>
          </a:prstGeom>
          <a:noFill/>
        </p:spPr>
        <p:txBody>
          <a:bodyPr wrap="none" lIns="0" rIns="0" tIns="0" bIns="0" anchor="t">
            <a:spAutoFit/>
          </a:bodyPr>
          <a:lstStyle/>
          <a:p>
            <a:pPr>
              <a:lnSpc>
                <a:spcPts val="2196"/>
              </a:lnSpc>
              <a:spcBef>
                <a:spcPts val="0"/>
              </a:spcBef>
              <a:spcAft>
                <a:spcPts val="0"/>
              </a:spcAft>
              <a:defRPr sz="1800" b="1">
                <a:solidFill>
                  <a:srgbClr val="087F62"/>
                </a:solidFill>
                <a:latin typeface="Lato"/>
              </a:defRPr>
            </a:pPr>
            <a:r>
              <a:t>54 600 AZN</a:t>
            </a:r>
          </a:p>
        </p:txBody>
      </p:sp>
      <p:sp>
        <p:nvSpPr>
          <p:cNvPr id="42" name="Rectangle 41"/>
          <p:cNvSpPr/>
          <p:nvPr/>
        </p:nvSpPr>
        <p:spPr>
          <a:xfrm>
            <a:off x="584200" y="5067300"/>
            <a:ext cx="4165600" cy="596900"/>
          </a:xfrm>
          <a:prstGeom prst="rect">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7400" y="5232400"/>
            <a:ext cx="3835400" cy="342392"/>
          </a:xfrm>
          <a:prstGeom prst="rect">
            <a:avLst/>
          </a:prstGeom>
          <a:noFill/>
        </p:spPr>
        <p:txBody>
          <a:bodyPr wrap="none" lIns="0" rIns="0" tIns="0" bIns="0" anchor="t">
            <a:spAutoFit/>
          </a:bodyPr>
          <a:lstStyle/>
          <a:p>
            <a:pPr>
              <a:lnSpc>
                <a:spcPts val="2196"/>
              </a:lnSpc>
              <a:spcBef>
                <a:spcPts val="0"/>
              </a:spcBef>
              <a:spcAft>
                <a:spcPts val="0"/>
              </a:spcAft>
              <a:defRPr sz="1800" b="0">
                <a:solidFill>
                  <a:srgbClr val="202B27"/>
                </a:solidFill>
                <a:latin typeface="Lato"/>
              </a:defRPr>
            </a:pPr>
            <a:r>
              <a:t>Çatdırılma</a:t>
            </a:r>
          </a:p>
        </p:txBody>
      </p:sp>
      <p:sp>
        <p:nvSpPr>
          <p:cNvPr id="44" name="Rectangle 43"/>
          <p:cNvSpPr/>
          <p:nvPr/>
        </p:nvSpPr>
        <p:spPr>
          <a:xfrm>
            <a:off x="4749800" y="5067300"/>
            <a:ext cx="3086100" cy="596900"/>
          </a:xfrm>
          <a:prstGeom prst="rect">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953000" y="5232400"/>
            <a:ext cx="2755900" cy="342392"/>
          </a:xfrm>
          <a:prstGeom prst="rect">
            <a:avLst/>
          </a:prstGeom>
          <a:noFill/>
        </p:spPr>
        <p:txBody>
          <a:bodyPr wrap="none" lIns="0" rIns="0" tIns="0" bIns="0" anchor="t">
            <a:spAutoFit/>
          </a:bodyPr>
          <a:lstStyle/>
          <a:p>
            <a:pPr>
              <a:lnSpc>
                <a:spcPts val="2196"/>
              </a:lnSpc>
              <a:spcBef>
                <a:spcPts val="0"/>
              </a:spcBef>
              <a:spcAft>
                <a:spcPts val="0"/>
              </a:spcAft>
              <a:defRPr sz="1800" b="0">
                <a:solidFill>
                  <a:srgbClr val="202B27"/>
                </a:solidFill>
                <a:latin typeface="Lato"/>
              </a:defRPr>
            </a:pPr>
            <a:r>
              <a:t>—</a:t>
            </a:r>
          </a:p>
        </p:txBody>
      </p:sp>
      <p:sp>
        <p:nvSpPr>
          <p:cNvPr id="46" name="Rectangle 45"/>
          <p:cNvSpPr/>
          <p:nvPr/>
        </p:nvSpPr>
        <p:spPr>
          <a:xfrm>
            <a:off x="7835900" y="5067300"/>
            <a:ext cx="3098800" cy="596900"/>
          </a:xfrm>
          <a:prstGeom prst="rect">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39100" y="5232400"/>
            <a:ext cx="2768600" cy="342392"/>
          </a:xfrm>
          <a:prstGeom prst="rect">
            <a:avLst/>
          </a:prstGeom>
          <a:noFill/>
        </p:spPr>
        <p:txBody>
          <a:bodyPr wrap="none" lIns="0" rIns="0" tIns="0" bIns="0" anchor="t">
            <a:spAutoFit/>
          </a:bodyPr>
          <a:lstStyle/>
          <a:p>
            <a:pPr>
              <a:lnSpc>
                <a:spcPts val="2196"/>
              </a:lnSpc>
              <a:spcBef>
                <a:spcPts val="0"/>
              </a:spcBef>
              <a:spcAft>
                <a:spcPts val="0"/>
              </a:spcAft>
              <a:defRPr sz="1800" b="0">
                <a:solidFill>
                  <a:srgbClr val="202B27"/>
                </a:solidFill>
                <a:latin typeface="Lato"/>
              </a:defRPr>
            </a:pPr>
            <a:r>
              <a:t>21 gün</a:t>
            </a:r>
          </a:p>
        </p:txBody>
      </p:sp>
      <p:sp>
        <p:nvSpPr>
          <p:cNvPr id="48" name="Rectangle 47"/>
          <p:cNvSpPr/>
          <p:nvPr/>
        </p:nvSpPr>
        <p:spPr>
          <a:xfrm>
            <a:off x="10934700" y="5067300"/>
            <a:ext cx="3111500" cy="596900"/>
          </a:xfrm>
          <a:prstGeom prst="rect">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1137900" y="5232400"/>
            <a:ext cx="2781300" cy="342392"/>
          </a:xfrm>
          <a:prstGeom prst="rect">
            <a:avLst/>
          </a:prstGeom>
          <a:noFill/>
        </p:spPr>
        <p:txBody>
          <a:bodyPr wrap="none" lIns="0" rIns="0" tIns="0" bIns="0" anchor="t">
            <a:spAutoFit/>
          </a:bodyPr>
          <a:lstStyle/>
          <a:p>
            <a:pPr>
              <a:lnSpc>
                <a:spcPts val="2196"/>
              </a:lnSpc>
              <a:spcBef>
                <a:spcPts val="0"/>
              </a:spcBef>
              <a:spcAft>
                <a:spcPts val="0"/>
              </a:spcAft>
              <a:defRPr sz="1800" b="0">
                <a:solidFill>
                  <a:srgbClr val="202B27"/>
                </a:solidFill>
                <a:latin typeface="Lato"/>
              </a:defRPr>
            </a:pPr>
            <a:r>
              <a:t>14 gün</a:t>
            </a:r>
          </a:p>
        </p:txBody>
      </p:sp>
      <p:sp>
        <p:nvSpPr>
          <p:cNvPr id="50" name="Rounded Rectangle 49"/>
          <p:cNvSpPr/>
          <p:nvPr/>
        </p:nvSpPr>
        <p:spPr>
          <a:xfrm>
            <a:off x="584200" y="6057900"/>
            <a:ext cx="13462000" cy="1143000"/>
          </a:xfrm>
          <a:prstGeom prst="roundRect">
            <a:avLst>
              <a:gd name="adj" fmla="val 8888"/>
            </a:avLst>
          </a:prstGeom>
          <a:solidFill>
            <a:srgbClr val="E6F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6300" y="6261100"/>
            <a:ext cx="3175000" cy="605790"/>
          </a:xfrm>
          <a:prstGeom prst="rect">
            <a:avLst/>
          </a:prstGeom>
          <a:noFill/>
        </p:spPr>
        <p:txBody>
          <a:bodyPr wrap="none" lIns="0" rIns="0" tIns="0" bIns="0" anchor="t">
            <a:spAutoFit/>
          </a:bodyPr>
          <a:lstStyle/>
          <a:p>
            <a:pPr>
              <a:lnSpc>
                <a:spcPts val="4270"/>
              </a:lnSpc>
              <a:spcBef>
                <a:spcPts val="0"/>
              </a:spcBef>
              <a:spcAft>
                <a:spcPts val="0"/>
              </a:spcAft>
              <a:defRPr sz="3500" b="1">
                <a:solidFill>
                  <a:srgbClr val="087F62"/>
                </a:solidFill>
                <a:latin typeface="Lato"/>
              </a:defRPr>
            </a:pPr>
            <a:r>
              <a:t>5 500 AZN</a:t>
            </a:r>
          </a:p>
        </p:txBody>
      </p:sp>
      <p:sp>
        <p:nvSpPr>
          <p:cNvPr id="52" name="TextBox 51"/>
          <p:cNvSpPr txBox="1"/>
          <p:nvPr/>
        </p:nvSpPr>
        <p:spPr>
          <a:xfrm>
            <a:off x="4470400" y="6261100"/>
            <a:ext cx="2286000" cy="605790"/>
          </a:xfrm>
          <a:prstGeom prst="rect">
            <a:avLst/>
          </a:prstGeom>
          <a:noFill/>
        </p:spPr>
        <p:txBody>
          <a:bodyPr wrap="none" lIns="0" rIns="0" tIns="0" bIns="0" anchor="t">
            <a:spAutoFit/>
          </a:bodyPr>
          <a:lstStyle/>
          <a:p>
            <a:pPr>
              <a:lnSpc>
                <a:spcPts val="4270"/>
              </a:lnSpc>
              <a:spcBef>
                <a:spcPts val="0"/>
              </a:spcBef>
              <a:spcAft>
                <a:spcPts val="0"/>
              </a:spcAft>
              <a:defRPr sz="3500" b="1">
                <a:solidFill>
                  <a:srgbClr val="087F62"/>
                </a:solidFill>
                <a:latin typeface="Lato"/>
              </a:defRPr>
            </a:pPr>
            <a:r>
              <a:t>9,65%</a:t>
            </a:r>
          </a:p>
        </p:txBody>
      </p:sp>
      <p:sp>
        <p:nvSpPr>
          <p:cNvPr id="53" name="TextBox 52"/>
          <p:cNvSpPr txBox="1"/>
          <p:nvPr/>
        </p:nvSpPr>
        <p:spPr>
          <a:xfrm>
            <a:off x="7200900" y="6286500"/>
            <a:ext cx="6540500" cy="652272"/>
          </a:xfrm>
          <a:prstGeom prst="rect">
            <a:avLst/>
          </a:prstGeom>
          <a:noFill/>
        </p:spPr>
        <p:txBody>
          <a:bodyPr wrap="none" lIns="0" rIns="0" tIns="0" bIns="0" anchor="t">
            <a:spAutoFit/>
          </a:bodyPr>
          <a:lstStyle/>
          <a:p>
            <a:pPr>
              <a:lnSpc>
                <a:spcPts val="2318"/>
              </a:lnSpc>
              <a:spcBef>
                <a:spcPts val="0"/>
              </a:spcBef>
              <a:spcAft>
                <a:spcPts val="0"/>
              </a:spcAft>
              <a:defRPr sz="1900" b="0">
                <a:solidFill>
                  <a:srgbClr val="164B3C"/>
                </a:solidFill>
                <a:latin typeface="Lato"/>
              </a:defRPr>
            </a:pPr>
            <a:r>
              <a:t>Smeta ilə qalib təklif arasındakı fərq.</a:t>
            </a:r>
          </a:p>
          <a:p>
            <a:pPr>
              <a:lnSpc>
                <a:spcPts val="2318"/>
              </a:lnSpc>
              <a:spcBef>
                <a:spcPts val="0"/>
              </a:spcBef>
              <a:spcAft>
                <a:spcPts val="0"/>
              </a:spcAft>
              <a:defRPr sz="1900" b="0">
                <a:solidFill>
                  <a:srgbClr val="164B3C"/>
                </a:solidFill>
                <a:latin typeface="Lato"/>
              </a:defRPr>
            </a:pPr>
            <a:r>
              <a:t>Seçim qiymət və çatdırılma meyarları ilə əsaslandırılır.</a:t>
            </a:r>
          </a:p>
        </p:txBody>
      </p:sp>
      <p:sp>
        <p:nvSpPr>
          <p:cNvPr id="54" name="TextBox 53"/>
          <p:cNvSpPr txBox="1"/>
          <p:nvPr/>
        </p:nvSpPr>
        <p:spPr>
          <a:xfrm>
            <a:off x="596900" y="7391400"/>
            <a:ext cx="12700000" cy="233934"/>
          </a:xfrm>
          <a:prstGeom prst="rect">
            <a:avLst/>
          </a:prstGeom>
          <a:noFill/>
        </p:spPr>
        <p:txBody>
          <a:bodyPr wrap="none" lIns="0" rIns="0" tIns="0" bIns="0" anchor="t">
            <a:spAutoFit/>
          </a:bodyPr>
          <a:lstStyle/>
          <a:p>
            <a:pPr>
              <a:lnSpc>
                <a:spcPts val="1342"/>
              </a:lnSpc>
              <a:spcBef>
                <a:spcPts val="0"/>
              </a:spcBef>
              <a:spcAft>
                <a:spcPts val="0"/>
              </a:spcAft>
              <a:defRPr sz="1100" b="0">
                <a:solidFill>
                  <a:srgbClr val="607069"/>
                </a:solidFill>
                <a:latin typeface="Lato"/>
              </a:defRPr>
            </a:pPr>
            <a:r>
              <a:t>Nümayiş məlumatlarıdır; real müştəri nəticəsi deyil.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317500"/>
            <a:ext cx="2540000" cy="326898"/>
          </a:xfrm>
          <a:prstGeom prst="rect">
            <a:avLst/>
          </a:prstGeom>
          <a:noFill/>
        </p:spPr>
        <p:txBody>
          <a:bodyPr wrap="none" lIns="0" rIns="0" tIns="0" bIns="0" anchor="t">
            <a:spAutoFit/>
          </a:bodyPr>
          <a:lstStyle/>
          <a:p>
            <a:pPr>
              <a:lnSpc>
                <a:spcPts val="2074"/>
              </a:lnSpc>
              <a:spcBef>
                <a:spcPts val="0"/>
              </a:spcBef>
              <a:spcAft>
                <a:spcPts val="0"/>
              </a:spcAft>
              <a:defRPr sz="1700" b="1">
                <a:solidFill>
                  <a:srgbClr val="087F62"/>
                </a:solidFill>
                <a:latin typeface="Lato"/>
              </a:defRPr>
            </a:pPr>
            <a:r>
              <a:t>Leadprocure</a:t>
            </a:r>
          </a:p>
        </p:txBody>
      </p:sp>
      <p:sp>
        <p:nvSpPr>
          <p:cNvPr id="4" name="TextBox 3"/>
          <p:cNvSpPr txBox="1"/>
          <p:nvPr/>
        </p:nvSpPr>
        <p:spPr>
          <a:xfrm>
            <a:off x="9525000" y="368300"/>
            <a:ext cx="4521200" cy="226187"/>
          </a:xfrm>
          <a:prstGeom prst="rect">
            <a:avLst/>
          </a:prstGeom>
          <a:noFill/>
        </p:spPr>
        <p:txBody>
          <a:bodyPr wrap="none" lIns="0" rIns="0" tIns="0" bIns="0" anchor="t">
            <a:spAutoFit/>
          </a:bodyPr>
          <a:lstStyle/>
          <a:p>
            <a:pPr algn="r">
              <a:lnSpc>
                <a:spcPts val="1281"/>
              </a:lnSpc>
              <a:spcBef>
                <a:spcPts val="0"/>
              </a:spcBef>
              <a:spcAft>
                <a:spcPts val="0"/>
              </a:spcAft>
              <a:defRPr sz="1050" b="0">
                <a:solidFill>
                  <a:srgbClr val="607069"/>
                </a:solidFill>
                <a:latin typeface="Lato"/>
              </a:defRPr>
            </a:pPr>
            <a:r>
              <a:t>QİYMƏTLƏNDİRMƏ VƏ QƏRAR</a:t>
            </a:r>
          </a:p>
        </p:txBody>
      </p:sp>
      <p:cxnSp>
        <p:nvCxnSpPr>
          <p:cNvPr id="5" name="Connector 4"/>
          <p:cNvCxnSpPr/>
          <p:nvPr/>
        </p:nvCxnSpPr>
        <p:spPr>
          <a:xfrm>
            <a:off x="584200" y="762000"/>
            <a:ext cx="13462000" cy="0"/>
          </a:xfrm>
          <a:prstGeom prst="line">
            <a:avLst/>
          </a:prstGeom>
          <a:ln w="12700">
            <a:solidFill>
              <a:srgbClr val="DCE4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079500"/>
            <a:ext cx="13462000" cy="605790"/>
          </a:xfrm>
          <a:prstGeom prst="rect">
            <a:avLst/>
          </a:prstGeom>
          <a:noFill/>
        </p:spPr>
        <p:txBody>
          <a:bodyPr wrap="none" lIns="0" rIns="0" tIns="0" bIns="0" anchor="t">
            <a:spAutoFit/>
          </a:bodyPr>
          <a:lstStyle/>
          <a:p>
            <a:pPr>
              <a:lnSpc>
                <a:spcPts val="4270"/>
              </a:lnSpc>
              <a:spcBef>
                <a:spcPts val="0"/>
              </a:spcBef>
              <a:spcAft>
                <a:spcPts val="0"/>
              </a:spcAft>
              <a:defRPr sz="3500" b="1">
                <a:solidFill>
                  <a:srgbClr val="202B27"/>
                </a:solidFill>
                <a:latin typeface="Lato"/>
              </a:defRPr>
            </a:pPr>
            <a:r>
              <a:t>Qalib seçiminin məntiqi görünür</a:t>
            </a:r>
          </a:p>
        </p:txBody>
      </p:sp>
      <p:sp>
        <p:nvSpPr>
          <p:cNvPr id="7" name="TextBox 6"/>
          <p:cNvSpPr txBox="1"/>
          <p:nvPr/>
        </p:nvSpPr>
        <p:spPr>
          <a:xfrm>
            <a:off x="584200" y="1739900"/>
            <a:ext cx="13462000" cy="326898"/>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Əvvəlcədən müəyyən edilən meyarlar, çəkili bal və lot üzrə qərar.</a:t>
            </a:r>
          </a:p>
        </p:txBody>
      </p:sp>
      <p:sp>
        <p:nvSpPr>
          <p:cNvPr id="8" name="TextBox 7"/>
          <p:cNvSpPr txBox="1"/>
          <p:nvPr/>
        </p:nvSpPr>
        <p:spPr>
          <a:xfrm>
            <a:off x="584200" y="7835900"/>
            <a:ext cx="10160000" cy="210693"/>
          </a:xfrm>
          <a:prstGeom prst="rect">
            <a:avLst/>
          </a:prstGeom>
          <a:noFill/>
        </p:spPr>
        <p:txBody>
          <a:bodyPr wrap="none" lIns="0" rIns="0" tIns="0" bIns="0" anchor="t">
            <a:spAutoFit/>
          </a:bodyPr>
          <a:lstStyle/>
          <a:p>
            <a:pPr>
              <a:lnSpc>
                <a:spcPts val="1159"/>
              </a:lnSpc>
              <a:spcBef>
                <a:spcPts val="0"/>
              </a:spcBef>
              <a:spcAft>
                <a:spcPts val="0"/>
              </a:spcAft>
              <a:defRPr sz="950" b="0">
                <a:solidFill>
                  <a:srgbClr val="607069"/>
                </a:solidFill>
                <a:latin typeface="Lato"/>
              </a:defRPr>
            </a:pPr>
            <a:r>
              <a:t>KORPORATİV SATINALMA / MƏHSUL TƏQDİMATI</a:t>
            </a:r>
          </a:p>
        </p:txBody>
      </p:sp>
      <p:sp>
        <p:nvSpPr>
          <p:cNvPr id="9" name="TextBox 8"/>
          <p:cNvSpPr txBox="1"/>
          <p:nvPr/>
        </p:nvSpPr>
        <p:spPr>
          <a:xfrm>
            <a:off x="13411200" y="7785100"/>
            <a:ext cx="635000" cy="264922"/>
          </a:xfrm>
          <a:prstGeom prst="rect">
            <a:avLst/>
          </a:prstGeom>
          <a:noFill/>
        </p:spPr>
        <p:txBody>
          <a:bodyPr wrap="none" lIns="0" rIns="0" tIns="0" bIns="0" anchor="t">
            <a:spAutoFit/>
          </a:bodyPr>
          <a:lstStyle/>
          <a:p>
            <a:pPr algn="r">
              <a:lnSpc>
                <a:spcPts val="1586"/>
              </a:lnSpc>
              <a:spcBef>
                <a:spcPts val="0"/>
              </a:spcBef>
              <a:spcAft>
                <a:spcPts val="0"/>
              </a:spcAft>
              <a:defRPr sz="1300" b="1">
                <a:solidFill>
                  <a:srgbClr val="087F62"/>
                </a:solidFill>
                <a:latin typeface="Lato"/>
              </a:defRPr>
            </a:pPr>
            <a:r>
              <a:t>11</a:t>
            </a:r>
          </a:p>
        </p:txBody>
      </p:sp>
      <p:sp>
        <p:nvSpPr>
          <p:cNvPr id="10" name="Rounded Rectangle 9"/>
          <p:cNvSpPr/>
          <p:nvPr/>
        </p:nvSpPr>
        <p:spPr>
          <a:xfrm>
            <a:off x="1376567" y="2540000"/>
            <a:ext cx="11877264" cy="3644900"/>
          </a:xfrm>
          <a:prstGeom prst="roundRect">
            <a:avLst>
              <a:gd name="adj" fmla="val 2090"/>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1440067" y="2603500"/>
            <a:ext cx="11750264" cy="3517900"/>
          </a:xfrm>
          <a:prstGeom prst="rect">
            <a:avLst/>
          </a:prstGeom>
        </p:spPr>
      </p:pic>
      <p:sp>
        <p:nvSpPr>
          <p:cNvPr id="12" name="TextBox 11"/>
          <p:cNvSpPr txBox="1"/>
          <p:nvPr/>
        </p:nvSpPr>
        <p:spPr>
          <a:xfrm>
            <a:off x="1440067" y="6248400"/>
            <a:ext cx="11750264" cy="226187"/>
          </a:xfrm>
          <a:prstGeom prst="rect">
            <a:avLst/>
          </a:prstGeom>
          <a:noFill/>
        </p:spPr>
        <p:txBody>
          <a:bodyPr wrap="none" lIns="0" rIns="0" tIns="0" bIns="0" anchor="t">
            <a:spAutoFit/>
          </a:bodyPr>
          <a:lstStyle/>
          <a:p>
            <a:pPr>
              <a:lnSpc>
                <a:spcPts val="1281"/>
              </a:lnSpc>
              <a:spcBef>
                <a:spcPts val="0"/>
              </a:spcBef>
              <a:spcAft>
                <a:spcPts val="0"/>
              </a:spcAft>
              <a:defRPr sz="1050" b="0">
                <a:solidFill>
                  <a:srgbClr val="607069"/>
                </a:solidFill>
                <a:latin typeface="Lato"/>
              </a:defRPr>
            </a:pPr>
            <a:r>
              <a:t>AZ demo interfeysi · ekran fraqmenti</a:t>
            </a:r>
          </a:p>
        </p:txBody>
      </p:sp>
      <p:sp>
        <p:nvSpPr>
          <p:cNvPr id="13" name="TextBox 12"/>
          <p:cNvSpPr txBox="1"/>
          <p:nvPr/>
        </p:nvSpPr>
        <p:spPr>
          <a:xfrm>
            <a:off x="584200" y="6527800"/>
            <a:ext cx="4445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01</a:t>
            </a:r>
          </a:p>
        </p:txBody>
      </p:sp>
      <p:sp>
        <p:nvSpPr>
          <p:cNvPr id="14" name="TextBox 13"/>
          <p:cNvSpPr txBox="1"/>
          <p:nvPr/>
        </p:nvSpPr>
        <p:spPr>
          <a:xfrm>
            <a:off x="1143000" y="6502400"/>
            <a:ext cx="36322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202B27"/>
                </a:solidFill>
                <a:latin typeface="Lato"/>
              </a:defRPr>
            </a:pPr>
            <a:r>
              <a:t>Meyarlar əvvəlcədən</a:t>
            </a:r>
          </a:p>
        </p:txBody>
      </p:sp>
      <p:sp>
        <p:nvSpPr>
          <p:cNvPr id="15" name="TextBox 14"/>
          <p:cNvSpPr txBox="1"/>
          <p:nvPr/>
        </p:nvSpPr>
        <p:spPr>
          <a:xfrm>
            <a:off x="1143000" y="7226300"/>
            <a:ext cx="3632200" cy="311404"/>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Tender yaradılarkən meyarlar sabitlənir.</a:t>
            </a:r>
          </a:p>
        </p:txBody>
      </p:sp>
      <p:sp>
        <p:nvSpPr>
          <p:cNvPr id="16" name="TextBox 15"/>
          <p:cNvSpPr txBox="1"/>
          <p:nvPr/>
        </p:nvSpPr>
        <p:spPr>
          <a:xfrm>
            <a:off x="5181600" y="6527800"/>
            <a:ext cx="4445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02</a:t>
            </a:r>
          </a:p>
        </p:txBody>
      </p:sp>
      <p:sp>
        <p:nvSpPr>
          <p:cNvPr id="17" name="TextBox 16"/>
          <p:cNvSpPr txBox="1"/>
          <p:nvPr/>
        </p:nvSpPr>
        <p:spPr>
          <a:xfrm>
            <a:off x="5740400" y="6502400"/>
            <a:ext cx="36322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202B27"/>
                </a:solidFill>
                <a:latin typeface="Lato"/>
              </a:defRPr>
            </a:pPr>
            <a:r>
              <a:t>İstisna əsaslandırılır</a:t>
            </a:r>
          </a:p>
        </p:txBody>
      </p:sp>
      <p:sp>
        <p:nvSpPr>
          <p:cNvPr id="18" name="TextBox 17"/>
          <p:cNvSpPr txBox="1"/>
          <p:nvPr/>
        </p:nvSpPr>
        <p:spPr>
          <a:xfrm>
            <a:off x="5740400" y="7226300"/>
            <a:ext cx="3632200" cy="559308"/>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Reytinqdən fərqli seçim üçün səbəb</a:t>
            </a:r>
          </a:p>
          <a:p>
            <a:pPr>
              <a:lnSpc>
                <a:spcPts val="1952"/>
              </a:lnSpc>
              <a:spcBef>
                <a:spcPts val="0"/>
              </a:spcBef>
              <a:spcAft>
                <a:spcPts val="0"/>
              </a:spcAft>
              <a:defRPr sz="1600" b="0">
                <a:solidFill>
                  <a:srgbClr val="607069"/>
                </a:solidFill>
                <a:latin typeface="Lato"/>
              </a:defRPr>
            </a:pPr>
            <a:r>
              <a:t>qeydə alınır.</a:t>
            </a:r>
          </a:p>
        </p:txBody>
      </p:sp>
      <p:sp>
        <p:nvSpPr>
          <p:cNvPr id="19" name="TextBox 18"/>
          <p:cNvSpPr txBox="1"/>
          <p:nvPr/>
        </p:nvSpPr>
        <p:spPr>
          <a:xfrm>
            <a:off x="9779000" y="6527800"/>
            <a:ext cx="4445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03</a:t>
            </a:r>
          </a:p>
        </p:txBody>
      </p:sp>
      <p:sp>
        <p:nvSpPr>
          <p:cNvPr id="20" name="TextBox 19"/>
          <p:cNvSpPr txBox="1"/>
          <p:nvPr/>
        </p:nvSpPr>
        <p:spPr>
          <a:xfrm>
            <a:off x="10337800" y="6502400"/>
            <a:ext cx="37084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202B27"/>
                </a:solidFill>
                <a:latin typeface="Lato"/>
              </a:defRPr>
            </a:pPr>
            <a:r>
              <a:t>İzah edilən tövsiyə</a:t>
            </a:r>
          </a:p>
        </p:txBody>
      </p:sp>
      <p:sp>
        <p:nvSpPr>
          <p:cNvPr id="21" name="TextBox 20"/>
          <p:cNvSpPr txBox="1"/>
          <p:nvPr/>
        </p:nvSpPr>
        <p:spPr>
          <a:xfrm>
            <a:off x="10337800" y="7226300"/>
            <a:ext cx="3708400" cy="559308"/>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Qiymət, müddət və tarixçə qərarı</a:t>
            </a:r>
          </a:p>
          <a:p>
            <a:pPr>
              <a:lnSpc>
                <a:spcPts val="1952"/>
              </a:lnSpc>
              <a:spcBef>
                <a:spcPts val="0"/>
              </a:spcBef>
              <a:spcAft>
                <a:spcPts val="0"/>
              </a:spcAft>
              <a:defRPr sz="1600" b="0">
                <a:solidFill>
                  <a:srgbClr val="607069"/>
                </a:solidFill>
                <a:latin typeface="Lato"/>
              </a:defRPr>
            </a:pPr>
            <a:r>
              <a:t>dəstəkləyir.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317500"/>
            <a:ext cx="2540000" cy="326898"/>
          </a:xfrm>
          <a:prstGeom prst="rect">
            <a:avLst/>
          </a:prstGeom>
          <a:noFill/>
        </p:spPr>
        <p:txBody>
          <a:bodyPr wrap="none" lIns="0" rIns="0" tIns="0" bIns="0" anchor="t">
            <a:spAutoFit/>
          </a:bodyPr>
          <a:lstStyle/>
          <a:p>
            <a:pPr>
              <a:lnSpc>
                <a:spcPts val="2074"/>
              </a:lnSpc>
              <a:spcBef>
                <a:spcPts val="0"/>
              </a:spcBef>
              <a:spcAft>
                <a:spcPts val="0"/>
              </a:spcAft>
              <a:defRPr sz="1700" b="1">
                <a:solidFill>
                  <a:srgbClr val="087F62"/>
                </a:solidFill>
                <a:latin typeface="Lato"/>
              </a:defRPr>
            </a:pPr>
            <a:r>
              <a:t>Leadprocure</a:t>
            </a:r>
          </a:p>
        </p:txBody>
      </p:sp>
      <p:sp>
        <p:nvSpPr>
          <p:cNvPr id="4" name="TextBox 3"/>
          <p:cNvSpPr txBox="1"/>
          <p:nvPr/>
        </p:nvSpPr>
        <p:spPr>
          <a:xfrm>
            <a:off x="9525000" y="368300"/>
            <a:ext cx="4521200" cy="226187"/>
          </a:xfrm>
          <a:prstGeom prst="rect">
            <a:avLst/>
          </a:prstGeom>
          <a:noFill/>
        </p:spPr>
        <p:txBody>
          <a:bodyPr wrap="none" lIns="0" rIns="0" tIns="0" bIns="0" anchor="t">
            <a:spAutoFit/>
          </a:bodyPr>
          <a:lstStyle/>
          <a:p>
            <a:pPr algn="r">
              <a:lnSpc>
                <a:spcPts val="1281"/>
              </a:lnSpc>
              <a:spcBef>
                <a:spcPts val="0"/>
              </a:spcBef>
              <a:spcAft>
                <a:spcPts val="0"/>
              </a:spcAft>
              <a:defRPr sz="1050" b="0">
                <a:solidFill>
                  <a:srgbClr val="607069"/>
                </a:solidFill>
                <a:latin typeface="Lato"/>
              </a:defRPr>
            </a:pPr>
            <a:r>
              <a:t>ƏSAS İMKAN / REVERS-AUKSİON</a:t>
            </a:r>
          </a:p>
        </p:txBody>
      </p:sp>
      <p:cxnSp>
        <p:nvCxnSpPr>
          <p:cNvPr id="5" name="Connector 4"/>
          <p:cNvCxnSpPr/>
          <p:nvPr/>
        </p:nvCxnSpPr>
        <p:spPr>
          <a:xfrm>
            <a:off x="584200" y="762000"/>
            <a:ext cx="13462000" cy="0"/>
          </a:xfrm>
          <a:prstGeom prst="line">
            <a:avLst/>
          </a:prstGeom>
          <a:ln w="12700">
            <a:solidFill>
              <a:srgbClr val="DCE4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079500"/>
            <a:ext cx="13462000" cy="605790"/>
          </a:xfrm>
          <a:prstGeom prst="rect">
            <a:avLst/>
          </a:prstGeom>
          <a:noFill/>
        </p:spPr>
        <p:txBody>
          <a:bodyPr wrap="none" lIns="0" rIns="0" tIns="0" bIns="0" anchor="t">
            <a:spAutoFit/>
          </a:bodyPr>
          <a:lstStyle/>
          <a:p>
            <a:pPr>
              <a:lnSpc>
                <a:spcPts val="4270"/>
              </a:lnSpc>
              <a:spcBef>
                <a:spcPts val="0"/>
              </a:spcBef>
              <a:spcAft>
                <a:spcPts val="0"/>
              </a:spcAft>
              <a:defRPr sz="3500" b="1">
                <a:solidFill>
                  <a:srgbClr val="202B27"/>
                </a:solidFill>
                <a:latin typeface="Lato"/>
              </a:defRPr>
            </a:pPr>
            <a:r>
              <a:t>Rəqabət qiyməti addım-addım aşağı salır</a:t>
            </a:r>
          </a:p>
        </p:txBody>
      </p:sp>
      <p:sp>
        <p:nvSpPr>
          <p:cNvPr id="7" name="TextBox 6"/>
          <p:cNvSpPr txBox="1"/>
          <p:nvPr/>
        </p:nvSpPr>
        <p:spPr>
          <a:xfrm>
            <a:off x="584200" y="1739900"/>
            <a:ext cx="13462000" cy="326898"/>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Ən yaxşı təklif, növbəti qiymət həddi və son tarix bir paneldə.</a:t>
            </a:r>
          </a:p>
        </p:txBody>
      </p:sp>
      <p:sp>
        <p:nvSpPr>
          <p:cNvPr id="8" name="TextBox 7"/>
          <p:cNvSpPr txBox="1"/>
          <p:nvPr/>
        </p:nvSpPr>
        <p:spPr>
          <a:xfrm>
            <a:off x="584200" y="7835900"/>
            <a:ext cx="10160000" cy="210693"/>
          </a:xfrm>
          <a:prstGeom prst="rect">
            <a:avLst/>
          </a:prstGeom>
          <a:noFill/>
        </p:spPr>
        <p:txBody>
          <a:bodyPr wrap="none" lIns="0" rIns="0" tIns="0" bIns="0" anchor="t">
            <a:spAutoFit/>
          </a:bodyPr>
          <a:lstStyle/>
          <a:p>
            <a:pPr>
              <a:lnSpc>
                <a:spcPts val="1159"/>
              </a:lnSpc>
              <a:spcBef>
                <a:spcPts val="0"/>
              </a:spcBef>
              <a:spcAft>
                <a:spcPts val="0"/>
              </a:spcAft>
              <a:defRPr sz="950" b="0">
                <a:solidFill>
                  <a:srgbClr val="607069"/>
                </a:solidFill>
                <a:latin typeface="Lato"/>
              </a:defRPr>
            </a:pPr>
            <a:r>
              <a:t>KORPORATİV SATINALMA / MƏHSUL TƏQDİMATI</a:t>
            </a:r>
          </a:p>
        </p:txBody>
      </p:sp>
      <p:sp>
        <p:nvSpPr>
          <p:cNvPr id="9" name="TextBox 8"/>
          <p:cNvSpPr txBox="1"/>
          <p:nvPr/>
        </p:nvSpPr>
        <p:spPr>
          <a:xfrm>
            <a:off x="13411200" y="7785100"/>
            <a:ext cx="635000" cy="264922"/>
          </a:xfrm>
          <a:prstGeom prst="rect">
            <a:avLst/>
          </a:prstGeom>
          <a:noFill/>
        </p:spPr>
        <p:txBody>
          <a:bodyPr wrap="none" lIns="0" rIns="0" tIns="0" bIns="0" anchor="t">
            <a:spAutoFit/>
          </a:bodyPr>
          <a:lstStyle/>
          <a:p>
            <a:pPr algn="r">
              <a:lnSpc>
                <a:spcPts val="1586"/>
              </a:lnSpc>
              <a:spcBef>
                <a:spcPts val="0"/>
              </a:spcBef>
              <a:spcAft>
                <a:spcPts val="0"/>
              </a:spcAft>
              <a:defRPr sz="1300" b="1">
                <a:solidFill>
                  <a:srgbClr val="087F62"/>
                </a:solidFill>
                <a:latin typeface="Lato"/>
              </a:defRPr>
            </a:pPr>
            <a:r>
              <a:t>12</a:t>
            </a:r>
          </a:p>
        </p:txBody>
      </p:sp>
      <p:sp>
        <p:nvSpPr>
          <p:cNvPr id="10" name="Rounded Rectangle 9"/>
          <p:cNvSpPr/>
          <p:nvPr/>
        </p:nvSpPr>
        <p:spPr>
          <a:xfrm>
            <a:off x="520700" y="2617697"/>
            <a:ext cx="13589000" cy="3273605"/>
          </a:xfrm>
          <a:prstGeom prst="roundRect">
            <a:avLst>
              <a:gd name="adj" fmla="val 2327"/>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584200" y="2681197"/>
            <a:ext cx="13462000" cy="3146605"/>
          </a:xfrm>
          <a:prstGeom prst="rect">
            <a:avLst/>
          </a:prstGeom>
        </p:spPr>
      </p:pic>
      <p:sp>
        <p:nvSpPr>
          <p:cNvPr id="12" name="TextBox 11"/>
          <p:cNvSpPr txBox="1"/>
          <p:nvPr/>
        </p:nvSpPr>
        <p:spPr>
          <a:xfrm>
            <a:off x="584200" y="5954802"/>
            <a:ext cx="13462000" cy="226187"/>
          </a:xfrm>
          <a:prstGeom prst="rect">
            <a:avLst/>
          </a:prstGeom>
          <a:noFill/>
        </p:spPr>
        <p:txBody>
          <a:bodyPr wrap="none" lIns="0" rIns="0" tIns="0" bIns="0" anchor="t">
            <a:spAutoFit/>
          </a:bodyPr>
          <a:lstStyle/>
          <a:p>
            <a:pPr>
              <a:lnSpc>
                <a:spcPts val="1281"/>
              </a:lnSpc>
              <a:spcBef>
                <a:spcPts val="0"/>
              </a:spcBef>
              <a:spcAft>
                <a:spcPts val="0"/>
              </a:spcAft>
              <a:defRPr sz="1050" b="0">
                <a:solidFill>
                  <a:srgbClr val="607069"/>
                </a:solidFill>
                <a:latin typeface="Lato"/>
              </a:defRPr>
            </a:pPr>
            <a:r>
              <a:t>AZ demo interfeysi · ekran fraqmenti</a:t>
            </a:r>
          </a:p>
        </p:txBody>
      </p:sp>
      <p:sp>
        <p:nvSpPr>
          <p:cNvPr id="13" name="TextBox 12"/>
          <p:cNvSpPr txBox="1"/>
          <p:nvPr/>
        </p:nvSpPr>
        <p:spPr>
          <a:xfrm>
            <a:off x="584200" y="6337300"/>
            <a:ext cx="4445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01</a:t>
            </a:r>
          </a:p>
        </p:txBody>
      </p:sp>
      <p:sp>
        <p:nvSpPr>
          <p:cNvPr id="14" name="TextBox 13"/>
          <p:cNvSpPr txBox="1"/>
          <p:nvPr/>
        </p:nvSpPr>
        <p:spPr>
          <a:xfrm>
            <a:off x="1143000" y="6311900"/>
            <a:ext cx="37084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202B27"/>
                </a:solidFill>
                <a:latin typeface="Lato"/>
              </a:defRPr>
            </a:pPr>
            <a:r>
              <a:t>Minimum addım</a:t>
            </a:r>
          </a:p>
        </p:txBody>
      </p:sp>
      <p:sp>
        <p:nvSpPr>
          <p:cNvPr id="15" name="TextBox 14"/>
          <p:cNvSpPr txBox="1"/>
          <p:nvPr/>
        </p:nvSpPr>
        <p:spPr>
          <a:xfrm>
            <a:off x="1143000" y="7035800"/>
            <a:ext cx="3708400" cy="559308"/>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Yeni təklif cari ən yaxşı qiymətdən</a:t>
            </a:r>
          </a:p>
          <a:p>
            <a:pPr>
              <a:lnSpc>
                <a:spcPts val="1952"/>
              </a:lnSpc>
              <a:spcBef>
                <a:spcPts val="0"/>
              </a:spcBef>
              <a:spcAft>
                <a:spcPts val="0"/>
              </a:spcAft>
              <a:defRPr sz="1600" b="0">
                <a:solidFill>
                  <a:srgbClr val="607069"/>
                </a:solidFill>
                <a:latin typeface="Lato"/>
              </a:defRPr>
            </a:pPr>
            <a:r>
              <a:t>müəyyən addım aşağı olmalıdır.</a:t>
            </a:r>
          </a:p>
        </p:txBody>
      </p:sp>
      <p:sp>
        <p:nvSpPr>
          <p:cNvPr id="16" name="TextBox 15"/>
          <p:cNvSpPr txBox="1"/>
          <p:nvPr/>
        </p:nvSpPr>
        <p:spPr>
          <a:xfrm>
            <a:off x="5181600" y="6337300"/>
            <a:ext cx="4445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02</a:t>
            </a:r>
          </a:p>
        </p:txBody>
      </p:sp>
      <p:sp>
        <p:nvSpPr>
          <p:cNvPr id="17" name="TextBox 16"/>
          <p:cNvSpPr txBox="1"/>
          <p:nvPr/>
        </p:nvSpPr>
        <p:spPr>
          <a:xfrm>
            <a:off x="5740400" y="6311900"/>
            <a:ext cx="37084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202B27"/>
                </a:solidFill>
                <a:latin typeface="Lato"/>
              </a:defRPr>
            </a:pPr>
            <a:r>
              <a:t>Vaxtın uzadılması</a:t>
            </a:r>
          </a:p>
        </p:txBody>
      </p:sp>
      <p:sp>
        <p:nvSpPr>
          <p:cNvPr id="18" name="TextBox 17"/>
          <p:cNvSpPr txBox="1"/>
          <p:nvPr/>
        </p:nvSpPr>
        <p:spPr>
          <a:xfrm>
            <a:off x="5740400" y="7035800"/>
            <a:ext cx="3708400" cy="559308"/>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Son saniyə təklifləri üçün avtomatik</a:t>
            </a:r>
          </a:p>
          <a:p>
            <a:pPr>
              <a:lnSpc>
                <a:spcPts val="1952"/>
              </a:lnSpc>
              <a:spcBef>
                <a:spcPts val="0"/>
              </a:spcBef>
              <a:spcAft>
                <a:spcPts val="0"/>
              </a:spcAft>
              <a:defRPr sz="1600" b="0">
                <a:solidFill>
                  <a:srgbClr val="607069"/>
                </a:solidFill>
                <a:latin typeface="Lato"/>
              </a:defRPr>
            </a:pPr>
            <a:r>
              <a:t>uzatma qaydası.</a:t>
            </a:r>
          </a:p>
        </p:txBody>
      </p:sp>
      <p:sp>
        <p:nvSpPr>
          <p:cNvPr id="19" name="TextBox 18"/>
          <p:cNvSpPr txBox="1"/>
          <p:nvPr/>
        </p:nvSpPr>
        <p:spPr>
          <a:xfrm>
            <a:off x="9779000" y="6337300"/>
            <a:ext cx="4445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03</a:t>
            </a:r>
          </a:p>
        </p:txBody>
      </p:sp>
      <p:sp>
        <p:nvSpPr>
          <p:cNvPr id="20" name="TextBox 19"/>
          <p:cNvSpPr txBox="1"/>
          <p:nvPr/>
        </p:nvSpPr>
        <p:spPr>
          <a:xfrm>
            <a:off x="10337800" y="6311900"/>
            <a:ext cx="37084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202B27"/>
                </a:solidFill>
                <a:latin typeface="Lato"/>
              </a:defRPr>
            </a:pPr>
            <a:r>
              <a:t>Rəqabətin görünməsi</a:t>
            </a:r>
          </a:p>
        </p:txBody>
      </p:sp>
      <p:sp>
        <p:nvSpPr>
          <p:cNvPr id="21" name="TextBox 20"/>
          <p:cNvSpPr txBox="1"/>
          <p:nvPr/>
        </p:nvSpPr>
        <p:spPr>
          <a:xfrm>
            <a:off x="10337800" y="7035800"/>
            <a:ext cx="3708400" cy="311404"/>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Təchizatçı cari ən yaxşı qiyməti izləyir.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317500"/>
            <a:ext cx="2540000" cy="326898"/>
          </a:xfrm>
          <a:prstGeom prst="rect">
            <a:avLst/>
          </a:prstGeom>
          <a:noFill/>
        </p:spPr>
        <p:txBody>
          <a:bodyPr wrap="none" lIns="0" rIns="0" tIns="0" bIns="0" anchor="t">
            <a:spAutoFit/>
          </a:bodyPr>
          <a:lstStyle/>
          <a:p>
            <a:pPr>
              <a:lnSpc>
                <a:spcPts val="2074"/>
              </a:lnSpc>
              <a:spcBef>
                <a:spcPts val="0"/>
              </a:spcBef>
              <a:spcAft>
                <a:spcPts val="0"/>
              </a:spcAft>
              <a:defRPr sz="1700" b="1">
                <a:solidFill>
                  <a:srgbClr val="087F62"/>
                </a:solidFill>
                <a:latin typeface="Lato"/>
              </a:defRPr>
            </a:pPr>
            <a:r>
              <a:t>Leadprocure</a:t>
            </a:r>
          </a:p>
        </p:txBody>
      </p:sp>
      <p:sp>
        <p:nvSpPr>
          <p:cNvPr id="4" name="TextBox 3"/>
          <p:cNvSpPr txBox="1"/>
          <p:nvPr/>
        </p:nvSpPr>
        <p:spPr>
          <a:xfrm>
            <a:off x="9525000" y="368300"/>
            <a:ext cx="4521200" cy="226187"/>
          </a:xfrm>
          <a:prstGeom prst="rect">
            <a:avLst/>
          </a:prstGeom>
          <a:noFill/>
        </p:spPr>
        <p:txBody>
          <a:bodyPr wrap="none" lIns="0" rIns="0" tIns="0" bIns="0" anchor="t">
            <a:spAutoFit/>
          </a:bodyPr>
          <a:lstStyle/>
          <a:p>
            <a:pPr algn="r">
              <a:lnSpc>
                <a:spcPts val="1281"/>
              </a:lnSpc>
              <a:spcBef>
                <a:spcPts val="0"/>
              </a:spcBef>
              <a:spcAft>
                <a:spcPts val="0"/>
              </a:spcAft>
              <a:defRPr sz="1050" b="0">
                <a:solidFill>
                  <a:srgbClr val="607069"/>
                </a:solidFill>
                <a:latin typeface="Lato"/>
              </a:defRPr>
            </a:pPr>
            <a:r>
              <a:t>TƏCHİZATÇI İŞTİRAKI</a:t>
            </a:r>
          </a:p>
        </p:txBody>
      </p:sp>
      <p:cxnSp>
        <p:nvCxnSpPr>
          <p:cNvPr id="5" name="Connector 4"/>
          <p:cNvCxnSpPr/>
          <p:nvPr/>
        </p:nvCxnSpPr>
        <p:spPr>
          <a:xfrm>
            <a:off x="584200" y="762000"/>
            <a:ext cx="13462000" cy="0"/>
          </a:xfrm>
          <a:prstGeom prst="line">
            <a:avLst/>
          </a:prstGeom>
          <a:ln w="12700">
            <a:solidFill>
              <a:srgbClr val="DCE4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079500"/>
            <a:ext cx="13462000" cy="605790"/>
          </a:xfrm>
          <a:prstGeom prst="rect">
            <a:avLst/>
          </a:prstGeom>
          <a:noFill/>
        </p:spPr>
        <p:txBody>
          <a:bodyPr wrap="none" lIns="0" rIns="0" tIns="0" bIns="0" anchor="t">
            <a:spAutoFit/>
          </a:bodyPr>
          <a:lstStyle/>
          <a:p>
            <a:pPr>
              <a:lnSpc>
                <a:spcPts val="4270"/>
              </a:lnSpc>
              <a:spcBef>
                <a:spcPts val="0"/>
              </a:spcBef>
              <a:spcAft>
                <a:spcPts val="0"/>
              </a:spcAft>
              <a:defRPr sz="3500" b="1">
                <a:solidFill>
                  <a:srgbClr val="202B27"/>
                </a:solidFill>
                <a:latin typeface="Lato"/>
              </a:defRPr>
            </a:pPr>
            <a:r>
              <a:t>Dəvətdən cavaba qədər izləmə avtomatlaşdırılır</a:t>
            </a:r>
          </a:p>
        </p:txBody>
      </p:sp>
      <p:sp>
        <p:nvSpPr>
          <p:cNvPr id="7" name="TextBox 6"/>
          <p:cNvSpPr txBox="1"/>
          <p:nvPr/>
        </p:nvSpPr>
        <p:spPr>
          <a:xfrm>
            <a:off x="584200" y="1739900"/>
            <a:ext cx="13462000" cy="326898"/>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Təklif verməmiş təchizatçılara planlı xatırlatmalar.</a:t>
            </a:r>
          </a:p>
        </p:txBody>
      </p:sp>
      <p:sp>
        <p:nvSpPr>
          <p:cNvPr id="8" name="TextBox 7"/>
          <p:cNvSpPr txBox="1"/>
          <p:nvPr/>
        </p:nvSpPr>
        <p:spPr>
          <a:xfrm>
            <a:off x="584200" y="7835900"/>
            <a:ext cx="10160000" cy="210693"/>
          </a:xfrm>
          <a:prstGeom prst="rect">
            <a:avLst/>
          </a:prstGeom>
          <a:noFill/>
        </p:spPr>
        <p:txBody>
          <a:bodyPr wrap="none" lIns="0" rIns="0" tIns="0" bIns="0" anchor="t">
            <a:spAutoFit/>
          </a:bodyPr>
          <a:lstStyle/>
          <a:p>
            <a:pPr>
              <a:lnSpc>
                <a:spcPts val="1159"/>
              </a:lnSpc>
              <a:spcBef>
                <a:spcPts val="0"/>
              </a:spcBef>
              <a:spcAft>
                <a:spcPts val="0"/>
              </a:spcAft>
              <a:defRPr sz="950" b="0">
                <a:solidFill>
                  <a:srgbClr val="607069"/>
                </a:solidFill>
                <a:latin typeface="Lato"/>
              </a:defRPr>
            </a:pPr>
            <a:r>
              <a:t>KORPORATİV SATINALMA / MƏHSUL TƏQDİMATI</a:t>
            </a:r>
          </a:p>
        </p:txBody>
      </p:sp>
      <p:sp>
        <p:nvSpPr>
          <p:cNvPr id="9" name="TextBox 8"/>
          <p:cNvSpPr txBox="1"/>
          <p:nvPr/>
        </p:nvSpPr>
        <p:spPr>
          <a:xfrm>
            <a:off x="13411200" y="7785100"/>
            <a:ext cx="635000" cy="264922"/>
          </a:xfrm>
          <a:prstGeom prst="rect">
            <a:avLst/>
          </a:prstGeom>
          <a:noFill/>
        </p:spPr>
        <p:txBody>
          <a:bodyPr wrap="none" lIns="0" rIns="0" tIns="0" bIns="0" anchor="t">
            <a:spAutoFit/>
          </a:bodyPr>
          <a:lstStyle/>
          <a:p>
            <a:pPr algn="r">
              <a:lnSpc>
                <a:spcPts val="1586"/>
              </a:lnSpc>
              <a:spcBef>
                <a:spcPts val="0"/>
              </a:spcBef>
              <a:spcAft>
                <a:spcPts val="0"/>
              </a:spcAft>
              <a:defRPr sz="1300" b="1">
                <a:solidFill>
                  <a:srgbClr val="087F62"/>
                </a:solidFill>
                <a:latin typeface="Lato"/>
              </a:defRPr>
            </a:pPr>
            <a:r>
              <a:t>13</a:t>
            </a:r>
          </a:p>
        </p:txBody>
      </p:sp>
      <p:sp>
        <p:nvSpPr>
          <p:cNvPr id="10" name="Rounded Rectangle 9"/>
          <p:cNvSpPr/>
          <p:nvPr/>
        </p:nvSpPr>
        <p:spPr>
          <a:xfrm>
            <a:off x="1185220" y="2616200"/>
            <a:ext cx="12259959" cy="3810000"/>
          </a:xfrm>
          <a:prstGeom prst="roundRect">
            <a:avLst>
              <a:gd name="adj" fmla="val 2000"/>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1248720" y="2679700"/>
            <a:ext cx="12132959" cy="3683000"/>
          </a:xfrm>
          <a:prstGeom prst="rect">
            <a:avLst/>
          </a:prstGeom>
        </p:spPr>
      </p:pic>
      <p:sp>
        <p:nvSpPr>
          <p:cNvPr id="12" name="TextBox 11"/>
          <p:cNvSpPr txBox="1"/>
          <p:nvPr/>
        </p:nvSpPr>
        <p:spPr>
          <a:xfrm>
            <a:off x="1248720" y="6489700"/>
            <a:ext cx="12132959" cy="226187"/>
          </a:xfrm>
          <a:prstGeom prst="rect">
            <a:avLst/>
          </a:prstGeom>
          <a:noFill/>
        </p:spPr>
        <p:txBody>
          <a:bodyPr wrap="none" lIns="0" rIns="0" tIns="0" bIns="0" anchor="t">
            <a:spAutoFit/>
          </a:bodyPr>
          <a:lstStyle/>
          <a:p>
            <a:pPr>
              <a:lnSpc>
                <a:spcPts val="1281"/>
              </a:lnSpc>
              <a:spcBef>
                <a:spcPts val="0"/>
              </a:spcBef>
              <a:spcAft>
                <a:spcPts val="0"/>
              </a:spcAft>
              <a:defRPr sz="1050" b="0">
                <a:solidFill>
                  <a:srgbClr val="607069"/>
                </a:solidFill>
                <a:latin typeface="Lato"/>
              </a:defRPr>
            </a:pPr>
            <a:r>
              <a:t>AZ demo interfeysi · ekran fraqmenti</a:t>
            </a:r>
          </a:p>
        </p:txBody>
      </p:sp>
      <p:sp>
        <p:nvSpPr>
          <p:cNvPr id="13" name="TextBox 12"/>
          <p:cNvSpPr txBox="1"/>
          <p:nvPr/>
        </p:nvSpPr>
        <p:spPr>
          <a:xfrm>
            <a:off x="584200" y="6985000"/>
            <a:ext cx="20320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164B3C"/>
                </a:solidFill>
                <a:latin typeface="Lato"/>
              </a:defRPr>
            </a:pPr>
            <a:r>
              <a:t>Dəvət</a:t>
            </a:r>
          </a:p>
        </p:txBody>
      </p:sp>
      <p:sp>
        <p:nvSpPr>
          <p:cNvPr id="14" name="TextBox 13"/>
          <p:cNvSpPr txBox="1"/>
          <p:nvPr/>
        </p:nvSpPr>
        <p:spPr>
          <a:xfrm>
            <a:off x="2667000" y="6985000"/>
            <a:ext cx="508000" cy="419862"/>
          </a:xfrm>
          <a:prstGeom prst="rect">
            <a:avLst/>
          </a:prstGeom>
          <a:noFill/>
        </p:spPr>
        <p:txBody>
          <a:bodyPr wrap="none" lIns="0" rIns="0" tIns="0" bIns="0" anchor="t">
            <a:spAutoFit/>
          </a:bodyPr>
          <a:lstStyle/>
          <a:p>
            <a:pPr>
              <a:lnSpc>
                <a:spcPts val="2806"/>
              </a:lnSpc>
              <a:spcBef>
                <a:spcPts val="0"/>
              </a:spcBef>
              <a:spcAft>
                <a:spcPts val="0"/>
              </a:spcAft>
              <a:defRPr sz="2300" b="0">
                <a:solidFill>
                  <a:srgbClr val="087F62"/>
                </a:solidFill>
                <a:latin typeface="Lato"/>
              </a:defRPr>
            </a:pPr>
            <a:r>
              <a:t>→</a:t>
            </a:r>
          </a:p>
        </p:txBody>
      </p:sp>
      <p:sp>
        <p:nvSpPr>
          <p:cNvPr id="15" name="TextBox 14"/>
          <p:cNvSpPr txBox="1"/>
          <p:nvPr/>
        </p:nvSpPr>
        <p:spPr>
          <a:xfrm>
            <a:off x="3441700" y="6985000"/>
            <a:ext cx="33020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164B3C"/>
                </a:solidFill>
                <a:latin typeface="Lato"/>
              </a:defRPr>
            </a:pPr>
            <a:r>
              <a:t>Planlı xatırlatma</a:t>
            </a:r>
          </a:p>
        </p:txBody>
      </p:sp>
      <p:sp>
        <p:nvSpPr>
          <p:cNvPr id="16" name="TextBox 15"/>
          <p:cNvSpPr txBox="1"/>
          <p:nvPr/>
        </p:nvSpPr>
        <p:spPr>
          <a:xfrm>
            <a:off x="7086600" y="6985000"/>
            <a:ext cx="508000" cy="419862"/>
          </a:xfrm>
          <a:prstGeom prst="rect">
            <a:avLst/>
          </a:prstGeom>
          <a:noFill/>
        </p:spPr>
        <p:txBody>
          <a:bodyPr wrap="none" lIns="0" rIns="0" tIns="0" bIns="0" anchor="t">
            <a:spAutoFit/>
          </a:bodyPr>
          <a:lstStyle/>
          <a:p>
            <a:pPr>
              <a:lnSpc>
                <a:spcPts val="2806"/>
              </a:lnSpc>
              <a:spcBef>
                <a:spcPts val="0"/>
              </a:spcBef>
              <a:spcAft>
                <a:spcPts val="0"/>
              </a:spcAft>
              <a:defRPr sz="2300" b="0">
                <a:solidFill>
                  <a:srgbClr val="087F62"/>
                </a:solidFill>
                <a:latin typeface="Lato"/>
              </a:defRPr>
            </a:pPr>
            <a:r>
              <a:t>→</a:t>
            </a:r>
          </a:p>
        </p:txBody>
      </p:sp>
      <p:sp>
        <p:nvSpPr>
          <p:cNvPr id="17" name="TextBox 16"/>
          <p:cNvSpPr txBox="1"/>
          <p:nvPr/>
        </p:nvSpPr>
        <p:spPr>
          <a:xfrm>
            <a:off x="8001000" y="6985000"/>
            <a:ext cx="31750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164B3C"/>
                </a:solidFill>
                <a:latin typeface="Lato"/>
              </a:defRPr>
            </a:pPr>
            <a:r>
              <a:t>Təklif daxil olur</a:t>
            </a:r>
          </a:p>
        </p:txBody>
      </p:sp>
      <p:sp>
        <p:nvSpPr>
          <p:cNvPr id="18" name="TextBox 17"/>
          <p:cNvSpPr txBox="1"/>
          <p:nvPr/>
        </p:nvSpPr>
        <p:spPr>
          <a:xfrm>
            <a:off x="11480800" y="6985000"/>
            <a:ext cx="508000" cy="419862"/>
          </a:xfrm>
          <a:prstGeom prst="rect">
            <a:avLst/>
          </a:prstGeom>
          <a:noFill/>
        </p:spPr>
        <p:txBody>
          <a:bodyPr wrap="none" lIns="0" rIns="0" tIns="0" bIns="0" anchor="t">
            <a:spAutoFit/>
          </a:bodyPr>
          <a:lstStyle/>
          <a:p>
            <a:pPr>
              <a:lnSpc>
                <a:spcPts val="2806"/>
              </a:lnSpc>
              <a:spcBef>
                <a:spcPts val="0"/>
              </a:spcBef>
              <a:spcAft>
                <a:spcPts val="0"/>
              </a:spcAft>
              <a:defRPr sz="2300" b="0">
                <a:solidFill>
                  <a:srgbClr val="087F62"/>
                </a:solidFill>
                <a:latin typeface="Lato"/>
              </a:defRPr>
            </a:pPr>
            <a:r>
              <a:t>→</a:t>
            </a:r>
          </a:p>
        </p:txBody>
      </p:sp>
      <p:sp>
        <p:nvSpPr>
          <p:cNvPr id="19" name="TextBox 18"/>
          <p:cNvSpPr txBox="1"/>
          <p:nvPr/>
        </p:nvSpPr>
        <p:spPr>
          <a:xfrm>
            <a:off x="12192000" y="6985000"/>
            <a:ext cx="1841500" cy="373380"/>
          </a:xfrm>
          <a:prstGeom prst="rect">
            <a:avLst/>
          </a:prstGeom>
          <a:noFill/>
        </p:spPr>
        <p:txBody>
          <a:bodyPr wrap="none" lIns="0" rIns="0" tIns="0" bIns="0" anchor="t">
            <a:spAutoFit/>
          </a:bodyPr>
          <a:lstStyle/>
          <a:p>
            <a:pPr>
              <a:lnSpc>
                <a:spcPts val="2440"/>
              </a:lnSpc>
              <a:spcBef>
                <a:spcPts val="0"/>
              </a:spcBef>
              <a:spcAft>
                <a:spcPts val="0"/>
              </a:spcAft>
              <a:defRPr sz="2000" b="1">
                <a:solidFill>
                  <a:srgbClr val="164B3C"/>
                </a:solidFill>
                <a:latin typeface="Lato"/>
              </a:defRPr>
            </a:pPr>
            <a:r>
              <a:t>Zəncir dayanır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317500"/>
            <a:ext cx="2540000" cy="326898"/>
          </a:xfrm>
          <a:prstGeom prst="rect">
            <a:avLst/>
          </a:prstGeom>
          <a:noFill/>
        </p:spPr>
        <p:txBody>
          <a:bodyPr wrap="none" lIns="0" rIns="0" tIns="0" bIns="0" anchor="t">
            <a:spAutoFit/>
          </a:bodyPr>
          <a:lstStyle/>
          <a:p>
            <a:pPr>
              <a:lnSpc>
                <a:spcPts val="2074"/>
              </a:lnSpc>
              <a:spcBef>
                <a:spcPts val="0"/>
              </a:spcBef>
              <a:spcAft>
                <a:spcPts val="0"/>
              </a:spcAft>
              <a:defRPr sz="1700" b="1">
                <a:solidFill>
                  <a:srgbClr val="087F62"/>
                </a:solidFill>
                <a:latin typeface="Lato"/>
              </a:defRPr>
            </a:pPr>
            <a:r>
              <a:t>Leadprocure</a:t>
            </a:r>
          </a:p>
        </p:txBody>
      </p:sp>
      <p:sp>
        <p:nvSpPr>
          <p:cNvPr id="4" name="TextBox 3"/>
          <p:cNvSpPr txBox="1"/>
          <p:nvPr/>
        </p:nvSpPr>
        <p:spPr>
          <a:xfrm>
            <a:off x="9525000" y="368300"/>
            <a:ext cx="4521200" cy="226187"/>
          </a:xfrm>
          <a:prstGeom prst="rect">
            <a:avLst/>
          </a:prstGeom>
          <a:noFill/>
        </p:spPr>
        <p:txBody>
          <a:bodyPr wrap="none" lIns="0" rIns="0" tIns="0" bIns="0" anchor="t">
            <a:spAutoFit/>
          </a:bodyPr>
          <a:lstStyle/>
          <a:p>
            <a:pPr algn="r">
              <a:lnSpc>
                <a:spcPts val="1281"/>
              </a:lnSpc>
              <a:spcBef>
                <a:spcPts val="0"/>
              </a:spcBef>
              <a:spcAft>
                <a:spcPts val="0"/>
              </a:spcAft>
              <a:defRPr sz="1050" b="0">
                <a:solidFill>
                  <a:srgbClr val="607069"/>
                </a:solidFill>
                <a:latin typeface="Lato"/>
              </a:defRPr>
            </a:pPr>
            <a:r>
              <a:t>MÜQAVİLƏ VƏ İCRA</a:t>
            </a:r>
          </a:p>
        </p:txBody>
      </p:sp>
      <p:cxnSp>
        <p:nvCxnSpPr>
          <p:cNvPr id="5" name="Connector 4"/>
          <p:cNvCxnSpPr/>
          <p:nvPr/>
        </p:nvCxnSpPr>
        <p:spPr>
          <a:xfrm>
            <a:off x="584200" y="762000"/>
            <a:ext cx="13462000" cy="0"/>
          </a:xfrm>
          <a:prstGeom prst="line">
            <a:avLst/>
          </a:prstGeom>
          <a:ln w="12700">
            <a:solidFill>
              <a:srgbClr val="DCE4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079500"/>
            <a:ext cx="13462000" cy="605790"/>
          </a:xfrm>
          <a:prstGeom prst="rect">
            <a:avLst/>
          </a:prstGeom>
          <a:noFill/>
        </p:spPr>
        <p:txBody>
          <a:bodyPr wrap="none" lIns="0" rIns="0" tIns="0" bIns="0" anchor="t">
            <a:spAutoFit/>
          </a:bodyPr>
          <a:lstStyle/>
          <a:p>
            <a:pPr>
              <a:lnSpc>
                <a:spcPts val="4270"/>
              </a:lnSpc>
              <a:spcBef>
                <a:spcPts val="0"/>
              </a:spcBef>
              <a:spcAft>
                <a:spcPts val="0"/>
              </a:spcAft>
              <a:defRPr sz="3500" b="1">
                <a:solidFill>
                  <a:srgbClr val="202B27"/>
                </a:solidFill>
                <a:latin typeface="Lato"/>
              </a:defRPr>
            </a:pPr>
            <a:r>
              <a:t>Qalib təklif icra edilən sifarişə çevrilir</a:t>
            </a:r>
          </a:p>
        </p:txBody>
      </p:sp>
      <p:sp>
        <p:nvSpPr>
          <p:cNvPr id="7" name="TextBox 6"/>
          <p:cNvSpPr txBox="1"/>
          <p:nvPr/>
        </p:nvSpPr>
        <p:spPr>
          <a:xfrm>
            <a:off x="584200" y="1739900"/>
            <a:ext cx="13462000" cy="326898"/>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Müqavilə, qiymət şərtləri, PO və çatdırılma mərhələləri əlaqəlidir.</a:t>
            </a:r>
          </a:p>
        </p:txBody>
      </p:sp>
      <p:sp>
        <p:nvSpPr>
          <p:cNvPr id="8" name="TextBox 7"/>
          <p:cNvSpPr txBox="1"/>
          <p:nvPr/>
        </p:nvSpPr>
        <p:spPr>
          <a:xfrm>
            <a:off x="584200" y="7835900"/>
            <a:ext cx="10160000" cy="210693"/>
          </a:xfrm>
          <a:prstGeom prst="rect">
            <a:avLst/>
          </a:prstGeom>
          <a:noFill/>
        </p:spPr>
        <p:txBody>
          <a:bodyPr wrap="none" lIns="0" rIns="0" tIns="0" bIns="0" anchor="t">
            <a:spAutoFit/>
          </a:bodyPr>
          <a:lstStyle/>
          <a:p>
            <a:pPr>
              <a:lnSpc>
                <a:spcPts val="1159"/>
              </a:lnSpc>
              <a:spcBef>
                <a:spcPts val="0"/>
              </a:spcBef>
              <a:spcAft>
                <a:spcPts val="0"/>
              </a:spcAft>
              <a:defRPr sz="950" b="0">
                <a:solidFill>
                  <a:srgbClr val="607069"/>
                </a:solidFill>
                <a:latin typeface="Lato"/>
              </a:defRPr>
            </a:pPr>
            <a:r>
              <a:t>KORPORATİV SATINALMA / MƏHSUL TƏQDİMATI</a:t>
            </a:r>
          </a:p>
        </p:txBody>
      </p:sp>
      <p:sp>
        <p:nvSpPr>
          <p:cNvPr id="9" name="TextBox 8"/>
          <p:cNvSpPr txBox="1"/>
          <p:nvPr/>
        </p:nvSpPr>
        <p:spPr>
          <a:xfrm>
            <a:off x="13411200" y="7785100"/>
            <a:ext cx="635000" cy="264922"/>
          </a:xfrm>
          <a:prstGeom prst="rect">
            <a:avLst/>
          </a:prstGeom>
          <a:noFill/>
        </p:spPr>
        <p:txBody>
          <a:bodyPr wrap="none" lIns="0" rIns="0" tIns="0" bIns="0" anchor="t">
            <a:spAutoFit/>
          </a:bodyPr>
          <a:lstStyle/>
          <a:p>
            <a:pPr algn="r">
              <a:lnSpc>
                <a:spcPts val="1586"/>
              </a:lnSpc>
              <a:spcBef>
                <a:spcPts val="0"/>
              </a:spcBef>
              <a:spcAft>
                <a:spcPts val="0"/>
              </a:spcAft>
              <a:defRPr sz="1300" b="1">
                <a:solidFill>
                  <a:srgbClr val="087F62"/>
                </a:solidFill>
                <a:latin typeface="Lato"/>
              </a:defRPr>
            </a:pPr>
            <a:r>
              <a:t>14</a:t>
            </a:r>
          </a:p>
        </p:txBody>
      </p:sp>
      <p:sp>
        <p:nvSpPr>
          <p:cNvPr id="10" name="Rounded Rectangle 9"/>
          <p:cNvSpPr/>
          <p:nvPr/>
        </p:nvSpPr>
        <p:spPr>
          <a:xfrm>
            <a:off x="3204765" y="2552700"/>
            <a:ext cx="8220868" cy="4051300"/>
          </a:xfrm>
          <a:prstGeom prst="roundRect">
            <a:avLst>
              <a:gd name="adj" fmla="val 1880"/>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3268265" y="2616200"/>
            <a:ext cx="8093868" cy="3924300"/>
          </a:xfrm>
          <a:prstGeom prst="rect">
            <a:avLst/>
          </a:prstGeom>
        </p:spPr>
      </p:pic>
      <p:sp>
        <p:nvSpPr>
          <p:cNvPr id="12" name="TextBox 11"/>
          <p:cNvSpPr txBox="1"/>
          <p:nvPr/>
        </p:nvSpPr>
        <p:spPr>
          <a:xfrm>
            <a:off x="3268265" y="6667500"/>
            <a:ext cx="8093868" cy="226187"/>
          </a:xfrm>
          <a:prstGeom prst="rect">
            <a:avLst/>
          </a:prstGeom>
          <a:noFill/>
        </p:spPr>
        <p:txBody>
          <a:bodyPr wrap="none" lIns="0" rIns="0" tIns="0" bIns="0" anchor="t">
            <a:spAutoFit/>
          </a:bodyPr>
          <a:lstStyle/>
          <a:p>
            <a:pPr>
              <a:lnSpc>
                <a:spcPts val="1281"/>
              </a:lnSpc>
              <a:spcBef>
                <a:spcPts val="0"/>
              </a:spcBef>
              <a:spcAft>
                <a:spcPts val="0"/>
              </a:spcAft>
              <a:defRPr sz="1050" b="0">
                <a:solidFill>
                  <a:srgbClr val="607069"/>
                </a:solidFill>
                <a:latin typeface="Lato"/>
              </a:defRPr>
            </a:pPr>
            <a:r>
              <a:t>AZ demo interfeysi · ekran fraqmenti</a:t>
            </a:r>
          </a:p>
        </p:txBody>
      </p:sp>
      <p:sp>
        <p:nvSpPr>
          <p:cNvPr id="13" name="TextBox 12"/>
          <p:cNvSpPr txBox="1"/>
          <p:nvPr/>
        </p:nvSpPr>
        <p:spPr>
          <a:xfrm>
            <a:off x="584200" y="7023100"/>
            <a:ext cx="27940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087F62"/>
                </a:solidFill>
                <a:latin typeface="Lato"/>
              </a:defRPr>
            </a:pPr>
            <a:r>
              <a:t>Müqavilə</a:t>
            </a:r>
          </a:p>
        </p:txBody>
      </p:sp>
      <p:sp>
        <p:nvSpPr>
          <p:cNvPr id="14" name="TextBox 13"/>
          <p:cNvSpPr txBox="1"/>
          <p:nvPr/>
        </p:nvSpPr>
        <p:spPr>
          <a:xfrm>
            <a:off x="3556000" y="7023100"/>
            <a:ext cx="508000" cy="419862"/>
          </a:xfrm>
          <a:prstGeom prst="rect">
            <a:avLst/>
          </a:prstGeom>
          <a:noFill/>
        </p:spPr>
        <p:txBody>
          <a:bodyPr wrap="none" lIns="0" rIns="0" tIns="0" bIns="0" anchor="t">
            <a:spAutoFit/>
          </a:bodyPr>
          <a:lstStyle/>
          <a:p>
            <a:pPr>
              <a:lnSpc>
                <a:spcPts val="2806"/>
              </a:lnSpc>
              <a:spcBef>
                <a:spcPts val="0"/>
              </a:spcBef>
              <a:spcAft>
                <a:spcPts val="0"/>
              </a:spcAft>
              <a:defRPr sz="2300" b="0">
                <a:solidFill>
                  <a:srgbClr val="087F62"/>
                </a:solidFill>
                <a:latin typeface="Lato"/>
              </a:defRPr>
            </a:pPr>
            <a:r>
              <a:t>→</a:t>
            </a:r>
          </a:p>
        </p:txBody>
      </p:sp>
      <p:sp>
        <p:nvSpPr>
          <p:cNvPr id="15" name="TextBox 14"/>
          <p:cNvSpPr txBox="1"/>
          <p:nvPr/>
        </p:nvSpPr>
        <p:spPr>
          <a:xfrm>
            <a:off x="4559300" y="7023100"/>
            <a:ext cx="19050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087F62"/>
                </a:solidFill>
                <a:latin typeface="Lato"/>
              </a:defRPr>
            </a:pPr>
            <a:r>
              <a:t>PO</a:t>
            </a:r>
          </a:p>
        </p:txBody>
      </p:sp>
      <p:sp>
        <p:nvSpPr>
          <p:cNvPr id="16" name="TextBox 15"/>
          <p:cNvSpPr txBox="1"/>
          <p:nvPr/>
        </p:nvSpPr>
        <p:spPr>
          <a:xfrm>
            <a:off x="6870700" y="7023100"/>
            <a:ext cx="508000" cy="419862"/>
          </a:xfrm>
          <a:prstGeom prst="rect">
            <a:avLst/>
          </a:prstGeom>
          <a:noFill/>
        </p:spPr>
        <p:txBody>
          <a:bodyPr wrap="none" lIns="0" rIns="0" tIns="0" bIns="0" anchor="t">
            <a:spAutoFit/>
          </a:bodyPr>
          <a:lstStyle/>
          <a:p>
            <a:pPr>
              <a:lnSpc>
                <a:spcPts val="2806"/>
              </a:lnSpc>
              <a:spcBef>
                <a:spcPts val="0"/>
              </a:spcBef>
              <a:spcAft>
                <a:spcPts val="0"/>
              </a:spcAft>
              <a:defRPr sz="2300" b="0">
                <a:solidFill>
                  <a:srgbClr val="087F62"/>
                </a:solidFill>
                <a:latin typeface="Lato"/>
              </a:defRPr>
            </a:pPr>
            <a:r>
              <a:t>→</a:t>
            </a:r>
          </a:p>
        </p:txBody>
      </p:sp>
      <p:sp>
        <p:nvSpPr>
          <p:cNvPr id="17" name="TextBox 16"/>
          <p:cNvSpPr txBox="1"/>
          <p:nvPr/>
        </p:nvSpPr>
        <p:spPr>
          <a:xfrm>
            <a:off x="7848600" y="7023100"/>
            <a:ext cx="27940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087F62"/>
                </a:solidFill>
                <a:latin typeface="Lato"/>
              </a:defRPr>
            </a:pPr>
            <a:r>
              <a:t>Çatdırılma</a:t>
            </a:r>
          </a:p>
        </p:txBody>
      </p:sp>
      <p:sp>
        <p:nvSpPr>
          <p:cNvPr id="18" name="TextBox 17"/>
          <p:cNvSpPr txBox="1"/>
          <p:nvPr/>
        </p:nvSpPr>
        <p:spPr>
          <a:xfrm>
            <a:off x="10922000" y="7023100"/>
            <a:ext cx="508000" cy="419862"/>
          </a:xfrm>
          <a:prstGeom prst="rect">
            <a:avLst/>
          </a:prstGeom>
          <a:noFill/>
        </p:spPr>
        <p:txBody>
          <a:bodyPr wrap="none" lIns="0" rIns="0" tIns="0" bIns="0" anchor="t">
            <a:spAutoFit/>
          </a:bodyPr>
          <a:lstStyle/>
          <a:p>
            <a:pPr>
              <a:lnSpc>
                <a:spcPts val="2806"/>
              </a:lnSpc>
              <a:spcBef>
                <a:spcPts val="0"/>
              </a:spcBef>
              <a:spcAft>
                <a:spcPts val="0"/>
              </a:spcAft>
              <a:defRPr sz="2300" b="0">
                <a:solidFill>
                  <a:srgbClr val="087F62"/>
                </a:solidFill>
                <a:latin typeface="Lato"/>
              </a:defRPr>
            </a:pPr>
            <a:r>
              <a:t>→</a:t>
            </a:r>
          </a:p>
        </p:txBody>
      </p:sp>
      <p:sp>
        <p:nvSpPr>
          <p:cNvPr id="19" name="TextBox 18"/>
          <p:cNvSpPr txBox="1"/>
          <p:nvPr/>
        </p:nvSpPr>
        <p:spPr>
          <a:xfrm>
            <a:off x="12192000" y="7023100"/>
            <a:ext cx="18542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087F62"/>
                </a:solidFill>
                <a:latin typeface="Lato"/>
              </a:defRPr>
            </a:pPr>
            <a:r>
              <a:t>Qəbul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317500"/>
            <a:ext cx="2540000" cy="326898"/>
          </a:xfrm>
          <a:prstGeom prst="rect">
            <a:avLst/>
          </a:prstGeom>
          <a:noFill/>
        </p:spPr>
        <p:txBody>
          <a:bodyPr wrap="none" lIns="0" rIns="0" tIns="0" bIns="0" anchor="t">
            <a:spAutoFit/>
          </a:bodyPr>
          <a:lstStyle/>
          <a:p>
            <a:pPr>
              <a:lnSpc>
                <a:spcPts val="2074"/>
              </a:lnSpc>
              <a:spcBef>
                <a:spcPts val="0"/>
              </a:spcBef>
              <a:spcAft>
                <a:spcPts val="0"/>
              </a:spcAft>
              <a:defRPr sz="1700" b="1">
                <a:solidFill>
                  <a:srgbClr val="087F62"/>
                </a:solidFill>
                <a:latin typeface="Lato"/>
              </a:defRPr>
            </a:pPr>
            <a:r>
              <a:t>Leadprocure</a:t>
            </a:r>
          </a:p>
        </p:txBody>
      </p:sp>
      <p:sp>
        <p:nvSpPr>
          <p:cNvPr id="4" name="TextBox 3"/>
          <p:cNvSpPr txBox="1"/>
          <p:nvPr/>
        </p:nvSpPr>
        <p:spPr>
          <a:xfrm>
            <a:off x="9525000" y="368300"/>
            <a:ext cx="4521200" cy="226187"/>
          </a:xfrm>
          <a:prstGeom prst="rect">
            <a:avLst/>
          </a:prstGeom>
          <a:noFill/>
        </p:spPr>
        <p:txBody>
          <a:bodyPr wrap="none" lIns="0" rIns="0" tIns="0" bIns="0" anchor="t">
            <a:spAutoFit/>
          </a:bodyPr>
          <a:lstStyle/>
          <a:p>
            <a:pPr algn="r">
              <a:lnSpc>
                <a:spcPts val="1281"/>
              </a:lnSpc>
              <a:spcBef>
                <a:spcPts val="0"/>
              </a:spcBef>
              <a:spcAft>
                <a:spcPts val="0"/>
              </a:spcAft>
              <a:defRPr sz="1050" b="0">
                <a:solidFill>
                  <a:srgbClr val="607069"/>
                </a:solidFill>
                <a:latin typeface="Lato"/>
              </a:defRPr>
            </a:pPr>
            <a:r>
              <a:t>DƏYİŞİKLİK NƏZARƏTİ</a:t>
            </a:r>
          </a:p>
        </p:txBody>
      </p:sp>
      <p:cxnSp>
        <p:nvCxnSpPr>
          <p:cNvPr id="5" name="Connector 4"/>
          <p:cNvCxnSpPr/>
          <p:nvPr/>
        </p:nvCxnSpPr>
        <p:spPr>
          <a:xfrm>
            <a:off x="584200" y="762000"/>
            <a:ext cx="13462000" cy="0"/>
          </a:xfrm>
          <a:prstGeom prst="line">
            <a:avLst/>
          </a:prstGeom>
          <a:ln w="12700">
            <a:solidFill>
              <a:srgbClr val="DCE4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079500"/>
            <a:ext cx="13462000" cy="605790"/>
          </a:xfrm>
          <a:prstGeom prst="rect">
            <a:avLst/>
          </a:prstGeom>
          <a:noFill/>
        </p:spPr>
        <p:txBody>
          <a:bodyPr wrap="none" lIns="0" rIns="0" tIns="0" bIns="0" anchor="t">
            <a:spAutoFit/>
          </a:bodyPr>
          <a:lstStyle/>
          <a:p>
            <a:pPr>
              <a:lnSpc>
                <a:spcPts val="4270"/>
              </a:lnSpc>
              <a:spcBef>
                <a:spcPts val="0"/>
              </a:spcBef>
              <a:spcAft>
                <a:spcPts val="0"/>
              </a:spcAft>
              <a:defRPr sz="3500" b="1">
                <a:solidFill>
                  <a:srgbClr val="202B27"/>
                </a:solidFill>
                <a:latin typeface="Lato"/>
              </a:defRPr>
            </a:pPr>
            <a:r>
              <a:t>Sifarişdə dəyişiklik qarşı tərəfin razılığı ilə</a:t>
            </a:r>
          </a:p>
        </p:txBody>
      </p:sp>
      <p:sp>
        <p:nvSpPr>
          <p:cNvPr id="7" name="TextBox 6"/>
          <p:cNvSpPr txBox="1"/>
          <p:nvPr/>
        </p:nvSpPr>
        <p:spPr>
          <a:xfrm>
            <a:off x="584200" y="1739900"/>
            <a:ext cx="13462000" cy="326898"/>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Köhnə və yeni şərtlər görünür; tarixçə saxlanılır.</a:t>
            </a:r>
          </a:p>
        </p:txBody>
      </p:sp>
      <p:sp>
        <p:nvSpPr>
          <p:cNvPr id="8" name="TextBox 7"/>
          <p:cNvSpPr txBox="1"/>
          <p:nvPr/>
        </p:nvSpPr>
        <p:spPr>
          <a:xfrm>
            <a:off x="584200" y="7835900"/>
            <a:ext cx="10160000" cy="210693"/>
          </a:xfrm>
          <a:prstGeom prst="rect">
            <a:avLst/>
          </a:prstGeom>
          <a:noFill/>
        </p:spPr>
        <p:txBody>
          <a:bodyPr wrap="none" lIns="0" rIns="0" tIns="0" bIns="0" anchor="t">
            <a:spAutoFit/>
          </a:bodyPr>
          <a:lstStyle/>
          <a:p>
            <a:pPr>
              <a:lnSpc>
                <a:spcPts val="1159"/>
              </a:lnSpc>
              <a:spcBef>
                <a:spcPts val="0"/>
              </a:spcBef>
              <a:spcAft>
                <a:spcPts val="0"/>
              </a:spcAft>
              <a:defRPr sz="950" b="0">
                <a:solidFill>
                  <a:srgbClr val="607069"/>
                </a:solidFill>
                <a:latin typeface="Lato"/>
              </a:defRPr>
            </a:pPr>
            <a:r>
              <a:t>KORPORATİV SATINALMA / MƏHSUL TƏQDİMATI</a:t>
            </a:r>
          </a:p>
        </p:txBody>
      </p:sp>
      <p:sp>
        <p:nvSpPr>
          <p:cNvPr id="9" name="TextBox 8"/>
          <p:cNvSpPr txBox="1"/>
          <p:nvPr/>
        </p:nvSpPr>
        <p:spPr>
          <a:xfrm>
            <a:off x="13411200" y="7785100"/>
            <a:ext cx="635000" cy="264922"/>
          </a:xfrm>
          <a:prstGeom prst="rect">
            <a:avLst/>
          </a:prstGeom>
          <a:noFill/>
        </p:spPr>
        <p:txBody>
          <a:bodyPr wrap="none" lIns="0" rIns="0" tIns="0" bIns="0" anchor="t">
            <a:spAutoFit/>
          </a:bodyPr>
          <a:lstStyle/>
          <a:p>
            <a:pPr algn="r">
              <a:lnSpc>
                <a:spcPts val="1586"/>
              </a:lnSpc>
              <a:spcBef>
                <a:spcPts val="0"/>
              </a:spcBef>
              <a:spcAft>
                <a:spcPts val="0"/>
              </a:spcAft>
              <a:defRPr sz="1300" b="1">
                <a:solidFill>
                  <a:srgbClr val="087F62"/>
                </a:solidFill>
                <a:latin typeface="Lato"/>
              </a:defRPr>
            </a:pPr>
            <a:r>
              <a:t>15</a:t>
            </a:r>
          </a:p>
        </p:txBody>
      </p:sp>
      <p:sp>
        <p:nvSpPr>
          <p:cNvPr id="10" name="Rounded Rectangle 9"/>
          <p:cNvSpPr/>
          <p:nvPr/>
        </p:nvSpPr>
        <p:spPr>
          <a:xfrm>
            <a:off x="1359071" y="2603500"/>
            <a:ext cx="11912256" cy="3683000"/>
          </a:xfrm>
          <a:prstGeom prst="roundRect">
            <a:avLst>
              <a:gd name="adj" fmla="val 2068"/>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1422571" y="2667000"/>
            <a:ext cx="11785256" cy="3556000"/>
          </a:xfrm>
          <a:prstGeom prst="rect">
            <a:avLst/>
          </a:prstGeom>
        </p:spPr>
      </p:pic>
      <p:sp>
        <p:nvSpPr>
          <p:cNvPr id="12" name="TextBox 11"/>
          <p:cNvSpPr txBox="1"/>
          <p:nvPr/>
        </p:nvSpPr>
        <p:spPr>
          <a:xfrm>
            <a:off x="1422571" y="6350000"/>
            <a:ext cx="11785256" cy="226187"/>
          </a:xfrm>
          <a:prstGeom prst="rect">
            <a:avLst/>
          </a:prstGeom>
          <a:noFill/>
        </p:spPr>
        <p:txBody>
          <a:bodyPr wrap="none" lIns="0" rIns="0" tIns="0" bIns="0" anchor="t">
            <a:spAutoFit/>
          </a:bodyPr>
          <a:lstStyle/>
          <a:p>
            <a:pPr>
              <a:lnSpc>
                <a:spcPts val="1281"/>
              </a:lnSpc>
              <a:spcBef>
                <a:spcPts val="0"/>
              </a:spcBef>
              <a:spcAft>
                <a:spcPts val="0"/>
              </a:spcAft>
              <a:defRPr sz="1050" b="0">
                <a:solidFill>
                  <a:srgbClr val="607069"/>
                </a:solidFill>
                <a:latin typeface="Lato"/>
              </a:defRPr>
            </a:pPr>
            <a:r>
              <a:t>AZ demo interfeysi · ekran fraqmenti</a:t>
            </a:r>
          </a:p>
        </p:txBody>
      </p:sp>
      <p:sp>
        <p:nvSpPr>
          <p:cNvPr id="13" name="Rounded Rectangle 12"/>
          <p:cNvSpPr/>
          <p:nvPr/>
        </p:nvSpPr>
        <p:spPr>
          <a:xfrm>
            <a:off x="584200" y="6692900"/>
            <a:ext cx="13462000" cy="762000"/>
          </a:xfrm>
          <a:prstGeom prst="roundRect">
            <a:avLst>
              <a:gd name="adj" fmla="val 10000"/>
            </a:avLst>
          </a:prstGeom>
          <a:solidFill>
            <a:srgbClr val="E6F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3600" y="6883400"/>
            <a:ext cx="4064000" cy="450850"/>
          </a:xfrm>
          <a:prstGeom prst="rect">
            <a:avLst/>
          </a:prstGeom>
          <a:noFill/>
        </p:spPr>
        <p:txBody>
          <a:bodyPr wrap="none" lIns="0" rIns="0" tIns="0" bIns="0" anchor="t">
            <a:spAutoFit/>
          </a:bodyPr>
          <a:lstStyle/>
          <a:p>
            <a:pPr>
              <a:lnSpc>
                <a:spcPts val="3050"/>
              </a:lnSpc>
              <a:spcBef>
                <a:spcPts val="0"/>
              </a:spcBef>
              <a:spcAft>
                <a:spcPts val="0"/>
              </a:spcAft>
              <a:defRPr sz="2500" b="1">
                <a:solidFill>
                  <a:srgbClr val="164B3C"/>
                </a:solidFill>
                <a:latin typeface="Lato"/>
              </a:defRPr>
            </a:pPr>
            <a:r>
              <a:t>40 → 60 bağlama</a:t>
            </a:r>
          </a:p>
        </p:txBody>
      </p:sp>
      <p:sp>
        <p:nvSpPr>
          <p:cNvPr id="15" name="TextBox 14"/>
          <p:cNvSpPr txBox="1"/>
          <p:nvPr/>
        </p:nvSpPr>
        <p:spPr>
          <a:xfrm>
            <a:off x="5334000" y="6883400"/>
            <a:ext cx="4064000" cy="450850"/>
          </a:xfrm>
          <a:prstGeom prst="rect">
            <a:avLst/>
          </a:prstGeom>
          <a:noFill/>
        </p:spPr>
        <p:txBody>
          <a:bodyPr wrap="none" lIns="0" rIns="0" tIns="0" bIns="0" anchor="t">
            <a:spAutoFit/>
          </a:bodyPr>
          <a:lstStyle/>
          <a:p>
            <a:pPr>
              <a:lnSpc>
                <a:spcPts val="3050"/>
              </a:lnSpc>
              <a:spcBef>
                <a:spcPts val="0"/>
              </a:spcBef>
              <a:spcAft>
                <a:spcPts val="0"/>
              </a:spcAft>
              <a:defRPr sz="2500" b="1">
                <a:solidFill>
                  <a:srgbClr val="164B3C"/>
                </a:solidFill>
                <a:latin typeface="Lato"/>
              </a:defRPr>
            </a:pPr>
            <a:r>
              <a:t>280 → 420 AZN</a:t>
            </a:r>
          </a:p>
        </p:txBody>
      </p:sp>
      <p:sp>
        <p:nvSpPr>
          <p:cNvPr id="16" name="TextBox 15"/>
          <p:cNvSpPr txBox="1"/>
          <p:nvPr/>
        </p:nvSpPr>
        <p:spPr>
          <a:xfrm>
            <a:off x="10642600" y="6883400"/>
            <a:ext cx="3048000" cy="450850"/>
          </a:xfrm>
          <a:prstGeom prst="rect">
            <a:avLst/>
          </a:prstGeom>
          <a:noFill/>
        </p:spPr>
        <p:txBody>
          <a:bodyPr wrap="none" lIns="0" rIns="0" tIns="0" bIns="0" anchor="t">
            <a:spAutoFit/>
          </a:bodyPr>
          <a:lstStyle/>
          <a:p>
            <a:pPr>
              <a:lnSpc>
                <a:spcPts val="3050"/>
              </a:lnSpc>
              <a:spcBef>
                <a:spcPts val="0"/>
              </a:spcBef>
              <a:spcAft>
                <a:spcPts val="0"/>
              </a:spcAft>
              <a:defRPr sz="2500" b="1">
                <a:solidFill>
                  <a:srgbClr val="164B3C"/>
                </a:solidFill>
                <a:latin typeface="Lato"/>
              </a:defRPr>
            </a:pPr>
            <a:r>
              <a:t>Qəbul / rədd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317500"/>
            <a:ext cx="2540000" cy="326898"/>
          </a:xfrm>
          <a:prstGeom prst="rect">
            <a:avLst/>
          </a:prstGeom>
          <a:noFill/>
        </p:spPr>
        <p:txBody>
          <a:bodyPr wrap="none" lIns="0" rIns="0" tIns="0" bIns="0" anchor="t">
            <a:spAutoFit/>
          </a:bodyPr>
          <a:lstStyle/>
          <a:p>
            <a:pPr>
              <a:lnSpc>
                <a:spcPts val="2074"/>
              </a:lnSpc>
              <a:spcBef>
                <a:spcPts val="0"/>
              </a:spcBef>
              <a:spcAft>
                <a:spcPts val="0"/>
              </a:spcAft>
              <a:defRPr sz="1700" b="1">
                <a:solidFill>
                  <a:srgbClr val="087F62"/>
                </a:solidFill>
                <a:latin typeface="Lato"/>
              </a:defRPr>
            </a:pPr>
            <a:r>
              <a:t>Leadprocure</a:t>
            </a:r>
          </a:p>
        </p:txBody>
      </p:sp>
      <p:sp>
        <p:nvSpPr>
          <p:cNvPr id="4" name="TextBox 3"/>
          <p:cNvSpPr txBox="1"/>
          <p:nvPr/>
        </p:nvSpPr>
        <p:spPr>
          <a:xfrm>
            <a:off x="9525000" y="368300"/>
            <a:ext cx="4521200" cy="226187"/>
          </a:xfrm>
          <a:prstGeom prst="rect">
            <a:avLst/>
          </a:prstGeom>
          <a:noFill/>
        </p:spPr>
        <p:txBody>
          <a:bodyPr wrap="none" lIns="0" rIns="0" tIns="0" bIns="0" anchor="t">
            <a:spAutoFit/>
          </a:bodyPr>
          <a:lstStyle/>
          <a:p>
            <a:pPr algn="r">
              <a:lnSpc>
                <a:spcPts val="1281"/>
              </a:lnSpc>
              <a:spcBef>
                <a:spcPts val="0"/>
              </a:spcBef>
              <a:spcAft>
                <a:spcPts val="0"/>
              </a:spcAft>
              <a:defRPr sz="1050" b="0">
                <a:solidFill>
                  <a:srgbClr val="607069"/>
                </a:solidFill>
                <a:latin typeface="Lato"/>
              </a:defRPr>
            </a:pPr>
            <a:r>
              <a:t>MALİYYƏ NƏZARƏTİ</a:t>
            </a:r>
          </a:p>
        </p:txBody>
      </p:sp>
      <p:cxnSp>
        <p:nvCxnSpPr>
          <p:cNvPr id="5" name="Connector 4"/>
          <p:cNvCxnSpPr/>
          <p:nvPr/>
        </p:nvCxnSpPr>
        <p:spPr>
          <a:xfrm>
            <a:off x="584200" y="762000"/>
            <a:ext cx="13462000" cy="0"/>
          </a:xfrm>
          <a:prstGeom prst="line">
            <a:avLst/>
          </a:prstGeom>
          <a:ln w="12700">
            <a:solidFill>
              <a:srgbClr val="DCE4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079500"/>
            <a:ext cx="13462000" cy="605790"/>
          </a:xfrm>
          <a:prstGeom prst="rect">
            <a:avLst/>
          </a:prstGeom>
          <a:noFill/>
        </p:spPr>
        <p:txBody>
          <a:bodyPr wrap="none" lIns="0" rIns="0" tIns="0" bIns="0" anchor="t">
            <a:spAutoFit/>
          </a:bodyPr>
          <a:lstStyle/>
          <a:p>
            <a:pPr>
              <a:lnSpc>
                <a:spcPts val="4270"/>
              </a:lnSpc>
              <a:spcBef>
                <a:spcPts val="0"/>
              </a:spcBef>
              <a:spcAft>
                <a:spcPts val="0"/>
              </a:spcAft>
              <a:defRPr sz="3500" b="1">
                <a:solidFill>
                  <a:srgbClr val="202B27"/>
                </a:solidFill>
                <a:latin typeface="Lato"/>
              </a:defRPr>
            </a:pPr>
            <a:r>
              <a:t>Sifariş, qəbul və qaimə üçtərəfli yoxlanılır</a:t>
            </a:r>
          </a:p>
        </p:txBody>
      </p:sp>
      <p:sp>
        <p:nvSpPr>
          <p:cNvPr id="7" name="TextBox 6"/>
          <p:cNvSpPr txBox="1"/>
          <p:nvPr/>
        </p:nvSpPr>
        <p:spPr>
          <a:xfrm>
            <a:off x="584200" y="1739900"/>
            <a:ext cx="13462000" cy="326898"/>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Fərqlər görünür; təsdiq qərarı faktiki əməliyyata söykənir.</a:t>
            </a:r>
          </a:p>
        </p:txBody>
      </p:sp>
      <p:sp>
        <p:nvSpPr>
          <p:cNvPr id="8" name="TextBox 7"/>
          <p:cNvSpPr txBox="1"/>
          <p:nvPr/>
        </p:nvSpPr>
        <p:spPr>
          <a:xfrm>
            <a:off x="584200" y="7835900"/>
            <a:ext cx="10160000" cy="210693"/>
          </a:xfrm>
          <a:prstGeom prst="rect">
            <a:avLst/>
          </a:prstGeom>
          <a:noFill/>
        </p:spPr>
        <p:txBody>
          <a:bodyPr wrap="none" lIns="0" rIns="0" tIns="0" bIns="0" anchor="t">
            <a:spAutoFit/>
          </a:bodyPr>
          <a:lstStyle/>
          <a:p>
            <a:pPr>
              <a:lnSpc>
                <a:spcPts val="1159"/>
              </a:lnSpc>
              <a:spcBef>
                <a:spcPts val="0"/>
              </a:spcBef>
              <a:spcAft>
                <a:spcPts val="0"/>
              </a:spcAft>
              <a:defRPr sz="950" b="0">
                <a:solidFill>
                  <a:srgbClr val="607069"/>
                </a:solidFill>
                <a:latin typeface="Lato"/>
              </a:defRPr>
            </a:pPr>
            <a:r>
              <a:t>KORPORATİV SATINALMA / MƏHSUL TƏQDİMATI</a:t>
            </a:r>
          </a:p>
        </p:txBody>
      </p:sp>
      <p:sp>
        <p:nvSpPr>
          <p:cNvPr id="9" name="TextBox 8"/>
          <p:cNvSpPr txBox="1"/>
          <p:nvPr/>
        </p:nvSpPr>
        <p:spPr>
          <a:xfrm>
            <a:off x="13411200" y="7785100"/>
            <a:ext cx="635000" cy="264922"/>
          </a:xfrm>
          <a:prstGeom prst="rect">
            <a:avLst/>
          </a:prstGeom>
          <a:noFill/>
        </p:spPr>
        <p:txBody>
          <a:bodyPr wrap="none" lIns="0" rIns="0" tIns="0" bIns="0" anchor="t">
            <a:spAutoFit/>
          </a:bodyPr>
          <a:lstStyle/>
          <a:p>
            <a:pPr algn="r">
              <a:lnSpc>
                <a:spcPts val="1586"/>
              </a:lnSpc>
              <a:spcBef>
                <a:spcPts val="0"/>
              </a:spcBef>
              <a:spcAft>
                <a:spcPts val="0"/>
              </a:spcAft>
              <a:defRPr sz="1300" b="1">
                <a:solidFill>
                  <a:srgbClr val="087F62"/>
                </a:solidFill>
                <a:latin typeface="Lato"/>
              </a:defRPr>
            </a:pPr>
            <a:r>
              <a:t>16</a:t>
            </a:r>
          </a:p>
        </p:txBody>
      </p:sp>
      <p:sp>
        <p:nvSpPr>
          <p:cNvPr id="10" name="Rounded Rectangle 9"/>
          <p:cNvSpPr/>
          <p:nvPr/>
        </p:nvSpPr>
        <p:spPr>
          <a:xfrm>
            <a:off x="584200" y="2641600"/>
            <a:ext cx="4267200" cy="1270000"/>
          </a:xfrm>
          <a:prstGeom prst="roundRect">
            <a:avLst>
              <a:gd name="adj" fmla="val 7000"/>
            </a:avLst>
          </a:prstGeom>
          <a:solidFill>
            <a:srgbClr val="E6F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2844800"/>
            <a:ext cx="3784600" cy="435356"/>
          </a:xfrm>
          <a:prstGeom prst="rect">
            <a:avLst/>
          </a:prstGeom>
          <a:noFill/>
        </p:spPr>
        <p:txBody>
          <a:bodyPr wrap="none" lIns="0" rIns="0" tIns="0" bIns="0" anchor="t">
            <a:spAutoFit/>
          </a:bodyPr>
          <a:lstStyle/>
          <a:p>
            <a:pPr>
              <a:lnSpc>
                <a:spcPts val="2928"/>
              </a:lnSpc>
              <a:spcBef>
                <a:spcPts val="0"/>
              </a:spcBef>
              <a:spcAft>
                <a:spcPts val="0"/>
              </a:spcAft>
              <a:defRPr sz="2400" b="1">
                <a:solidFill>
                  <a:srgbClr val="164B3C"/>
                </a:solidFill>
                <a:latin typeface="Lato"/>
              </a:defRPr>
            </a:pPr>
            <a:r>
              <a:t>Sifariş (PO)</a:t>
            </a:r>
          </a:p>
        </p:txBody>
      </p:sp>
      <p:sp>
        <p:nvSpPr>
          <p:cNvPr id="12" name="TextBox 11"/>
          <p:cNvSpPr txBox="1"/>
          <p:nvPr/>
        </p:nvSpPr>
        <p:spPr>
          <a:xfrm>
            <a:off x="838200" y="3390900"/>
            <a:ext cx="3784600" cy="311404"/>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Nə və hansı qiymətə alınıb?</a:t>
            </a:r>
          </a:p>
        </p:txBody>
      </p:sp>
      <p:sp>
        <p:nvSpPr>
          <p:cNvPr id="13" name="Rounded Rectangle 12"/>
          <p:cNvSpPr/>
          <p:nvPr/>
        </p:nvSpPr>
        <p:spPr>
          <a:xfrm>
            <a:off x="5181600" y="2641600"/>
            <a:ext cx="4267200" cy="1270000"/>
          </a:xfrm>
          <a:prstGeom prst="roundRect">
            <a:avLst>
              <a:gd name="adj" fmla="val 7000"/>
            </a:avLst>
          </a:prstGeom>
          <a:solidFill>
            <a:srgbClr val="E6F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35600" y="2844800"/>
            <a:ext cx="3784600" cy="435356"/>
          </a:xfrm>
          <a:prstGeom prst="rect">
            <a:avLst/>
          </a:prstGeom>
          <a:noFill/>
        </p:spPr>
        <p:txBody>
          <a:bodyPr wrap="none" lIns="0" rIns="0" tIns="0" bIns="0" anchor="t">
            <a:spAutoFit/>
          </a:bodyPr>
          <a:lstStyle/>
          <a:p>
            <a:pPr>
              <a:lnSpc>
                <a:spcPts val="2928"/>
              </a:lnSpc>
              <a:spcBef>
                <a:spcPts val="0"/>
              </a:spcBef>
              <a:spcAft>
                <a:spcPts val="0"/>
              </a:spcAft>
              <a:defRPr sz="2400" b="1">
                <a:solidFill>
                  <a:srgbClr val="164B3C"/>
                </a:solidFill>
                <a:latin typeface="Lato"/>
              </a:defRPr>
            </a:pPr>
            <a:r>
              <a:t>Qəbul</a:t>
            </a:r>
          </a:p>
        </p:txBody>
      </p:sp>
      <p:sp>
        <p:nvSpPr>
          <p:cNvPr id="15" name="TextBox 14"/>
          <p:cNvSpPr txBox="1"/>
          <p:nvPr/>
        </p:nvSpPr>
        <p:spPr>
          <a:xfrm>
            <a:off x="5435600" y="3390900"/>
            <a:ext cx="3784600" cy="311404"/>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Faktiki nə qədər qəbul edilib?</a:t>
            </a:r>
          </a:p>
        </p:txBody>
      </p:sp>
      <p:sp>
        <p:nvSpPr>
          <p:cNvPr id="16" name="Rounded Rectangle 15"/>
          <p:cNvSpPr/>
          <p:nvPr/>
        </p:nvSpPr>
        <p:spPr>
          <a:xfrm>
            <a:off x="9779000" y="2641600"/>
            <a:ext cx="4267200" cy="1270000"/>
          </a:xfrm>
          <a:prstGeom prst="roundRect">
            <a:avLst>
              <a:gd name="adj" fmla="val 7000"/>
            </a:avLst>
          </a:prstGeom>
          <a:solidFill>
            <a:srgbClr val="E6F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33000" y="2844800"/>
            <a:ext cx="3784600" cy="435356"/>
          </a:xfrm>
          <a:prstGeom prst="rect">
            <a:avLst/>
          </a:prstGeom>
          <a:noFill/>
        </p:spPr>
        <p:txBody>
          <a:bodyPr wrap="none" lIns="0" rIns="0" tIns="0" bIns="0" anchor="t">
            <a:spAutoFit/>
          </a:bodyPr>
          <a:lstStyle/>
          <a:p>
            <a:pPr>
              <a:lnSpc>
                <a:spcPts val="2928"/>
              </a:lnSpc>
              <a:spcBef>
                <a:spcPts val="0"/>
              </a:spcBef>
              <a:spcAft>
                <a:spcPts val="0"/>
              </a:spcAft>
              <a:defRPr sz="2400" b="1">
                <a:solidFill>
                  <a:srgbClr val="164B3C"/>
                </a:solidFill>
                <a:latin typeface="Lato"/>
              </a:defRPr>
            </a:pPr>
            <a:r>
              <a:t>Qaimə</a:t>
            </a:r>
          </a:p>
        </p:txBody>
      </p:sp>
      <p:sp>
        <p:nvSpPr>
          <p:cNvPr id="18" name="TextBox 17"/>
          <p:cNvSpPr txBox="1"/>
          <p:nvPr/>
        </p:nvSpPr>
        <p:spPr>
          <a:xfrm>
            <a:off x="10033000" y="3390900"/>
            <a:ext cx="3784600" cy="311404"/>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Qaimədə nə göstərilib?</a:t>
            </a:r>
          </a:p>
        </p:txBody>
      </p:sp>
      <p:sp>
        <p:nvSpPr>
          <p:cNvPr id="19" name="Rounded Rectangle 18"/>
          <p:cNvSpPr/>
          <p:nvPr/>
        </p:nvSpPr>
        <p:spPr>
          <a:xfrm>
            <a:off x="3086100" y="4216400"/>
            <a:ext cx="8458200" cy="1905000"/>
          </a:xfrm>
          <a:prstGeom prst="roundRect">
            <a:avLst>
              <a:gd name="adj" fmla="val 4000"/>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2"/>
          <a:stretch>
            <a:fillRect/>
          </a:stretch>
        </p:blipFill>
        <p:spPr>
          <a:xfrm>
            <a:off x="3149600" y="4279900"/>
            <a:ext cx="8331200" cy="1778000"/>
          </a:xfrm>
          <a:prstGeom prst="rect">
            <a:avLst/>
          </a:prstGeom>
        </p:spPr>
      </p:pic>
      <p:sp>
        <p:nvSpPr>
          <p:cNvPr id="21" name="TextBox 20"/>
          <p:cNvSpPr txBox="1"/>
          <p:nvPr/>
        </p:nvSpPr>
        <p:spPr>
          <a:xfrm>
            <a:off x="3149600" y="6184900"/>
            <a:ext cx="8331200" cy="226187"/>
          </a:xfrm>
          <a:prstGeom prst="rect">
            <a:avLst/>
          </a:prstGeom>
          <a:noFill/>
        </p:spPr>
        <p:txBody>
          <a:bodyPr wrap="none" lIns="0" rIns="0" tIns="0" bIns="0" anchor="t">
            <a:spAutoFit/>
          </a:bodyPr>
          <a:lstStyle/>
          <a:p>
            <a:pPr>
              <a:lnSpc>
                <a:spcPts val="1281"/>
              </a:lnSpc>
              <a:spcBef>
                <a:spcPts val="0"/>
              </a:spcBef>
              <a:spcAft>
                <a:spcPts val="0"/>
              </a:spcAft>
              <a:defRPr sz="1050" b="0">
                <a:solidFill>
                  <a:srgbClr val="607069"/>
                </a:solidFill>
                <a:latin typeface="Lato"/>
              </a:defRPr>
            </a:pPr>
            <a:r>
              <a:t>AZ demo interfeysi · ekran fraqmenti</a:t>
            </a:r>
          </a:p>
        </p:txBody>
      </p:sp>
      <p:sp>
        <p:nvSpPr>
          <p:cNvPr id="22" name="TextBox 21"/>
          <p:cNvSpPr txBox="1"/>
          <p:nvPr/>
        </p:nvSpPr>
        <p:spPr>
          <a:xfrm>
            <a:off x="596900" y="6654800"/>
            <a:ext cx="8953500" cy="543814"/>
          </a:xfrm>
          <a:prstGeom prst="rect">
            <a:avLst/>
          </a:prstGeom>
          <a:noFill/>
        </p:spPr>
        <p:txBody>
          <a:bodyPr wrap="none" lIns="0" rIns="0" tIns="0" bIns="0" anchor="t">
            <a:spAutoFit/>
          </a:bodyPr>
          <a:lstStyle/>
          <a:p>
            <a:pPr>
              <a:lnSpc>
                <a:spcPts val="3782"/>
              </a:lnSpc>
              <a:spcBef>
                <a:spcPts val="0"/>
              </a:spcBef>
              <a:spcAft>
                <a:spcPts val="0"/>
              </a:spcAft>
              <a:defRPr sz="3100" b="1">
                <a:solidFill>
                  <a:srgbClr val="087F62"/>
                </a:solidFill>
                <a:latin typeface="Lato"/>
              </a:defRPr>
            </a:pPr>
            <a:r>
              <a:t>51 500 + 9 270 = 60 770 AZN</a:t>
            </a:r>
          </a:p>
        </p:txBody>
      </p:sp>
      <p:sp>
        <p:nvSpPr>
          <p:cNvPr id="23" name="TextBox 22"/>
          <p:cNvSpPr txBox="1"/>
          <p:nvPr/>
        </p:nvSpPr>
        <p:spPr>
          <a:xfrm>
            <a:off x="596900" y="7226300"/>
            <a:ext cx="9652000" cy="295910"/>
          </a:xfrm>
          <a:prstGeom prst="rect">
            <a:avLst/>
          </a:prstGeom>
          <a:noFill/>
        </p:spPr>
        <p:txBody>
          <a:bodyPr wrap="none" lIns="0" rIns="0" tIns="0" bIns="0" anchor="t">
            <a:spAutoFit/>
          </a:bodyPr>
          <a:lstStyle/>
          <a:p>
            <a:pPr>
              <a:lnSpc>
                <a:spcPts val="1830"/>
              </a:lnSpc>
              <a:spcBef>
                <a:spcPts val="0"/>
              </a:spcBef>
              <a:spcAft>
                <a:spcPts val="0"/>
              </a:spcAft>
              <a:defRPr sz="1500" b="0">
                <a:solidFill>
                  <a:srgbClr val="607069"/>
                </a:solidFill>
                <a:latin typeface="Lato"/>
              </a:defRPr>
            </a:pPr>
            <a:r>
              <a:t>Məbləğ + 18% ƏDV = qaimənin yekunu · demo</a:t>
            </a:r>
          </a:p>
        </p:txBody>
      </p:sp>
      <p:sp>
        <p:nvSpPr>
          <p:cNvPr id="24" name="TextBox 23"/>
          <p:cNvSpPr txBox="1"/>
          <p:nvPr/>
        </p:nvSpPr>
        <p:spPr>
          <a:xfrm>
            <a:off x="10668000" y="6731000"/>
            <a:ext cx="3365500" cy="683260"/>
          </a:xfrm>
          <a:prstGeom prst="rect">
            <a:avLst/>
          </a:prstGeom>
          <a:noFill/>
        </p:spPr>
        <p:txBody>
          <a:bodyPr wrap="none" lIns="0" rIns="0" tIns="0" bIns="0" anchor="t">
            <a:spAutoFit/>
          </a:bodyPr>
          <a:lstStyle/>
          <a:p>
            <a:pPr>
              <a:lnSpc>
                <a:spcPts val="2440"/>
              </a:lnSpc>
              <a:spcBef>
                <a:spcPts val="0"/>
              </a:spcBef>
              <a:spcAft>
                <a:spcPts val="0"/>
              </a:spcAft>
              <a:defRPr sz="2000" b="1">
                <a:solidFill>
                  <a:srgbClr val="202B27"/>
                </a:solidFill>
                <a:latin typeface="Lato"/>
              </a:defRPr>
            </a:pPr>
            <a:r>
              <a:t>Ödəniş statusu</a:t>
            </a:r>
          </a:p>
          <a:p>
            <a:pPr>
              <a:lnSpc>
                <a:spcPts val="2440"/>
              </a:lnSpc>
              <a:spcBef>
                <a:spcPts val="0"/>
              </a:spcBef>
              <a:spcAft>
                <a:spcPts val="0"/>
              </a:spcAft>
              <a:defRPr sz="2000" b="1">
                <a:solidFill>
                  <a:srgbClr val="202B27"/>
                </a:solidFill>
                <a:latin typeface="Lato"/>
              </a:defRPr>
            </a:pPr>
            <a:r>
              <a:t>sistemdə qeydə alınır.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317500"/>
            <a:ext cx="2540000" cy="326898"/>
          </a:xfrm>
          <a:prstGeom prst="rect">
            <a:avLst/>
          </a:prstGeom>
          <a:noFill/>
        </p:spPr>
        <p:txBody>
          <a:bodyPr wrap="none" lIns="0" rIns="0" tIns="0" bIns="0" anchor="t">
            <a:spAutoFit/>
          </a:bodyPr>
          <a:lstStyle/>
          <a:p>
            <a:pPr>
              <a:lnSpc>
                <a:spcPts val="2074"/>
              </a:lnSpc>
              <a:spcBef>
                <a:spcPts val="0"/>
              </a:spcBef>
              <a:spcAft>
                <a:spcPts val="0"/>
              </a:spcAft>
              <a:defRPr sz="1700" b="1">
                <a:solidFill>
                  <a:srgbClr val="087F62"/>
                </a:solidFill>
                <a:latin typeface="Lato"/>
              </a:defRPr>
            </a:pPr>
            <a:r>
              <a:t>Leadprocure</a:t>
            </a:r>
          </a:p>
        </p:txBody>
      </p:sp>
      <p:sp>
        <p:nvSpPr>
          <p:cNvPr id="4" name="TextBox 3"/>
          <p:cNvSpPr txBox="1"/>
          <p:nvPr/>
        </p:nvSpPr>
        <p:spPr>
          <a:xfrm>
            <a:off x="9525000" y="368300"/>
            <a:ext cx="4521200" cy="226187"/>
          </a:xfrm>
          <a:prstGeom prst="rect">
            <a:avLst/>
          </a:prstGeom>
          <a:noFill/>
        </p:spPr>
        <p:txBody>
          <a:bodyPr wrap="none" lIns="0" rIns="0" tIns="0" bIns="0" anchor="t">
            <a:spAutoFit/>
          </a:bodyPr>
          <a:lstStyle/>
          <a:p>
            <a:pPr algn="r">
              <a:lnSpc>
                <a:spcPts val="1281"/>
              </a:lnSpc>
              <a:spcBef>
                <a:spcPts val="0"/>
              </a:spcBef>
              <a:spcAft>
                <a:spcPts val="0"/>
              </a:spcAft>
              <a:defRPr sz="1050" b="0">
                <a:solidFill>
                  <a:srgbClr val="607069"/>
                </a:solidFill>
                <a:latin typeface="Lato"/>
              </a:defRPr>
            </a:pPr>
            <a:r>
              <a:t>TƏKRAR SATINALMA</a:t>
            </a:r>
          </a:p>
        </p:txBody>
      </p:sp>
      <p:cxnSp>
        <p:nvCxnSpPr>
          <p:cNvPr id="5" name="Connector 4"/>
          <p:cNvCxnSpPr/>
          <p:nvPr/>
        </p:nvCxnSpPr>
        <p:spPr>
          <a:xfrm>
            <a:off x="584200" y="762000"/>
            <a:ext cx="13462000" cy="0"/>
          </a:xfrm>
          <a:prstGeom prst="line">
            <a:avLst/>
          </a:prstGeom>
          <a:ln w="12700">
            <a:solidFill>
              <a:srgbClr val="DCE4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079500"/>
            <a:ext cx="13462000" cy="605790"/>
          </a:xfrm>
          <a:prstGeom prst="rect">
            <a:avLst/>
          </a:prstGeom>
          <a:noFill/>
        </p:spPr>
        <p:txBody>
          <a:bodyPr wrap="none" lIns="0" rIns="0" tIns="0" bIns="0" anchor="t">
            <a:spAutoFit/>
          </a:bodyPr>
          <a:lstStyle/>
          <a:p>
            <a:pPr>
              <a:lnSpc>
                <a:spcPts val="4270"/>
              </a:lnSpc>
              <a:spcBef>
                <a:spcPts val="0"/>
              </a:spcBef>
              <a:spcAft>
                <a:spcPts val="0"/>
              </a:spcAft>
              <a:defRPr sz="3500" b="1">
                <a:solidFill>
                  <a:srgbClr val="202B27"/>
                </a:solidFill>
                <a:latin typeface="Lato"/>
              </a:defRPr>
            </a:pPr>
            <a:r>
              <a:t>Razılaşdırılmış qiymətlərlə təkrar sifariş verin</a:t>
            </a:r>
          </a:p>
        </p:txBody>
      </p:sp>
      <p:sp>
        <p:nvSpPr>
          <p:cNvPr id="7" name="TextBox 6"/>
          <p:cNvSpPr txBox="1"/>
          <p:nvPr/>
        </p:nvSpPr>
        <p:spPr>
          <a:xfrm>
            <a:off x="584200" y="1739900"/>
            <a:ext cx="13462000" cy="326898"/>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Kataloqlar standart mallar üzrə təkrar sifarişi sadələşdirir.</a:t>
            </a:r>
          </a:p>
        </p:txBody>
      </p:sp>
      <p:sp>
        <p:nvSpPr>
          <p:cNvPr id="8" name="TextBox 7"/>
          <p:cNvSpPr txBox="1"/>
          <p:nvPr/>
        </p:nvSpPr>
        <p:spPr>
          <a:xfrm>
            <a:off x="584200" y="7835900"/>
            <a:ext cx="10160000" cy="210693"/>
          </a:xfrm>
          <a:prstGeom prst="rect">
            <a:avLst/>
          </a:prstGeom>
          <a:noFill/>
        </p:spPr>
        <p:txBody>
          <a:bodyPr wrap="none" lIns="0" rIns="0" tIns="0" bIns="0" anchor="t">
            <a:spAutoFit/>
          </a:bodyPr>
          <a:lstStyle/>
          <a:p>
            <a:pPr>
              <a:lnSpc>
                <a:spcPts val="1159"/>
              </a:lnSpc>
              <a:spcBef>
                <a:spcPts val="0"/>
              </a:spcBef>
              <a:spcAft>
                <a:spcPts val="0"/>
              </a:spcAft>
              <a:defRPr sz="950" b="0">
                <a:solidFill>
                  <a:srgbClr val="607069"/>
                </a:solidFill>
                <a:latin typeface="Lato"/>
              </a:defRPr>
            </a:pPr>
            <a:r>
              <a:t>KORPORATİV SATINALMA / MƏHSUL TƏQDİMATI</a:t>
            </a:r>
          </a:p>
        </p:txBody>
      </p:sp>
      <p:sp>
        <p:nvSpPr>
          <p:cNvPr id="9" name="TextBox 8"/>
          <p:cNvSpPr txBox="1"/>
          <p:nvPr/>
        </p:nvSpPr>
        <p:spPr>
          <a:xfrm>
            <a:off x="13411200" y="7785100"/>
            <a:ext cx="635000" cy="264922"/>
          </a:xfrm>
          <a:prstGeom prst="rect">
            <a:avLst/>
          </a:prstGeom>
          <a:noFill/>
        </p:spPr>
        <p:txBody>
          <a:bodyPr wrap="none" lIns="0" rIns="0" tIns="0" bIns="0" anchor="t">
            <a:spAutoFit/>
          </a:bodyPr>
          <a:lstStyle/>
          <a:p>
            <a:pPr algn="r">
              <a:lnSpc>
                <a:spcPts val="1586"/>
              </a:lnSpc>
              <a:spcBef>
                <a:spcPts val="0"/>
              </a:spcBef>
              <a:spcAft>
                <a:spcPts val="0"/>
              </a:spcAft>
              <a:defRPr sz="1300" b="1">
                <a:solidFill>
                  <a:srgbClr val="087F62"/>
                </a:solidFill>
                <a:latin typeface="Lato"/>
              </a:defRPr>
            </a:pPr>
            <a:r>
              <a:t>17</a:t>
            </a:r>
          </a:p>
        </p:txBody>
      </p:sp>
      <p:sp>
        <p:nvSpPr>
          <p:cNvPr id="10" name="Rounded Rectangle 9"/>
          <p:cNvSpPr/>
          <p:nvPr/>
        </p:nvSpPr>
        <p:spPr>
          <a:xfrm>
            <a:off x="2110970" y="2705100"/>
            <a:ext cx="10408458" cy="2425700"/>
          </a:xfrm>
          <a:prstGeom prst="roundRect">
            <a:avLst>
              <a:gd name="adj" fmla="val 3141"/>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2174470" y="2768600"/>
            <a:ext cx="10281458" cy="2298700"/>
          </a:xfrm>
          <a:prstGeom prst="rect">
            <a:avLst/>
          </a:prstGeom>
        </p:spPr>
      </p:pic>
      <p:sp>
        <p:nvSpPr>
          <p:cNvPr id="12" name="TextBox 11"/>
          <p:cNvSpPr txBox="1"/>
          <p:nvPr/>
        </p:nvSpPr>
        <p:spPr>
          <a:xfrm>
            <a:off x="2174470" y="5194300"/>
            <a:ext cx="10281458" cy="226187"/>
          </a:xfrm>
          <a:prstGeom prst="rect">
            <a:avLst/>
          </a:prstGeom>
          <a:noFill/>
        </p:spPr>
        <p:txBody>
          <a:bodyPr wrap="none" lIns="0" rIns="0" tIns="0" bIns="0" anchor="t">
            <a:spAutoFit/>
          </a:bodyPr>
          <a:lstStyle/>
          <a:p>
            <a:pPr>
              <a:lnSpc>
                <a:spcPts val="1281"/>
              </a:lnSpc>
              <a:spcBef>
                <a:spcPts val="0"/>
              </a:spcBef>
              <a:spcAft>
                <a:spcPts val="0"/>
              </a:spcAft>
              <a:defRPr sz="1050" b="0">
                <a:solidFill>
                  <a:srgbClr val="607069"/>
                </a:solidFill>
                <a:latin typeface="Lato"/>
              </a:defRPr>
            </a:pPr>
            <a:r>
              <a:t>AZ demo interfeysi · ekran fraqmenti</a:t>
            </a:r>
          </a:p>
        </p:txBody>
      </p:sp>
      <p:sp>
        <p:nvSpPr>
          <p:cNvPr id="13" name="TextBox 12"/>
          <p:cNvSpPr txBox="1"/>
          <p:nvPr/>
        </p:nvSpPr>
        <p:spPr>
          <a:xfrm>
            <a:off x="584200" y="5715000"/>
            <a:ext cx="4445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01</a:t>
            </a:r>
          </a:p>
        </p:txBody>
      </p:sp>
      <p:sp>
        <p:nvSpPr>
          <p:cNvPr id="14" name="TextBox 13"/>
          <p:cNvSpPr txBox="1"/>
          <p:nvPr/>
        </p:nvSpPr>
        <p:spPr>
          <a:xfrm>
            <a:off x="1143000" y="5689600"/>
            <a:ext cx="37084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202B27"/>
                </a:solidFill>
                <a:latin typeface="Lato"/>
              </a:defRPr>
            </a:pPr>
            <a:r>
              <a:t>Razılaşdırılmış qiymət</a:t>
            </a:r>
          </a:p>
        </p:txBody>
      </p:sp>
      <p:sp>
        <p:nvSpPr>
          <p:cNvPr id="15" name="TextBox 14"/>
          <p:cNvSpPr txBox="1"/>
          <p:nvPr/>
        </p:nvSpPr>
        <p:spPr>
          <a:xfrm>
            <a:off x="1143000" y="6413500"/>
            <a:ext cx="3708400" cy="559308"/>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Eyni malı hər dəfə yenidən</a:t>
            </a:r>
          </a:p>
          <a:p>
            <a:pPr>
              <a:lnSpc>
                <a:spcPts val="1952"/>
              </a:lnSpc>
              <a:spcBef>
                <a:spcPts val="0"/>
              </a:spcBef>
              <a:spcAft>
                <a:spcPts val="0"/>
              </a:spcAft>
              <a:defRPr sz="1600" b="0">
                <a:solidFill>
                  <a:srgbClr val="607069"/>
                </a:solidFill>
                <a:latin typeface="Lato"/>
              </a:defRPr>
            </a:pPr>
            <a:r>
              <a:t>qiymətləndirmək ehtiyacı azalır.</a:t>
            </a:r>
          </a:p>
        </p:txBody>
      </p:sp>
      <p:sp>
        <p:nvSpPr>
          <p:cNvPr id="16" name="TextBox 15"/>
          <p:cNvSpPr txBox="1"/>
          <p:nvPr/>
        </p:nvSpPr>
        <p:spPr>
          <a:xfrm>
            <a:off x="5181600" y="5715000"/>
            <a:ext cx="4445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02</a:t>
            </a:r>
          </a:p>
        </p:txBody>
      </p:sp>
      <p:sp>
        <p:nvSpPr>
          <p:cNvPr id="17" name="TextBox 16"/>
          <p:cNvSpPr txBox="1"/>
          <p:nvPr/>
        </p:nvSpPr>
        <p:spPr>
          <a:xfrm>
            <a:off x="5740400" y="5689600"/>
            <a:ext cx="37084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202B27"/>
                </a:solidFill>
                <a:latin typeface="Lato"/>
              </a:defRPr>
            </a:pPr>
            <a:r>
              <a:t>Minimum miqdar</a:t>
            </a:r>
          </a:p>
        </p:txBody>
      </p:sp>
      <p:sp>
        <p:nvSpPr>
          <p:cNvPr id="18" name="TextBox 17"/>
          <p:cNvSpPr txBox="1"/>
          <p:nvPr/>
        </p:nvSpPr>
        <p:spPr>
          <a:xfrm>
            <a:off x="5740400" y="6413500"/>
            <a:ext cx="3708400" cy="559308"/>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Kataloqdakı sifariş hədləri avtomatik</a:t>
            </a:r>
          </a:p>
          <a:p>
            <a:pPr>
              <a:lnSpc>
                <a:spcPts val="1952"/>
              </a:lnSpc>
              <a:spcBef>
                <a:spcPts val="0"/>
              </a:spcBef>
              <a:spcAft>
                <a:spcPts val="0"/>
              </a:spcAft>
              <a:defRPr sz="1600" b="0">
                <a:solidFill>
                  <a:srgbClr val="607069"/>
                </a:solidFill>
                <a:latin typeface="Lato"/>
              </a:defRPr>
            </a:pPr>
            <a:r>
              <a:t>yoxlanılır.</a:t>
            </a:r>
          </a:p>
        </p:txBody>
      </p:sp>
      <p:sp>
        <p:nvSpPr>
          <p:cNvPr id="19" name="TextBox 18"/>
          <p:cNvSpPr txBox="1"/>
          <p:nvPr/>
        </p:nvSpPr>
        <p:spPr>
          <a:xfrm>
            <a:off x="9779000" y="5715000"/>
            <a:ext cx="4445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03</a:t>
            </a:r>
          </a:p>
        </p:txBody>
      </p:sp>
      <p:sp>
        <p:nvSpPr>
          <p:cNvPr id="20" name="TextBox 19"/>
          <p:cNvSpPr txBox="1"/>
          <p:nvPr/>
        </p:nvSpPr>
        <p:spPr>
          <a:xfrm>
            <a:off x="10337800" y="5689600"/>
            <a:ext cx="37084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202B27"/>
                </a:solidFill>
                <a:latin typeface="Lato"/>
              </a:defRPr>
            </a:pPr>
            <a:r>
              <a:t>Birbaşa PO</a:t>
            </a:r>
          </a:p>
        </p:txBody>
      </p:sp>
      <p:sp>
        <p:nvSpPr>
          <p:cNvPr id="21" name="TextBox 20"/>
          <p:cNvSpPr txBox="1"/>
          <p:nvPr/>
        </p:nvSpPr>
        <p:spPr>
          <a:xfrm>
            <a:off x="10337800" y="6413500"/>
            <a:ext cx="3708400" cy="559308"/>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Uyğun kataloq mövqeləri üzrə satınalma</a:t>
            </a:r>
          </a:p>
          <a:p>
            <a:pPr>
              <a:lnSpc>
                <a:spcPts val="1952"/>
              </a:lnSpc>
              <a:spcBef>
                <a:spcPts val="0"/>
              </a:spcBef>
              <a:spcAft>
                <a:spcPts val="0"/>
              </a:spcAft>
              <a:defRPr sz="1600" b="0">
                <a:solidFill>
                  <a:srgbClr val="607069"/>
                </a:solidFill>
                <a:latin typeface="Lato"/>
              </a:defRPr>
            </a:pPr>
            <a:r>
              <a:t>sifarişi yaradılır.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317500"/>
            <a:ext cx="2540000" cy="326898"/>
          </a:xfrm>
          <a:prstGeom prst="rect">
            <a:avLst/>
          </a:prstGeom>
          <a:noFill/>
        </p:spPr>
        <p:txBody>
          <a:bodyPr wrap="none" lIns="0" rIns="0" tIns="0" bIns="0" anchor="t">
            <a:spAutoFit/>
          </a:bodyPr>
          <a:lstStyle/>
          <a:p>
            <a:pPr>
              <a:lnSpc>
                <a:spcPts val="2074"/>
              </a:lnSpc>
              <a:spcBef>
                <a:spcPts val="0"/>
              </a:spcBef>
              <a:spcAft>
                <a:spcPts val="0"/>
              </a:spcAft>
              <a:defRPr sz="1700" b="1">
                <a:solidFill>
                  <a:srgbClr val="087F62"/>
                </a:solidFill>
                <a:latin typeface="Lato"/>
              </a:defRPr>
            </a:pPr>
            <a:r>
              <a:t>Leadprocure</a:t>
            </a:r>
          </a:p>
        </p:txBody>
      </p:sp>
      <p:sp>
        <p:nvSpPr>
          <p:cNvPr id="4" name="TextBox 3"/>
          <p:cNvSpPr txBox="1"/>
          <p:nvPr/>
        </p:nvSpPr>
        <p:spPr>
          <a:xfrm>
            <a:off x="9525000" y="368300"/>
            <a:ext cx="4521200" cy="226187"/>
          </a:xfrm>
          <a:prstGeom prst="rect">
            <a:avLst/>
          </a:prstGeom>
          <a:noFill/>
        </p:spPr>
        <p:txBody>
          <a:bodyPr wrap="none" lIns="0" rIns="0" tIns="0" bIns="0" anchor="t">
            <a:spAutoFit/>
          </a:bodyPr>
          <a:lstStyle/>
          <a:p>
            <a:pPr algn="r">
              <a:lnSpc>
                <a:spcPts val="1281"/>
              </a:lnSpc>
              <a:spcBef>
                <a:spcPts val="0"/>
              </a:spcBef>
              <a:spcAft>
                <a:spcPts val="0"/>
              </a:spcAft>
              <a:defRPr sz="1050" b="0">
                <a:solidFill>
                  <a:srgbClr val="607069"/>
                </a:solidFill>
                <a:latin typeface="Lato"/>
              </a:defRPr>
            </a:pPr>
            <a:r>
              <a:t>BÜDCƏ VƏ ANALİTİKA</a:t>
            </a:r>
          </a:p>
        </p:txBody>
      </p:sp>
      <p:cxnSp>
        <p:nvCxnSpPr>
          <p:cNvPr id="5" name="Connector 4"/>
          <p:cNvCxnSpPr/>
          <p:nvPr/>
        </p:nvCxnSpPr>
        <p:spPr>
          <a:xfrm>
            <a:off x="584200" y="762000"/>
            <a:ext cx="13462000" cy="0"/>
          </a:xfrm>
          <a:prstGeom prst="line">
            <a:avLst/>
          </a:prstGeom>
          <a:ln w="12700">
            <a:solidFill>
              <a:srgbClr val="DCE4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079500"/>
            <a:ext cx="13462000" cy="605790"/>
          </a:xfrm>
          <a:prstGeom prst="rect">
            <a:avLst/>
          </a:prstGeom>
          <a:noFill/>
        </p:spPr>
        <p:txBody>
          <a:bodyPr wrap="none" lIns="0" rIns="0" tIns="0" bIns="0" anchor="t">
            <a:spAutoFit/>
          </a:bodyPr>
          <a:lstStyle/>
          <a:p>
            <a:pPr>
              <a:lnSpc>
                <a:spcPts val="4270"/>
              </a:lnSpc>
              <a:spcBef>
                <a:spcPts val="0"/>
              </a:spcBef>
              <a:spcAft>
                <a:spcPts val="0"/>
              </a:spcAft>
              <a:defRPr sz="3500" b="1">
                <a:solidFill>
                  <a:srgbClr val="202B27"/>
                </a:solidFill>
                <a:latin typeface="Lato"/>
              </a:defRPr>
            </a:pPr>
            <a:r>
              <a:t>Plan, öhdəlik və faktiki xərc ayrı görünür</a:t>
            </a:r>
          </a:p>
        </p:txBody>
      </p:sp>
      <p:sp>
        <p:nvSpPr>
          <p:cNvPr id="7" name="TextBox 6"/>
          <p:cNvSpPr txBox="1"/>
          <p:nvPr/>
        </p:nvSpPr>
        <p:spPr>
          <a:xfrm>
            <a:off x="584200" y="1739900"/>
            <a:ext cx="13462000" cy="326898"/>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Maliyyə nəzarəti və idarəetmə hesabatı eyni məlumat zəncirinə əsaslanır.</a:t>
            </a:r>
          </a:p>
        </p:txBody>
      </p:sp>
      <p:sp>
        <p:nvSpPr>
          <p:cNvPr id="8" name="TextBox 7"/>
          <p:cNvSpPr txBox="1"/>
          <p:nvPr/>
        </p:nvSpPr>
        <p:spPr>
          <a:xfrm>
            <a:off x="584200" y="7835900"/>
            <a:ext cx="10160000" cy="210693"/>
          </a:xfrm>
          <a:prstGeom prst="rect">
            <a:avLst/>
          </a:prstGeom>
          <a:noFill/>
        </p:spPr>
        <p:txBody>
          <a:bodyPr wrap="none" lIns="0" rIns="0" tIns="0" bIns="0" anchor="t">
            <a:spAutoFit/>
          </a:bodyPr>
          <a:lstStyle/>
          <a:p>
            <a:pPr>
              <a:lnSpc>
                <a:spcPts val="1159"/>
              </a:lnSpc>
              <a:spcBef>
                <a:spcPts val="0"/>
              </a:spcBef>
              <a:spcAft>
                <a:spcPts val="0"/>
              </a:spcAft>
              <a:defRPr sz="950" b="0">
                <a:solidFill>
                  <a:srgbClr val="607069"/>
                </a:solidFill>
                <a:latin typeface="Lato"/>
              </a:defRPr>
            </a:pPr>
            <a:r>
              <a:t>KORPORATİV SATINALMA / MƏHSUL TƏQDİMATI</a:t>
            </a:r>
          </a:p>
        </p:txBody>
      </p:sp>
      <p:sp>
        <p:nvSpPr>
          <p:cNvPr id="9" name="TextBox 8"/>
          <p:cNvSpPr txBox="1"/>
          <p:nvPr/>
        </p:nvSpPr>
        <p:spPr>
          <a:xfrm>
            <a:off x="13411200" y="7785100"/>
            <a:ext cx="635000" cy="264922"/>
          </a:xfrm>
          <a:prstGeom prst="rect">
            <a:avLst/>
          </a:prstGeom>
          <a:noFill/>
        </p:spPr>
        <p:txBody>
          <a:bodyPr wrap="none" lIns="0" rIns="0" tIns="0" bIns="0" anchor="t">
            <a:spAutoFit/>
          </a:bodyPr>
          <a:lstStyle/>
          <a:p>
            <a:pPr algn="r">
              <a:lnSpc>
                <a:spcPts val="1586"/>
              </a:lnSpc>
              <a:spcBef>
                <a:spcPts val="0"/>
              </a:spcBef>
              <a:spcAft>
                <a:spcPts val="0"/>
              </a:spcAft>
              <a:defRPr sz="1300" b="1">
                <a:solidFill>
                  <a:srgbClr val="087F62"/>
                </a:solidFill>
                <a:latin typeface="Lato"/>
              </a:defRPr>
            </a:pPr>
            <a:r>
              <a:t>18</a:t>
            </a:r>
          </a:p>
        </p:txBody>
      </p:sp>
      <p:sp>
        <p:nvSpPr>
          <p:cNvPr id="10" name="TextBox 9"/>
          <p:cNvSpPr txBox="1"/>
          <p:nvPr/>
        </p:nvSpPr>
        <p:spPr>
          <a:xfrm>
            <a:off x="584200" y="2628900"/>
            <a:ext cx="64516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202B27"/>
                </a:solidFill>
                <a:latin typeface="Lato"/>
              </a:defRPr>
            </a:pPr>
            <a:r>
              <a:t>Büdcə və öhdəlik</a:t>
            </a:r>
          </a:p>
        </p:txBody>
      </p:sp>
      <p:sp>
        <p:nvSpPr>
          <p:cNvPr id="11" name="TextBox 10"/>
          <p:cNvSpPr txBox="1"/>
          <p:nvPr/>
        </p:nvSpPr>
        <p:spPr>
          <a:xfrm>
            <a:off x="7594600" y="2628900"/>
            <a:ext cx="64516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202B27"/>
                </a:solidFill>
                <a:latin typeface="Lato"/>
              </a:defRPr>
            </a:pPr>
            <a:r>
              <a:t>Faktiki xərc və qənaət</a:t>
            </a:r>
          </a:p>
        </p:txBody>
      </p:sp>
      <p:sp>
        <p:nvSpPr>
          <p:cNvPr id="12" name="Rounded Rectangle 11"/>
          <p:cNvSpPr/>
          <p:nvPr/>
        </p:nvSpPr>
        <p:spPr>
          <a:xfrm>
            <a:off x="520700" y="3141649"/>
            <a:ext cx="6578600" cy="3051200"/>
          </a:xfrm>
          <a:prstGeom prst="roundRect">
            <a:avLst>
              <a:gd name="adj" fmla="val 2497"/>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2"/>
          <a:stretch>
            <a:fillRect/>
          </a:stretch>
        </p:blipFill>
        <p:spPr>
          <a:xfrm>
            <a:off x="584200" y="3205149"/>
            <a:ext cx="6451600" cy="2924200"/>
          </a:xfrm>
          <a:prstGeom prst="rect">
            <a:avLst/>
          </a:prstGeom>
        </p:spPr>
      </p:pic>
      <p:sp>
        <p:nvSpPr>
          <p:cNvPr id="14" name="TextBox 13"/>
          <p:cNvSpPr txBox="1"/>
          <p:nvPr/>
        </p:nvSpPr>
        <p:spPr>
          <a:xfrm>
            <a:off x="584200" y="6256350"/>
            <a:ext cx="6451600" cy="226187"/>
          </a:xfrm>
          <a:prstGeom prst="rect">
            <a:avLst/>
          </a:prstGeom>
          <a:noFill/>
        </p:spPr>
        <p:txBody>
          <a:bodyPr wrap="none" lIns="0" rIns="0" tIns="0" bIns="0" anchor="t">
            <a:spAutoFit/>
          </a:bodyPr>
          <a:lstStyle/>
          <a:p>
            <a:pPr>
              <a:lnSpc>
                <a:spcPts val="1281"/>
              </a:lnSpc>
              <a:spcBef>
                <a:spcPts val="0"/>
              </a:spcBef>
              <a:spcAft>
                <a:spcPts val="0"/>
              </a:spcAft>
              <a:defRPr sz="1050" b="0">
                <a:solidFill>
                  <a:srgbClr val="607069"/>
                </a:solidFill>
                <a:latin typeface="Lato"/>
              </a:defRPr>
            </a:pPr>
            <a:r>
              <a:t>AZ demo interfeysi · ekran fraqmenti</a:t>
            </a:r>
          </a:p>
        </p:txBody>
      </p:sp>
      <p:sp>
        <p:nvSpPr>
          <p:cNvPr id="15" name="Rounded Rectangle 14"/>
          <p:cNvSpPr/>
          <p:nvPr/>
        </p:nvSpPr>
        <p:spPr>
          <a:xfrm>
            <a:off x="7782328" y="3111500"/>
            <a:ext cx="6076143" cy="3835400"/>
          </a:xfrm>
          <a:prstGeom prst="roundRect">
            <a:avLst>
              <a:gd name="adj" fmla="val 1986"/>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7845828" y="3175000"/>
            <a:ext cx="5949143" cy="3708400"/>
          </a:xfrm>
          <a:prstGeom prst="rect">
            <a:avLst/>
          </a:prstGeom>
        </p:spPr>
      </p:pic>
      <p:sp>
        <p:nvSpPr>
          <p:cNvPr id="17" name="TextBox 16"/>
          <p:cNvSpPr txBox="1"/>
          <p:nvPr/>
        </p:nvSpPr>
        <p:spPr>
          <a:xfrm>
            <a:off x="7845828" y="7010400"/>
            <a:ext cx="5949143" cy="226187"/>
          </a:xfrm>
          <a:prstGeom prst="rect">
            <a:avLst/>
          </a:prstGeom>
          <a:noFill/>
        </p:spPr>
        <p:txBody>
          <a:bodyPr wrap="none" lIns="0" rIns="0" tIns="0" bIns="0" anchor="t">
            <a:spAutoFit/>
          </a:bodyPr>
          <a:lstStyle/>
          <a:p>
            <a:pPr>
              <a:lnSpc>
                <a:spcPts val="1281"/>
              </a:lnSpc>
              <a:spcBef>
                <a:spcPts val="0"/>
              </a:spcBef>
              <a:spcAft>
                <a:spcPts val="0"/>
              </a:spcAft>
              <a:defRPr sz="1050" b="0">
                <a:solidFill>
                  <a:srgbClr val="607069"/>
                </a:solidFill>
                <a:latin typeface="Lato"/>
              </a:defRPr>
            </a:pPr>
            <a:r>
              <a:t>AZ demo interfeysi · ekran fraqmenti</a:t>
            </a:r>
          </a:p>
        </p:txBody>
      </p:sp>
      <p:sp>
        <p:nvSpPr>
          <p:cNvPr id="18" name="TextBox 17"/>
          <p:cNvSpPr txBox="1"/>
          <p:nvPr/>
        </p:nvSpPr>
        <p:spPr>
          <a:xfrm>
            <a:off x="584200" y="6680200"/>
            <a:ext cx="6451600" cy="652272"/>
          </a:xfrm>
          <a:prstGeom prst="rect">
            <a:avLst/>
          </a:prstGeom>
          <a:noFill/>
        </p:spPr>
        <p:txBody>
          <a:bodyPr wrap="none" lIns="0" rIns="0" tIns="0" bIns="0" anchor="t">
            <a:spAutoFit/>
          </a:bodyPr>
          <a:lstStyle/>
          <a:p>
            <a:pPr>
              <a:lnSpc>
                <a:spcPts val="2318"/>
              </a:lnSpc>
              <a:spcBef>
                <a:spcPts val="0"/>
              </a:spcBef>
              <a:spcAft>
                <a:spcPts val="0"/>
              </a:spcAft>
              <a:defRPr sz="1900" b="0">
                <a:solidFill>
                  <a:srgbClr val="607069"/>
                </a:solidFill>
                <a:latin typeface="Lato"/>
              </a:defRPr>
            </a:pPr>
            <a:r>
              <a:t>Limit aşımı barədə xəbərdarlıq.</a:t>
            </a:r>
          </a:p>
          <a:p>
            <a:pPr>
              <a:lnSpc>
                <a:spcPts val="2318"/>
              </a:lnSpc>
              <a:spcBef>
                <a:spcPts val="0"/>
              </a:spcBef>
              <a:spcAft>
                <a:spcPts val="0"/>
              </a:spcAft>
              <a:defRPr sz="1900" b="0">
                <a:solidFill>
                  <a:srgbClr val="607069"/>
                </a:solidFill>
                <a:latin typeface="Lato"/>
              </a:defRPr>
            </a:pPr>
            <a:r>
              <a:t>Yekun qərar səlahiyyətli şəxsdədir.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317500"/>
            <a:ext cx="2540000" cy="326898"/>
          </a:xfrm>
          <a:prstGeom prst="rect">
            <a:avLst/>
          </a:prstGeom>
          <a:noFill/>
        </p:spPr>
        <p:txBody>
          <a:bodyPr wrap="none" lIns="0" rIns="0" tIns="0" bIns="0" anchor="t">
            <a:spAutoFit/>
          </a:bodyPr>
          <a:lstStyle/>
          <a:p>
            <a:pPr>
              <a:lnSpc>
                <a:spcPts val="2074"/>
              </a:lnSpc>
              <a:spcBef>
                <a:spcPts val="0"/>
              </a:spcBef>
              <a:spcAft>
                <a:spcPts val="0"/>
              </a:spcAft>
              <a:defRPr sz="1700" b="1">
                <a:solidFill>
                  <a:srgbClr val="087F62"/>
                </a:solidFill>
                <a:latin typeface="Lato"/>
              </a:defRPr>
            </a:pPr>
            <a:r>
              <a:t>Leadprocure</a:t>
            </a:r>
          </a:p>
        </p:txBody>
      </p:sp>
      <p:sp>
        <p:nvSpPr>
          <p:cNvPr id="4" name="TextBox 3"/>
          <p:cNvSpPr txBox="1"/>
          <p:nvPr/>
        </p:nvSpPr>
        <p:spPr>
          <a:xfrm>
            <a:off x="9525000" y="368300"/>
            <a:ext cx="4521200" cy="226187"/>
          </a:xfrm>
          <a:prstGeom prst="rect">
            <a:avLst/>
          </a:prstGeom>
          <a:noFill/>
        </p:spPr>
        <p:txBody>
          <a:bodyPr wrap="none" lIns="0" rIns="0" tIns="0" bIns="0" anchor="t">
            <a:spAutoFit/>
          </a:bodyPr>
          <a:lstStyle/>
          <a:p>
            <a:pPr algn="r">
              <a:lnSpc>
                <a:spcPts val="1281"/>
              </a:lnSpc>
              <a:spcBef>
                <a:spcPts val="0"/>
              </a:spcBef>
              <a:spcAft>
                <a:spcPts val="0"/>
              </a:spcAft>
              <a:defRPr sz="1050" b="0">
                <a:solidFill>
                  <a:srgbClr val="607069"/>
                </a:solidFill>
                <a:latin typeface="Lato"/>
              </a:defRPr>
            </a:pPr>
            <a:r>
              <a:t>TƏCHİZATÇI İDARƏÇİLİYİ</a:t>
            </a:r>
          </a:p>
        </p:txBody>
      </p:sp>
      <p:cxnSp>
        <p:nvCxnSpPr>
          <p:cNvPr id="5" name="Connector 4"/>
          <p:cNvCxnSpPr/>
          <p:nvPr/>
        </p:nvCxnSpPr>
        <p:spPr>
          <a:xfrm>
            <a:off x="584200" y="762000"/>
            <a:ext cx="13462000" cy="0"/>
          </a:xfrm>
          <a:prstGeom prst="line">
            <a:avLst/>
          </a:prstGeom>
          <a:ln w="12700">
            <a:solidFill>
              <a:srgbClr val="DCE4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079500"/>
            <a:ext cx="13462000" cy="605790"/>
          </a:xfrm>
          <a:prstGeom prst="rect">
            <a:avLst/>
          </a:prstGeom>
          <a:noFill/>
        </p:spPr>
        <p:txBody>
          <a:bodyPr wrap="none" lIns="0" rIns="0" tIns="0" bIns="0" anchor="t">
            <a:spAutoFit/>
          </a:bodyPr>
          <a:lstStyle/>
          <a:p>
            <a:pPr>
              <a:lnSpc>
                <a:spcPts val="4270"/>
              </a:lnSpc>
              <a:spcBef>
                <a:spcPts val="0"/>
              </a:spcBef>
              <a:spcAft>
                <a:spcPts val="0"/>
              </a:spcAft>
              <a:defRPr sz="3500" b="1">
                <a:solidFill>
                  <a:srgbClr val="202B27"/>
                </a:solidFill>
                <a:latin typeface="Lato"/>
              </a:defRPr>
            </a:pPr>
            <a:r>
              <a:t>Təchizatçı bazasını sənəd və nəticə ilə qiymətləndirin</a:t>
            </a:r>
          </a:p>
        </p:txBody>
      </p:sp>
      <p:sp>
        <p:nvSpPr>
          <p:cNvPr id="7" name="TextBox 6"/>
          <p:cNvSpPr txBox="1"/>
          <p:nvPr/>
        </p:nvSpPr>
        <p:spPr>
          <a:xfrm>
            <a:off x="584200" y="1739900"/>
            <a:ext cx="13462000" cy="326898"/>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Reyestr, sənəd yoxlaması və icra göstəriciləri bir-birini tamamlayır.</a:t>
            </a:r>
          </a:p>
        </p:txBody>
      </p:sp>
      <p:sp>
        <p:nvSpPr>
          <p:cNvPr id="8" name="TextBox 7"/>
          <p:cNvSpPr txBox="1"/>
          <p:nvPr/>
        </p:nvSpPr>
        <p:spPr>
          <a:xfrm>
            <a:off x="584200" y="7835900"/>
            <a:ext cx="10160000" cy="210693"/>
          </a:xfrm>
          <a:prstGeom prst="rect">
            <a:avLst/>
          </a:prstGeom>
          <a:noFill/>
        </p:spPr>
        <p:txBody>
          <a:bodyPr wrap="none" lIns="0" rIns="0" tIns="0" bIns="0" anchor="t">
            <a:spAutoFit/>
          </a:bodyPr>
          <a:lstStyle/>
          <a:p>
            <a:pPr>
              <a:lnSpc>
                <a:spcPts val="1159"/>
              </a:lnSpc>
              <a:spcBef>
                <a:spcPts val="0"/>
              </a:spcBef>
              <a:spcAft>
                <a:spcPts val="0"/>
              </a:spcAft>
              <a:defRPr sz="950" b="0">
                <a:solidFill>
                  <a:srgbClr val="607069"/>
                </a:solidFill>
                <a:latin typeface="Lato"/>
              </a:defRPr>
            </a:pPr>
            <a:r>
              <a:t>KORPORATİV SATINALMA / MƏHSUL TƏQDİMATI</a:t>
            </a:r>
          </a:p>
        </p:txBody>
      </p:sp>
      <p:sp>
        <p:nvSpPr>
          <p:cNvPr id="9" name="TextBox 8"/>
          <p:cNvSpPr txBox="1"/>
          <p:nvPr/>
        </p:nvSpPr>
        <p:spPr>
          <a:xfrm>
            <a:off x="13411200" y="7785100"/>
            <a:ext cx="635000" cy="264922"/>
          </a:xfrm>
          <a:prstGeom prst="rect">
            <a:avLst/>
          </a:prstGeom>
          <a:noFill/>
        </p:spPr>
        <p:txBody>
          <a:bodyPr wrap="none" lIns="0" rIns="0" tIns="0" bIns="0" anchor="t">
            <a:spAutoFit/>
          </a:bodyPr>
          <a:lstStyle/>
          <a:p>
            <a:pPr algn="r">
              <a:lnSpc>
                <a:spcPts val="1586"/>
              </a:lnSpc>
              <a:spcBef>
                <a:spcPts val="0"/>
              </a:spcBef>
              <a:spcAft>
                <a:spcPts val="0"/>
              </a:spcAft>
              <a:defRPr sz="1300" b="1">
                <a:solidFill>
                  <a:srgbClr val="087F62"/>
                </a:solidFill>
                <a:latin typeface="Lato"/>
              </a:defRPr>
            </a:pPr>
            <a:r>
              <a:t>19</a:t>
            </a:r>
          </a:p>
        </p:txBody>
      </p:sp>
      <p:sp>
        <p:nvSpPr>
          <p:cNvPr id="10" name="Rounded Rectangle 9"/>
          <p:cNvSpPr/>
          <p:nvPr/>
        </p:nvSpPr>
        <p:spPr>
          <a:xfrm>
            <a:off x="2888830" y="2603500"/>
            <a:ext cx="8852738" cy="3746500"/>
          </a:xfrm>
          <a:prstGeom prst="roundRect">
            <a:avLst>
              <a:gd name="adj" fmla="val 2033"/>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2952330" y="2667000"/>
            <a:ext cx="8725738" cy="3619500"/>
          </a:xfrm>
          <a:prstGeom prst="rect">
            <a:avLst/>
          </a:prstGeom>
        </p:spPr>
      </p:pic>
      <p:sp>
        <p:nvSpPr>
          <p:cNvPr id="12" name="TextBox 11"/>
          <p:cNvSpPr txBox="1"/>
          <p:nvPr/>
        </p:nvSpPr>
        <p:spPr>
          <a:xfrm>
            <a:off x="2952330" y="6413500"/>
            <a:ext cx="8725738" cy="226187"/>
          </a:xfrm>
          <a:prstGeom prst="rect">
            <a:avLst/>
          </a:prstGeom>
          <a:noFill/>
        </p:spPr>
        <p:txBody>
          <a:bodyPr wrap="none" lIns="0" rIns="0" tIns="0" bIns="0" anchor="t">
            <a:spAutoFit/>
          </a:bodyPr>
          <a:lstStyle/>
          <a:p>
            <a:pPr>
              <a:lnSpc>
                <a:spcPts val="1281"/>
              </a:lnSpc>
              <a:spcBef>
                <a:spcPts val="0"/>
              </a:spcBef>
              <a:spcAft>
                <a:spcPts val="0"/>
              </a:spcAft>
              <a:defRPr sz="1050" b="0">
                <a:solidFill>
                  <a:srgbClr val="607069"/>
                </a:solidFill>
                <a:latin typeface="Lato"/>
              </a:defRPr>
            </a:pPr>
            <a:r>
              <a:t>AZ demo interfeysi · ekran fraqmenti</a:t>
            </a:r>
          </a:p>
        </p:txBody>
      </p:sp>
      <p:sp>
        <p:nvSpPr>
          <p:cNvPr id="13" name="TextBox 12"/>
          <p:cNvSpPr txBox="1"/>
          <p:nvPr/>
        </p:nvSpPr>
        <p:spPr>
          <a:xfrm>
            <a:off x="584200" y="6629400"/>
            <a:ext cx="4445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01</a:t>
            </a:r>
          </a:p>
        </p:txBody>
      </p:sp>
      <p:sp>
        <p:nvSpPr>
          <p:cNvPr id="14" name="TextBox 13"/>
          <p:cNvSpPr txBox="1"/>
          <p:nvPr/>
        </p:nvSpPr>
        <p:spPr>
          <a:xfrm>
            <a:off x="1143000" y="6604000"/>
            <a:ext cx="37084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202B27"/>
                </a:solidFill>
                <a:latin typeface="Lato"/>
              </a:defRPr>
            </a:pPr>
            <a:r>
              <a:t>Reyestr</a:t>
            </a:r>
          </a:p>
        </p:txBody>
      </p:sp>
      <p:sp>
        <p:nvSpPr>
          <p:cNvPr id="15" name="TextBox 14"/>
          <p:cNvSpPr txBox="1"/>
          <p:nvPr/>
        </p:nvSpPr>
        <p:spPr>
          <a:xfrm>
            <a:off x="1143000" y="7327900"/>
            <a:ext cx="3708400" cy="311404"/>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Dəvət, təsdiq və bloklama.</a:t>
            </a:r>
          </a:p>
        </p:txBody>
      </p:sp>
      <p:sp>
        <p:nvSpPr>
          <p:cNvPr id="16" name="TextBox 15"/>
          <p:cNvSpPr txBox="1"/>
          <p:nvPr/>
        </p:nvSpPr>
        <p:spPr>
          <a:xfrm>
            <a:off x="5181600" y="6629400"/>
            <a:ext cx="4445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02</a:t>
            </a:r>
          </a:p>
        </p:txBody>
      </p:sp>
      <p:sp>
        <p:nvSpPr>
          <p:cNvPr id="17" name="TextBox 16"/>
          <p:cNvSpPr txBox="1"/>
          <p:nvPr/>
        </p:nvSpPr>
        <p:spPr>
          <a:xfrm>
            <a:off x="5740400" y="6604000"/>
            <a:ext cx="37084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202B27"/>
                </a:solidFill>
                <a:latin typeface="Lato"/>
              </a:defRPr>
            </a:pPr>
            <a:r>
              <a:t>Sənəd yoxlaması</a:t>
            </a:r>
          </a:p>
        </p:txBody>
      </p:sp>
      <p:sp>
        <p:nvSpPr>
          <p:cNvPr id="18" name="TextBox 17"/>
          <p:cNvSpPr txBox="1"/>
          <p:nvPr/>
        </p:nvSpPr>
        <p:spPr>
          <a:xfrm>
            <a:off x="5740400" y="7327900"/>
            <a:ext cx="3708400" cy="311404"/>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VÖEN, lisenziya və tələb edilən sənədlər.</a:t>
            </a:r>
          </a:p>
        </p:txBody>
      </p:sp>
      <p:sp>
        <p:nvSpPr>
          <p:cNvPr id="19" name="TextBox 18"/>
          <p:cNvSpPr txBox="1"/>
          <p:nvPr/>
        </p:nvSpPr>
        <p:spPr>
          <a:xfrm>
            <a:off x="9779000" y="6629400"/>
            <a:ext cx="4445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03</a:t>
            </a:r>
          </a:p>
        </p:txBody>
      </p:sp>
      <p:sp>
        <p:nvSpPr>
          <p:cNvPr id="20" name="TextBox 19"/>
          <p:cNvSpPr txBox="1"/>
          <p:nvPr/>
        </p:nvSpPr>
        <p:spPr>
          <a:xfrm>
            <a:off x="10337800" y="6604000"/>
            <a:ext cx="3708400" cy="388874"/>
          </a:xfrm>
          <a:prstGeom prst="rect">
            <a:avLst/>
          </a:prstGeom>
          <a:noFill/>
        </p:spPr>
        <p:txBody>
          <a:bodyPr wrap="none" lIns="0" rIns="0" tIns="0" bIns="0" anchor="t">
            <a:spAutoFit/>
          </a:bodyPr>
          <a:lstStyle/>
          <a:p>
            <a:pPr>
              <a:lnSpc>
                <a:spcPts val="2562"/>
              </a:lnSpc>
              <a:spcBef>
                <a:spcPts val="0"/>
              </a:spcBef>
              <a:spcAft>
                <a:spcPts val="0"/>
              </a:spcAft>
              <a:defRPr sz="2100" b="1">
                <a:solidFill>
                  <a:srgbClr val="202B27"/>
                </a:solidFill>
                <a:latin typeface="Lato"/>
              </a:defRPr>
            </a:pPr>
            <a:r>
              <a:t>Təchizatçı reytinqi</a:t>
            </a:r>
          </a:p>
        </p:txBody>
      </p:sp>
      <p:sp>
        <p:nvSpPr>
          <p:cNvPr id="21" name="TextBox 20"/>
          <p:cNvSpPr txBox="1"/>
          <p:nvPr/>
        </p:nvSpPr>
        <p:spPr>
          <a:xfrm>
            <a:off x="10337800" y="7327900"/>
            <a:ext cx="3708400" cy="311404"/>
          </a:xfrm>
          <a:prstGeom prst="rect">
            <a:avLst/>
          </a:prstGeom>
          <a:noFill/>
        </p:spPr>
        <p:txBody>
          <a:bodyPr wrap="none" lIns="0" rIns="0" tIns="0" bIns="0" anchor="t">
            <a:spAutoFit/>
          </a:bodyPr>
          <a:lstStyle/>
          <a:p>
            <a:pPr>
              <a:lnSpc>
                <a:spcPts val="1952"/>
              </a:lnSpc>
              <a:spcBef>
                <a:spcPts val="0"/>
              </a:spcBef>
              <a:spcAft>
                <a:spcPts val="0"/>
              </a:spcAft>
              <a:defRPr sz="1600" b="0">
                <a:solidFill>
                  <a:srgbClr val="607069"/>
                </a:solidFill>
                <a:latin typeface="Lato"/>
              </a:defRPr>
            </a:pPr>
            <a:r>
              <a:t>Çatdırılma, keyfiyyət və ünsiyyət.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317500"/>
            <a:ext cx="2540000" cy="326898"/>
          </a:xfrm>
          <a:prstGeom prst="rect">
            <a:avLst/>
          </a:prstGeom>
          <a:noFill/>
        </p:spPr>
        <p:txBody>
          <a:bodyPr wrap="none" lIns="0" rIns="0" tIns="0" bIns="0" anchor="t">
            <a:spAutoFit/>
          </a:bodyPr>
          <a:lstStyle/>
          <a:p>
            <a:pPr>
              <a:lnSpc>
                <a:spcPts val="2074"/>
              </a:lnSpc>
              <a:spcBef>
                <a:spcPts val="0"/>
              </a:spcBef>
              <a:spcAft>
                <a:spcPts val="0"/>
              </a:spcAft>
              <a:defRPr sz="1700" b="1">
                <a:solidFill>
                  <a:srgbClr val="087F62"/>
                </a:solidFill>
                <a:latin typeface="Lato"/>
              </a:defRPr>
            </a:pPr>
            <a:r>
              <a:t>Leadprocure</a:t>
            </a:r>
          </a:p>
        </p:txBody>
      </p:sp>
      <p:sp>
        <p:nvSpPr>
          <p:cNvPr id="4" name="TextBox 3"/>
          <p:cNvSpPr txBox="1"/>
          <p:nvPr/>
        </p:nvSpPr>
        <p:spPr>
          <a:xfrm>
            <a:off x="9525000" y="368300"/>
            <a:ext cx="4521200" cy="226187"/>
          </a:xfrm>
          <a:prstGeom prst="rect">
            <a:avLst/>
          </a:prstGeom>
          <a:noFill/>
        </p:spPr>
        <p:txBody>
          <a:bodyPr wrap="none" lIns="0" rIns="0" tIns="0" bIns="0" anchor="t">
            <a:spAutoFit/>
          </a:bodyPr>
          <a:lstStyle/>
          <a:p>
            <a:pPr algn="r">
              <a:lnSpc>
                <a:spcPts val="1281"/>
              </a:lnSpc>
              <a:spcBef>
                <a:spcPts val="0"/>
              </a:spcBef>
              <a:spcAft>
                <a:spcPts val="0"/>
              </a:spcAft>
              <a:defRPr sz="1050" b="0">
                <a:solidFill>
                  <a:srgbClr val="607069"/>
                </a:solidFill>
                <a:latin typeface="Lato"/>
              </a:defRPr>
            </a:pPr>
            <a:r>
              <a:t>ETİBAR VƏ UYĞUNLAŞDIRMA</a:t>
            </a:r>
          </a:p>
        </p:txBody>
      </p:sp>
      <p:cxnSp>
        <p:nvCxnSpPr>
          <p:cNvPr id="5" name="Connector 4"/>
          <p:cNvCxnSpPr/>
          <p:nvPr/>
        </p:nvCxnSpPr>
        <p:spPr>
          <a:xfrm>
            <a:off x="584200" y="762000"/>
            <a:ext cx="13462000" cy="0"/>
          </a:xfrm>
          <a:prstGeom prst="line">
            <a:avLst/>
          </a:prstGeom>
          <a:ln w="12700">
            <a:solidFill>
              <a:srgbClr val="DCE4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079500"/>
            <a:ext cx="13462000" cy="605790"/>
          </a:xfrm>
          <a:prstGeom prst="rect">
            <a:avLst/>
          </a:prstGeom>
          <a:noFill/>
        </p:spPr>
        <p:txBody>
          <a:bodyPr wrap="none" lIns="0" rIns="0" tIns="0" bIns="0" anchor="t">
            <a:spAutoFit/>
          </a:bodyPr>
          <a:lstStyle/>
          <a:p>
            <a:pPr>
              <a:lnSpc>
                <a:spcPts val="4270"/>
              </a:lnSpc>
              <a:spcBef>
                <a:spcPts val="0"/>
              </a:spcBef>
              <a:spcAft>
                <a:spcPts val="0"/>
              </a:spcAft>
              <a:defRPr sz="3500" b="1">
                <a:solidFill>
                  <a:srgbClr val="202B27"/>
                </a:solidFill>
                <a:latin typeface="Lato"/>
              </a:defRPr>
            </a:pPr>
            <a:r>
              <a:t>Korporativ tələblərə uyğun iş mühiti</a:t>
            </a:r>
          </a:p>
        </p:txBody>
      </p:sp>
      <p:sp>
        <p:nvSpPr>
          <p:cNvPr id="7" name="TextBox 6"/>
          <p:cNvSpPr txBox="1"/>
          <p:nvPr/>
        </p:nvSpPr>
        <p:spPr>
          <a:xfrm>
            <a:off x="584200" y="1739900"/>
            <a:ext cx="13462000" cy="326898"/>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Məlumat nəzarəti, lokal iş qaydaları və müxtəlif yerləşdirmə variantları.</a:t>
            </a:r>
          </a:p>
        </p:txBody>
      </p:sp>
      <p:sp>
        <p:nvSpPr>
          <p:cNvPr id="8" name="TextBox 7"/>
          <p:cNvSpPr txBox="1"/>
          <p:nvPr/>
        </p:nvSpPr>
        <p:spPr>
          <a:xfrm>
            <a:off x="584200" y="7835900"/>
            <a:ext cx="10160000" cy="210693"/>
          </a:xfrm>
          <a:prstGeom prst="rect">
            <a:avLst/>
          </a:prstGeom>
          <a:noFill/>
        </p:spPr>
        <p:txBody>
          <a:bodyPr wrap="none" lIns="0" rIns="0" tIns="0" bIns="0" anchor="t">
            <a:spAutoFit/>
          </a:bodyPr>
          <a:lstStyle/>
          <a:p>
            <a:pPr>
              <a:lnSpc>
                <a:spcPts val="1159"/>
              </a:lnSpc>
              <a:spcBef>
                <a:spcPts val="0"/>
              </a:spcBef>
              <a:spcAft>
                <a:spcPts val="0"/>
              </a:spcAft>
              <a:defRPr sz="950" b="0">
                <a:solidFill>
                  <a:srgbClr val="607069"/>
                </a:solidFill>
                <a:latin typeface="Lato"/>
              </a:defRPr>
            </a:pPr>
            <a:r>
              <a:t>KORPORATİV SATINALMA / MƏHSUL TƏQDİMATI</a:t>
            </a:r>
          </a:p>
        </p:txBody>
      </p:sp>
      <p:sp>
        <p:nvSpPr>
          <p:cNvPr id="9" name="TextBox 8"/>
          <p:cNvSpPr txBox="1"/>
          <p:nvPr/>
        </p:nvSpPr>
        <p:spPr>
          <a:xfrm>
            <a:off x="13411200" y="7785100"/>
            <a:ext cx="635000" cy="264922"/>
          </a:xfrm>
          <a:prstGeom prst="rect">
            <a:avLst/>
          </a:prstGeom>
          <a:noFill/>
        </p:spPr>
        <p:txBody>
          <a:bodyPr wrap="none" lIns="0" rIns="0" tIns="0" bIns="0" anchor="t">
            <a:spAutoFit/>
          </a:bodyPr>
          <a:lstStyle/>
          <a:p>
            <a:pPr algn="r">
              <a:lnSpc>
                <a:spcPts val="1586"/>
              </a:lnSpc>
              <a:spcBef>
                <a:spcPts val="0"/>
              </a:spcBef>
              <a:spcAft>
                <a:spcPts val="0"/>
              </a:spcAft>
              <a:defRPr sz="1300" b="1">
                <a:solidFill>
                  <a:srgbClr val="087F62"/>
                </a:solidFill>
                <a:latin typeface="Lato"/>
              </a:defRPr>
            </a:pPr>
            <a:r>
              <a:t>20</a:t>
            </a:r>
          </a:p>
        </p:txBody>
      </p:sp>
      <p:sp>
        <p:nvSpPr>
          <p:cNvPr id="10" name="Rounded Rectangle 9"/>
          <p:cNvSpPr/>
          <p:nvPr/>
        </p:nvSpPr>
        <p:spPr>
          <a:xfrm>
            <a:off x="584200" y="2667000"/>
            <a:ext cx="4318000" cy="3124200"/>
          </a:xfrm>
          <a:prstGeom prst="roundRect">
            <a:avLst>
              <a:gd name="adj" fmla="val 3252"/>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3600" y="2895600"/>
            <a:ext cx="37592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MƏLUMAT</a:t>
            </a:r>
          </a:p>
        </p:txBody>
      </p:sp>
      <p:sp>
        <p:nvSpPr>
          <p:cNvPr id="12" name="TextBox 11"/>
          <p:cNvSpPr txBox="1"/>
          <p:nvPr/>
        </p:nvSpPr>
        <p:spPr>
          <a:xfrm>
            <a:off x="863600" y="3276600"/>
            <a:ext cx="37592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202B27"/>
                </a:solidFill>
                <a:latin typeface="Lato"/>
              </a:defRPr>
            </a:pPr>
            <a:r>
              <a:t>Ayrılmış giriş</a:t>
            </a:r>
          </a:p>
        </p:txBody>
      </p:sp>
      <p:sp>
        <p:nvSpPr>
          <p:cNvPr id="13" name="TextBox 12"/>
          <p:cNvSpPr txBox="1"/>
          <p:nvPr/>
        </p:nvSpPr>
        <p:spPr>
          <a:xfrm>
            <a:off x="863600" y="4089400"/>
            <a:ext cx="3759200" cy="590296"/>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Təşkilatlar üzrə məlumat sərhədləri, rol</a:t>
            </a:r>
          </a:p>
          <a:p>
            <a:pPr>
              <a:lnSpc>
                <a:spcPts val="2074"/>
              </a:lnSpc>
              <a:spcBef>
                <a:spcPts val="0"/>
              </a:spcBef>
              <a:spcAft>
                <a:spcPts val="0"/>
              </a:spcAft>
              <a:defRPr sz="1700" b="0">
                <a:solidFill>
                  <a:srgbClr val="607069"/>
                </a:solidFill>
                <a:latin typeface="Lato"/>
              </a:defRPr>
            </a:pPr>
            <a:r>
              <a:t>əsaslı səlahiyyət və audit tarixçəsi.</a:t>
            </a:r>
          </a:p>
        </p:txBody>
      </p:sp>
      <p:sp>
        <p:nvSpPr>
          <p:cNvPr id="14" name="Rounded Rectangle 13"/>
          <p:cNvSpPr/>
          <p:nvPr/>
        </p:nvSpPr>
        <p:spPr>
          <a:xfrm>
            <a:off x="5156200" y="2667000"/>
            <a:ext cx="4318000" cy="3124200"/>
          </a:xfrm>
          <a:prstGeom prst="roundRect">
            <a:avLst>
              <a:gd name="adj" fmla="val 3252"/>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35600" y="2895600"/>
            <a:ext cx="37592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LOKAL İŞ MÜHİTİ</a:t>
            </a:r>
          </a:p>
        </p:txBody>
      </p:sp>
      <p:sp>
        <p:nvSpPr>
          <p:cNvPr id="16" name="TextBox 15"/>
          <p:cNvSpPr txBox="1"/>
          <p:nvPr/>
        </p:nvSpPr>
        <p:spPr>
          <a:xfrm>
            <a:off x="5435600" y="3276600"/>
            <a:ext cx="37592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202B27"/>
                </a:solidFill>
                <a:latin typeface="Lato"/>
              </a:defRPr>
            </a:pPr>
            <a:r>
              <a:t>AZ · RU · EN</a:t>
            </a:r>
          </a:p>
        </p:txBody>
      </p:sp>
      <p:sp>
        <p:nvSpPr>
          <p:cNvPr id="17" name="TextBox 16"/>
          <p:cNvSpPr txBox="1"/>
          <p:nvPr/>
        </p:nvSpPr>
        <p:spPr>
          <a:xfrm>
            <a:off x="5435600" y="4089400"/>
            <a:ext cx="3759200" cy="590296"/>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Azərbaycan dili, AZN, ƏDV və VÖEN;</a:t>
            </a:r>
          </a:p>
          <a:p>
            <a:pPr>
              <a:lnSpc>
                <a:spcPts val="2074"/>
              </a:lnSpc>
              <a:spcBef>
                <a:spcPts val="0"/>
              </a:spcBef>
              <a:spcAft>
                <a:spcPts val="0"/>
              </a:spcAft>
              <a:defRPr sz="1700" b="0">
                <a:solidFill>
                  <a:srgbClr val="607069"/>
                </a:solidFill>
                <a:latin typeface="Lato"/>
              </a:defRPr>
            </a:pPr>
            <a:r>
              <a:t>bölmələr üzrə video bələdçilər.</a:t>
            </a:r>
          </a:p>
        </p:txBody>
      </p:sp>
      <p:sp>
        <p:nvSpPr>
          <p:cNvPr id="18" name="Rounded Rectangle 17"/>
          <p:cNvSpPr/>
          <p:nvPr/>
        </p:nvSpPr>
        <p:spPr>
          <a:xfrm>
            <a:off x="9728200" y="2667000"/>
            <a:ext cx="4318000" cy="3124200"/>
          </a:xfrm>
          <a:prstGeom prst="roundRect">
            <a:avLst>
              <a:gd name="adj" fmla="val 3252"/>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07600" y="2895600"/>
            <a:ext cx="3759200" cy="264922"/>
          </a:xfrm>
          <a:prstGeom prst="rect">
            <a:avLst/>
          </a:prstGeom>
          <a:noFill/>
        </p:spPr>
        <p:txBody>
          <a:bodyPr wrap="none" lIns="0" rIns="0" tIns="0" bIns="0" anchor="t">
            <a:spAutoFit/>
          </a:bodyPr>
          <a:lstStyle/>
          <a:p>
            <a:pPr>
              <a:lnSpc>
                <a:spcPts val="1586"/>
              </a:lnSpc>
              <a:spcBef>
                <a:spcPts val="0"/>
              </a:spcBef>
              <a:spcAft>
                <a:spcPts val="0"/>
              </a:spcAft>
              <a:defRPr sz="1300" b="1">
                <a:solidFill>
                  <a:srgbClr val="087F62"/>
                </a:solidFill>
                <a:latin typeface="Lato"/>
              </a:defRPr>
            </a:pPr>
            <a:r>
              <a:t>YERLƏŞDİRMƏ</a:t>
            </a:r>
          </a:p>
        </p:txBody>
      </p:sp>
      <p:sp>
        <p:nvSpPr>
          <p:cNvPr id="20" name="TextBox 19"/>
          <p:cNvSpPr txBox="1"/>
          <p:nvPr/>
        </p:nvSpPr>
        <p:spPr>
          <a:xfrm>
            <a:off x="10007600" y="3276600"/>
            <a:ext cx="37592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202B27"/>
                </a:solidFill>
                <a:latin typeface="Lato"/>
              </a:defRPr>
            </a:pPr>
            <a:r>
              <a:t>Bulud və on-premise</a:t>
            </a:r>
          </a:p>
        </p:txBody>
      </p:sp>
      <p:sp>
        <p:nvSpPr>
          <p:cNvPr id="21" name="TextBox 20"/>
          <p:cNvSpPr txBox="1"/>
          <p:nvPr/>
        </p:nvSpPr>
        <p:spPr>
          <a:xfrm>
            <a:off x="10007600" y="4089400"/>
            <a:ext cx="3759200" cy="590296"/>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Ortaq bulud modeli və müəssisənin öz</a:t>
            </a:r>
          </a:p>
          <a:p>
            <a:pPr>
              <a:lnSpc>
                <a:spcPts val="2074"/>
              </a:lnSpc>
              <a:spcBef>
                <a:spcPts val="0"/>
              </a:spcBef>
              <a:spcAft>
                <a:spcPts val="0"/>
              </a:spcAft>
              <a:defRPr sz="1700" b="0">
                <a:solidFill>
                  <a:srgbClr val="607069"/>
                </a:solidFill>
                <a:latin typeface="Lato"/>
              </a:defRPr>
            </a:pPr>
            <a:r>
              <a:t>infrastrukturunda yerləşdirmə seçimi.</a:t>
            </a:r>
          </a:p>
        </p:txBody>
      </p:sp>
      <p:sp>
        <p:nvSpPr>
          <p:cNvPr id="22" name="Rounded Rectangle 21"/>
          <p:cNvSpPr/>
          <p:nvPr/>
        </p:nvSpPr>
        <p:spPr>
          <a:xfrm>
            <a:off x="584200" y="6350000"/>
            <a:ext cx="13462000" cy="1016000"/>
          </a:xfrm>
          <a:prstGeom prst="roundRect">
            <a:avLst>
              <a:gd name="adj" fmla="val 8750"/>
            </a:avLst>
          </a:prstGeom>
          <a:solidFill>
            <a:srgbClr val="E6F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3600" y="6616700"/>
            <a:ext cx="12903200" cy="419862"/>
          </a:xfrm>
          <a:prstGeom prst="rect">
            <a:avLst/>
          </a:prstGeom>
          <a:noFill/>
        </p:spPr>
        <p:txBody>
          <a:bodyPr wrap="none" lIns="0" rIns="0" tIns="0" bIns="0" anchor="t">
            <a:spAutoFit/>
          </a:bodyPr>
          <a:lstStyle/>
          <a:p>
            <a:pPr>
              <a:lnSpc>
                <a:spcPts val="2806"/>
              </a:lnSpc>
              <a:spcBef>
                <a:spcPts val="0"/>
              </a:spcBef>
              <a:spcAft>
                <a:spcPts val="0"/>
              </a:spcAft>
              <a:defRPr sz="2300" b="1">
                <a:solidFill>
                  <a:srgbClr val="164B3C"/>
                </a:solidFill>
                <a:latin typeface="Lato"/>
              </a:defRPr>
            </a:pPr>
            <a:r>
              <a:t>Audit üçün izlənən qərarlar. Komanda üçün aydın rollar. Təchizatçı üçün vahid portal.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317500"/>
            <a:ext cx="2540000" cy="326898"/>
          </a:xfrm>
          <a:prstGeom prst="rect">
            <a:avLst/>
          </a:prstGeom>
          <a:noFill/>
        </p:spPr>
        <p:txBody>
          <a:bodyPr wrap="none" lIns="0" rIns="0" tIns="0" bIns="0" anchor="t">
            <a:spAutoFit/>
          </a:bodyPr>
          <a:lstStyle/>
          <a:p>
            <a:pPr>
              <a:lnSpc>
                <a:spcPts val="2074"/>
              </a:lnSpc>
              <a:spcBef>
                <a:spcPts val="0"/>
              </a:spcBef>
              <a:spcAft>
                <a:spcPts val="0"/>
              </a:spcAft>
              <a:defRPr sz="1700" b="1">
                <a:solidFill>
                  <a:srgbClr val="087F62"/>
                </a:solidFill>
                <a:latin typeface="Lato"/>
              </a:defRPr>
            </a:pPr>
            <a:r>
              <a:t>Leadprocure</a:t>
            </a:r>
          </a:p>
        </p:txBody>
      </p:sp>
      <p:sp>
        <p:nvSpPr>
          <p:cNvPr id="4" name="TextBox 3"/>
          <p:cNvSpPr txBox="1"/>
          <p:nvPr/>
        </p:nvSpPr>
        <p:spPr>
          <a:xfrm>
            <a:off x="9525000" y="368300"/>
            <a:ext cx="4521200" cy="226187"/>
          </a:xfrm>
          <a:prstGeom prst="rect">
            <a:avLst/>
          </a:prstGeom>
          <a:noFill/>
        </p:spPr>
        <p:txBody>
          <a:bodyPr wrap="none" lIns="0" rIns="0" tIns="0" bIns="0" anchor="t">
            <a:spAutoFit/>
          </a:bodyPr>
          <a:lstStyle/>
          <a:p>
            <a:pPr algn="r">
              <a:lnSpc>
                <a:spcPts val="1281"/>
              </a:lnSpc>
              <a:spcBef>
                <a:spcPts val="0"/>
              </a:spcBef>
              <a:spcAft>
                <a:spcPts val="0"/>
              </a:spcAft>
              <a:defRPr sz="1050" b="0">
                <a:solidFill>
                  <a:srgbClr val="607069"/>
                </a:solidFill>
                <a:latin typeface="Lato"/>
              </a:defRPr>
            </a:pPr>
            <a:r>
              <a:t>MƏLUMAT MÜBADİLƏSİ</a:t>
            </a:r>
          </a:p>
        </p:txBody>
      </p:sp>
      <p:cxnSp>
        <p:nvCxnSpPr>
          <p:cNvPr id="5" name="Connector 4"/>
          <p:cNvCxnSpPr/>
          <p:nvPr/>
        </p:nvCxnSpPr>
        <p:spPr>
          <a:xfrm>
            <a:off x="584200" y="762000"/>
            <a:ext cx="13462000" cy="0"/>
          </a:xfrm>
          <a:prstGeom prst="line">
            <a:avLst/>
          </a:prstGeom>
          <a:ln w="12700">
            <a:solidFill>
              <a:srgbClr val="DCE4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079500"/>
            <a:ext cx="13462000" cy="605790"/>
          </a:xfrm>
          <a:prstGeom prst="rect">
            <a:avLst/>
          </a:prstGeom>
          <a:noFill/>
        </p:spPr>
        <p:txBody>
          <a:bodyPr wrap="none" lIns="0" rIns="0" tIns="0" bIns="0" anchor="t">
            <a:spAutoFit/>
          </a:bodyPr>
          <a:lstStyle/>
          <a:p>
            <a:pPr>
              <a:lnSpc>
                <a:spcPts val="4270"/>
              </a:lnSpc>
              <a:spcBef>
                <a:spcPts val="0"/>
              </a:spcBef>
              <a:spcAft>
                <a:spcPts val="0"/>
              </a:spcAft>
              <a:defRPr sz="3500" b="1">
                <a:solidFill>
                  <a:srgbClr val="202B27"/>
                </a:solidFill>
                <a:latin typeface="Lato"/>
              </a:defRPr>
            </a:pPr>
            <a:r>
              <a:t>Məlumat mübadiləsi və qoşulma imkanları</a:t>
            </a:r>
          </a:p>
        </p:txBody>
      </p:sp>
      <p:sp>
        <p:nvSpPr>
          <p:cNvPr id="7" name="TextBox 6"/>
          <p:cNvSpPr txBox="1"/>
          <p:nvPr/>
        </p:nvSpPr>
        <p:spPr>
          <a:xfrm>
            <a:off x="584200" y="1739900"/>
            <a:ext cx="13462000" cy="326898"/>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Hazır ixrac imkanları və ayrıca qurulan bağlantılar.</a:t>
            </a:r>
          </a:p>
        </p:txBody>
      </p:sp>
      <p:sp>
        <p:nvSpPr>
          <p:cNvPr id="8" name="TextBox 7"/>
          <p:cNvSpPr txBox="1"/>
          <p:nvPr/>
        </p:nvSpPr>
        <p:spPr>
          <a:xfrm>
            <a:off x="584200" y="7835900"/>
            <a:ext cx="10160000" cy="210693"/>
          </a:xfrm>
          <a:prstGeom prst="rect">
            <a:avLst/>
          </a:prstGeom>
          <a:noFill/>
        </p:spPr>
        <p:txBody>
          <a:bodyPr wrap="none" lIns="0" rIns="0" tIns="0" bIns="0" anchor="t">
            <a:spAutoFit/>
          </a:bodyPr>
          <a:lstStyle/>
          <a:p>
            <a:pPr>
              <a:lnSpc>
                <a:spcPts val="1159"/>
              </a:lnSpc>
              <a:spcBef>
                <a:spcPts val="0"/>
              </a:spcBef>
              <a:spcAft>
                <a:spcPts val="0"/>
              </a:spcAft>
              <a:defRPr sz="950" b="0">
                <a:solidFill>
                  <a:srgbClr val="607069"/>
                </a:solidFill>
                <a:latin typeface="Lato"/>
              </a:defRPr>
            </a:pPr>
            <a:r>
              <a:t>KORPORATİV SATINALMA / MƏHSUL TƏQDİMATI</a:t>
            </a:r>
          </a:p>
        </p:txBody>
      </p:sp>
      <p:sp>
        <p:nvSpPr>
          <p:cNvPr id="9" name="TextBox 8"/>
          <p:cNvSpPr txBox="1"/>
          <p:nvPr/>
        </p:nvSpPr>
        <p:spPr>
          <a:xfrm>
            <a:off x="13411200" y="7785100"/>
            <a:ext cx="635000" cy="264922"/>
          </a:xfrm>
          <a:prstGeom prst="rect">
            <a:avLst/>
          </a:prstGeom>
          <a:noFill/>
        </p:spPr>
        <p:txBody>
          <a:bodyPr wrap="none" lIns="0" rIns="0" tIns="0" bIns="0" anchor="t">
            <a:spAutoFit/>
          </a:bodyPr>
          <a:lstStyle/>
          <a:p>
            <a:pPr algn="r">
              <a:lnSpc>
                <a:spcPts val="1586"/>
              </a:lnSpc>
              <a:spcBef>
                <a:spcPts val="0"/>
              </a:spcBef>
              <a:spcAft>
                <a:spcPts val="0"/>
              </a:spcAft>
              <a:defRPr sz="1300" b="1">
                <a:solidFill>
                  <a:srgbClr val="087F62"/>
                </a:solidFill>
                <a:latin typeface="Lato"/>
              </a:defRPr>
            </a:pPr>
            <a:r>
              <a:t>21</a:t>
            </a:r>
          </a:p>
        </p:txBody>
      </p:sp>
      <p:sp>
        <p:nvSpPr>
          <p:cNvPr id="10" name="Rounded Rectangle 9"/>
          <p:cNvSpPr/>
          <p:nvPr/>
        </p:nvSpPr>
        <p:spPr>
          <a:xfrm>
            <a:off x="584200" y="2616200"/>
            <a:ext cx="13462000" cy="774700"/>
          </a:xfrm>
          <a:prstGeom prst="roundRect">
            <a:avLst>
              <a:gd name="adj" fmla="val 8196"/>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2844800"/>
            <a:ext cx="2984500" cy="373380"/>
          </a:xfrm>
          <a:prstGeom prst="rect">
            <a:avLst/>
          </a:prstGeom>
          <a:noFill/>
        </p:spPr>
        <p:txBody>
          <a:bodyPr wrap="none" lIns="0" rIns="0" tIns="0" bIns="0" anchor="t">
            <a:spAutoFit/>
          </a:bodyPr>
          <a:lstStyle/>
          <a:p>
            <a:pPr>
              <a:lnSpc>
                <a:spcPts val="2440"/>
              </a:lnSpc>
              <a:spcBef>
                <a:spcPts val="0"/>
              </a:spcBef>
              <a:spcAft>
                <a:spcPts val="0"/>
              </a:spcAft>
              <a:defRPr sz="2000" b="1">
                <a:solidFill>
                  <a:srgbClr val="087F62"/>
                </a:solidFill>
                <a:latin typeface="Lato"/>
              </a:defRPr>
            </a:pPr>
            <a:r>
              <a:t>OCDS</a:t>
            </a:r>
          </a:p>
        </p:txBody>
      </p:sp>
      <p:sp>
        <p:nvSpPr>
          <p:cNvPr id="12" name="TextBox 11"/>
          <p:cNvSpPr txBox="1"/>
          <p:nvPr/>
        </p:nvSpPr>
        <p:spPr>
          <a:xfrm>
            <a:off x="4000500" y="2832100"/>
            <a:ext cx="9779000" cy="342392"/>
          </a:xfrm>
          <a:prstGeom prst="rect">
            <a:avLst/>
          </a:prstGeom>
          <a:noFill/>
        </p:spPr>
        <p:txBody>
          <a:bodyPr wrap="none" lIns="0" rIns="0" tIns="0" bIns="0" anchor="t">
            <a:spAutoFit/>
          </a:bodyPr>
          <a:lstStyle/>
          <a:p>
            <a:pPr>
              <a:lnSpc>
                <a:spcPts val="2196"/>
              </a:lnSpc>
              <a:spcBef>
                <a:spcPts val="0"/>
              </a:spcBef>
              <a:spcAft>
                <a:spcPts val="0"/>
              </a:spcAft>
              <a:defRPr sz="1800" b="0">
                <a:solidFill>
                  <a:srgbClr val="202B27"/>
                </a:solidFill>
                <a:latin typeface="Lato"/>
              </a:defRPr>
            </a:pPr>
            <a:r>
              <a:t>Tender və qalib məlumatlarının strukturlaşdırılmış ixracı.</a:t>
            </a:r>
          </a:p>
        </p:txBody>
      </p:sp>
      <p:sp>
        <p:nvSpPr>
          <p:cNvPr id="13" name="Rounded Rectangle 12"/>
          <p:cNvSpPr/>
          <p:nvPr/>
        </p:nvSpPr>
        <p:spPr>
          <a:xfrm>
            <a:off x="584200" y="3543300"/>
            <a:ext cx="13462000" cy="774700"/>
          </a:xfrm>
          <a:prstGeom prst="roundRect">
            <a:avLst>
              <a:gd name="adj" fmla="val 8196"/>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200" y="3771900"/>
            <a:ext cx="2984500" cy="373380"/>
          </a:xfrm>
          <a:prstGeom prst="rect">
            <a:avLst/>
          </a:prstGeom>
          <a:noFill/>
        </p:spPr>
        <p:txBody>
          <a:bodyPr wrap="none" lIns="0" rIns="0" tIns="0" bIns="0" anchor="t">
            <a:spAutoFit/>
          </a:bodyPr>
          <a:lstStyle/>
          <a:p>
            <a:pPr>
              <a:lnSpc>
                <a:spcPts val="2440"/>
              </a:lnSpc>
              <a:spcBef>
                <a:spcPts val="0"/>
              </a:spcBef>
              <a:spcAft>
                <a:spcPts val="0"/>
              </a:spcAft>
              <a:defRPr sz="2000" b="1">
                <a:solidFill>
                  <a:srgbClr val="087F62"/>
                </a:solidFill>
                <a:latin typeface="Lato"/>
              </a:defRPr>
            </a:pPr>
            <a:r>
              <a:t>UBL / qaimə</a:t>
            </a:r>
          </a:p>
        </p:txBody>
      </p:sp>
      <p:sp>
        <p:nvSpPr>
          <p:cNvPr id="15" name="TextBox 14"/>
          <p:cNvSpPr txBox="1"/>
          <p:nvPr/>
        </p:nvSpPr>
        <p:spPr>
          <a:xfrm>
            <a:off x="4000500" y="3759200"/>
            <a:ext cx="9779000" cy="342392"/>
          </a:xfrm>
          <a:prstGeom prst="rect">
            <a:avLst/>
          </a:prstGeom>
          <a:noFill/>
        </p:spPr>
        <p:txBody>
          <a:bodyPr wrap="none" lIns="0" rIns="0" tIns="0" bIns="0" anchor="t">
            <a:spAutoFit/>
          </a:bodyPr>
          <a:lstStyle/>
          <a:p>
            <a:pPr>
              <a:lnSpc>
                <a:spcPts val="2196"/>
              </a:lnSpc>
              <a:spcBef>
                <a:spcPts val="0"/>
              </a:spcBef>
              <a:spcAft>
                <a:spcPts val="0"/>
              </a:spcAft>
              <a:defRPr sz="1800" b="0">
                <a:solidFill>
                  <a:srgbClr val="202B27"/>
                </a:solidFill>
                <a:latin typeface="Lato"/>
              </a:defRPr>
            </a:pPr>
            <a:r>
              <a:t>Elektron qaimə faylı; Peppol ötürülməsi üçün ayrıca operator lazımdır.</a:t>
            </a:r>
          </a:p>
        </p:txBody>
      </p:sp>
      <p:sp>
        <p:nvSpPr>
          <p:cNvPr id="16" name="Rounded Rectangle 15"/>
          <p:cNvSpPr/>
          <p:nvPr/>
        </p:nvSpPr>
        <p:spPr>
          <a:xfrm>
            <a:off x="584200" y="4470400"/>
            <a:ext cx="13462000" cy="774700"/>
          </a:xfrm>
          <a:prstGeom prst="roundRect">
            <a:avLst>
              <a:gd name="adj" fmla="val 8196"/>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8200" y="4699000"/>
            <a:ext cx="2984500" cy="373380"/>
          </a:xfrm>
          <a:prstGeom prst="rect">
            <a:avLst/>
          </a:prstGeom>
          <a:noFill/>
        </p:spPr>
        <p:txBody>
          <a:bodyPr wrap="none" lIns="0" rIns="0" tIns="0" bIns="0" anchor="t">
            <a:spAutoFit/>
          </a:bodyPr>
          <a:lstStyle/>
          <a:p>
            <a:pPr>
              <a:lnSpc>
                <a:spcPts val="2440"/>
              </a:lnSpc>
              <a:spcBef>
                <a:spcPts val="0"/>
              </a:spcBef>
              <a:spcAft>
                <a:spcPts val="0"/>
              </a:spcAft>
              <a:defRPr sz="2000" b="1">
                <a:solidFill>
                  <a:srgbClr val="087F62"/>
                </a:solidFill>
                <a:latin typeface="Lato"/>
              </a:defRPr>
            </a:pPr>
            <a:r>
              <a:t>1C / CSV</a:t>
            </a:r>
          </a:p>
        </p:txBody>
      </p:sp>
      <p:sp>
        <p:nvSpPr>
          <p:cNvPr id="18" name="TextBox 17"/>
          <p:cNvSpPr txBox="1"/>
          <p:nvPr/>
        </p:nvSpPr>
        <p:spPr>
          <a:xfrm>
            <a:off x="4000500" y="4686300"/>
            <a:ext cx="9779000" cy="342392"/>
          </a:xfrm>
          <a:prstGeom prst="rect">
            <a:avLst/>
          </a:prstGeom>
          <a:noFill/>
        </p:spPr>
        <p:txBody>
          <a:bodyPr wrap="none" lIns="0" rIns="0" tIns="0" bIns="0" anchor="t">
            <a:spAutoFit/>
          </a:bodyPr>
          <a:lstStyle/>
          <a:p>
            <a:pPr>
              <a:lnSpc>
                <a:spcPts val="2196"/>
              </a:lnSpc>
              <a:spcBef>
                <a:spcPts val="0"/>
              </a:spcBef>
              <a:spcAft>
                <a:spcPts val="0"/>
              </a:spcAft>
              <a:defRPr sz="1800" b="0">
                <a:solidFill>
                  <a:srgbClr val="202B27"/>
                </a:solidFill>
                <a:latin typeface="Lato"/>
              </a:defRPr>
            </a:pPr>
            <a:r>
              <a:t>Qaimələrin 1C-yə uyğunlaşdırıla bilən CSV faylı ilə ixracı.</a:t>
            </a:r>
          </a:p>
        </p:txBody>
      </p:sp>
      <p:sp>
        <p:nvSpPr>
          <p:cNvPr id="19" name="Rounded Rectangle 18"/>
          <p:cNvSpPr/>
          <p:nvPr/>
        </p:nvSpPr>
        <p:spPr>
          <a:xfrm>
            <a:off x="584200" y="5397500"/>
            <a:ext cx="13462000" cy="774700"/>
          </a:xfrm>
          <a:prstGeom prst="roundRect">
            <a:avLst>
              <a:gd name="adj" fmla="val 8196"/>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8200" y="5626100"/>
            <a:ext cx="2984500" cy="373380"/>
          </a:xfrm>
          <a:prstGeom prst="rect">
            <a:avLst/>
          </a:prstGeom>
          <a:noFill/>
        </p:spPr>
        <p:txBody>
          <a:bodyPr wrap="none" lIns="0" rIns="0" tIns="0" bIns="0" anchor="t">
            <a:spAutoFit/>
          </a:bodyPr>
          <a:lstStyle/>
          <a:p>
            <a:pPr>
              <a:lnSpc>
                <a:spcPts val="2440"/>
              </a:lnSpc>
              <a:spcBef>
                <a:spcPts val="0"/>
              </a:spcBef>
              <a:spcAft>
                <a:spcPts val="0"/>
              </a:spcAft>
              <a:defRPr sz="2000" b="1">
                <a:solidFill>
                  <a:srgbClr val="087F62"/>
                </a:solidFill>
                <a:latin typeface="Lato"/>
              </a:defRPr>
            </a:pPr>
            <a:r>
              <a:t>E-poçt / WhatsApp</a:t>
            </a:r>
          </a:p>
        </p:txBody>
      </p:sp>
      <p:sp>
        <p:nvSpPr>
          <p:cNvPr id="21" name="TextBox 20"/>
          <p:cNvSpPr txBox="1"/>
          <p:nvPr/>
        </p:nvSpPr>
        <p:spPr>
          <a:xfrm>
            <a:off x="4000500" y="5613400"/>
            <a:ext cx="9779000" cy="342392"/>
          </a:xfrm>
          <a:prstGeom prst="rect">
            <a:avLst/>
          </a:prstGeom>
          <a:noFill/>
        </p:spPr>
        <p:txBody>
          <a:bodyPr wrap="none" lIns="0" rIns="0" tIns="0" bIns="0" anchor="t">
            <a:spAutoFit/>
          </a:bodyPr>
          <a:lstStyle/>
          <a:p>
            <a:pPr>
              <a:lnSpc>
                <a:spcPts val="2196"/>
              </a:lnSpc>
              <a:spcBef>
                <a:spcPts val="0"/>
              </a:spcBef>
              <a:spcAft>
                <a:spcPts val="0"/>
              </a:spcAft>
              <a:defRPr sz="1800" b="0">
                <a:solidFill>
                  <a:srgbClr val="202B27"/>
                </a:solidFill>
                <a:latin typeface="Lato"/>
              </a:defRPr>
            </a:pPr>
            <a:r>
              <a:t>Müştərinin kanalları və təsdiqlənmiş şablonları ilə konfiqurasiya olunur.</a:t>
            </a:r>
          </a:p>
        </p:txBody>
      </p:sp>
      <p:sp>
        <p:nvSpPr>
          <p:cNvPr id="22" name="Rounded Rectangle 21"/>
          <p:cNvSpPr/>
          <p:nvPr/>
        </p:nvSpPr>
        <p:spPr>
          <a:xfrm>
            <a:off x="584200" y="6324600"/>
            <a:ext cx="13462000" cy="774700"/>
          </a:xfrm>
          <a:prstGeom prst="roundRect">
            <a:avLst>
              <a:gd name="adj" fmla="val 8196"/>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8200" y="6553200"/>
            <a:ext cx="2984500" cy="373380"/>
          </a:xfrm>
          <a:prstGeom prst="rect">
            <a:avLst/>
          </a:prstGeom>
          <a:noFill/>
        </p:spPr>
        <p:txBody>
          <a:bodyPr wrap="none" lIns="0" rIns="0" tIns="0" bIns="0" anchor="t">
            <a:spAutoFit/>
          </a:bodyPr>
          <a:lstStyle/>
          <a:p>
            <a:pPr>
              <a:lnSpc>
                <a:spcPts val="2440"/>
              </a:lnSpc>
              <a:spcBef>
                <a:spcPts val="0"/>
              </a:spcBef>
              <a:spcAft>
                <a:spcPts val="0"/>
              </a:spcAft>
              <a:defRPr sz="2000" b="1">
                <a:solidFill>
                  <a:srgbClr val="087F62"/>
                </a:solidFill>
                <a:latin typeface="Lato"/>
              </a:defRPr>
            </a:pPr>
            <a:r>
              <a:t>ASAN İmza</a:t>
            </a:r>
          </a:p>
        </p:txBody>
      </p:sp>
      <p:sp>
        <p:nvSpPr>
          <p:cNvPr id="24" name="TextBox 23"/>
          <p:cNvSpPr txBox="1"/>
          <p:nvPr/>
        </p:nvSpPr>
        <p:spPr>
          <a:xfrm>
            <a:off x="4000500" y="6540500"/>
            <a:ext cx="9779000" cy="342392"/>
          </a:xfrm>
          <a:prstGeom prst="rect">
            <a:avLst/>
          </a:prstGeom>
          <a:noFill/>
        </p:spPr>
        <p:txBody>
          <a:bodyPr wrap="none" lIns="0" rIns="0" tIns="0" bIns="0" anchor="t">
            <a:spAutoFit/>
          </a:bodyPr>
          <a:lstStyle/>
          <a:p>
            <a:pPr>
              <a:lnSpc>
                <a:spcPts val="2196"/>
              </a:lnSpc>
              <a:spcBef>
                <a:spcPts val="0"/>
              </a:spcBef>
              <a:spcAft>
                <a:spcPts val="0"/>
              </a:spcAft>
              <a:defRPr sz="1800" b="0">
                <a:solidFill>
                  <a:srgbClr val="202B27"/>
                </a:solidFill>
                <a:latin typeface="Lato"/>
              </a:defRPr>
            </a:pPr>
            <a:r>
              <a:t>Hazırda aktiv deyil; operator bağlantısı ayrıca qurulmalıdır.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317500"/>
            <a:ext cx="2540000" cy="326898"/>
          </a:xfrm>
          <a:prstGeom prst="rect">
            <a:avLst/>
          </a:prstGeom>
          <a:noFill/>
        </p:spPr>
        <p:txBody>
          <a:bodyPr wrap="none" lIns="0" rIns="0" tIns="0" bIns="0" anchor="t">
            <a:spAutoFit/>
          </a:bodyPr>
          <a:lstStyle/>
          <a:p>
            <a:pPr>
              <a:lnSpc>
                <a:spcPts val="2074"/>
              </a:lnSpc>
              <a:spcBef>
                <a:spcPts val="0"/>
              </a:spcBef>
              <a:spcAft>
                <a:spcPts val="0"/>
              </a:spcAft>
              <a:defRPr sz="1700" b="1">
                <a:solidFill>
                  <a:srgbClr val="087F62"/>
                </a:solidFill>
                <a:latin typeface="Lato"/>
              </a:defRPr>
            </a:pPr>
            <a:r>
              <a:t>Leadprocure</a:t>
            </a:r>
          </a:p>
        </p:txBody>
      </p:sp>
      <p:sp>
        <p:nvSpPr>
          <p:cNvPr id="4" name="TextBox 3"/>
          <p:cNvSpPr txBox="1"/>
          <p:nvPr/>
        </p:nvSpPr>
        <p:spPr>
          <a:xfrm>
            <a:off x="9525000" y="368300"/>
            <a:ext cx="4521200" cy="226187"/>
          </a:xfrm>
          <a:prstGeom prst="rect">
            <a:avLst/>
          </a:prstGeom>
          <a:noFill/>
        </p:spPr>
        <p:txBody>
          <a:bodyPr wrap="none" lIns="0" rIns="0" tIns="0" bIns="0" anchor="t">
            <a:spAutoFit/>
          </a:bodyPr>
          <a:lstStyle/>
          <a:p>
            <a:pPr algn="r">
              <a:lnSpc>
                <a:spcPts val="1281"/>
              </a:lnSpc>
              <a:spcBef>
                <a:spcPts val="0"/>
              </a:spcBef>
              <a:spcAft>
                <a:spcPts val="0"/>
              </a:spcAft>
              <a:defRPr sz="1050" b="0">
                <a:solidFill>
                  <a:srgbClr val="607069"/>
                </a:solidFill>
                <a:latin typeface="Lato"/>
              </a:defRPr>
            </a:pPr>
            <a:r>
              <a:t>NÖVBƏTİ ADDIM</a:t>
            </a:r>
          </a:p>
        </p:txBody>
      </p:sp>
      <p:cxnSp>
        <p:nvCxnSpPr>
          <p:cNvPr id="5" name="Connector 4"/>
          <p:cNvCxnSpPr/>
          <p:nvPr/>
        </p:nvCxnSpPr>
        <p:spPr>
          <a:xfrm>
            <a:off x="584200" y="762000"/>
            <a:ext cx="13462000" cy="0"/>
          </a:xfrm>
          <a:prstGeom prst="line">
            <a:avLst/>
          </a:prstGeom>
          <a:ln w="12700">
            <a:solidFill>
              <a:srgbClr val="DCE4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079500"/>
            <a:ext cx="13462000" cy="605790"/>
          </a:xfrm>
          <a:prstGeom prst="rect">
            <a:avLst/>
          </a:prstGeom>
          <a:noFill/>
        </p:spPr>
        <p:txBody>
          <a:bodyPr wrap="none" lIns="0" rIns="0" tIns="0" bIns="0" anchor="t">
            <a:spAutoFit/>
          </a:bodyPr>
          <a:lstStyle/>
          <a:p>
            <a:pPr>
              <a:lnSpc>
                <a:spcPts val="4270"/>
              </a:lnSpc>
              <a:spcBef>
                <a:spcPts val="0"/>
              </a:spcBef>
              <a:spcAft>
                <a:spcPts val="0"/>
              </a:spcAft>
              <a:defRPr sz="3500" b="1">
                <a:solidFill>
                  <a:srgbClr val="202B27"/>
                </a:solidFill>
                <a:latin typeface="Lato"/>
              </a:defRPr>
            </a:pPr>
            <a:r>
              <a:t>Bir pilot satınalma ilə dəyəri ölçün</a:t>
            </a:r>
          </a:p>
        </p:txBody>
      </p:sp>
      <p:sp>
        <p:nvSpPr>
          <p:cNvPr id="7" name="TextBox 6"/>
          <p:cNvSpPr txBox="1"/>
          <p:nvPr/>
        </p:nvSpPr>
        <p:spPr>
          <a:xfrm>
            <a:off x="584200" y="1739900"/>
            <a:ext cx="13462000" cy="326898"/>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Real ehtiyac, seçilmiş təchizatçılar və əvvəlcədən razılaşdırılmış uğur meyarları.</a:t>
            </a:r>
          </a:p>
        </p:txBody>
      </p:sp>
      <p:sp>
        <p:nvSpPr>
          <p:cNvPr id="8" name="TextBox 7"/>
          <p:cNvSpPr txBox="1"/>
          <p:nvPr/>
        </p:nvSpPr>
        <p:spPr>
          <a:xfrm>
            <a:off x="584200" y="7835900"/>
            <a:ext cx="10160000" cy="210693"/>
          </a:xfrm>
          <a:prstGeom prst="rect">
            <a:avLst/>
          </a:prstGeom>
          <a:noFill/>
        </p:spPr>
        <p:txBody>
          <a:bodyPr wrap="none" lIns="0" rIns="0" tIns="0" bIns="0" anchor="t">
            <a:spAutoFit/>
          </a:bodyPr>
          <a:lstStyle/>
          <a:p>
            <a:pPr>
              <a:lnSpc>
                <a:spcPts val="1159"/>
              </a:lnSpc>
              <a:spcBef>
                <a:spcPts val="0"/>
              </a:spcBef>
              <a:spcAft>
                <a:spcPts val="0"/>
              </a:spcAft>
              <a:defRPr sz="950" b="0">
                <a:solidFill>
                  <a:srgbClr val="607069"/>
                </a:solidFill>
                <a:latin typeface="Lato"/>
              </a:defRPr>
            </a:pPr>
            <a:r>
              <a:t>KORPORATİV SATINALMA / MƏHSUL TƏQDİMATI</a:t>
            </a:r>
          </a:p>
        </p:txBody>
      </p:sp>
      <p:sp>
        <p:nvSpPr>
          <p:cNvPr id="9" name="TextBox 8"/>
          <p:cNvSpPr txBox="1"/>
          <p:nvPr/>
        </p:nvSpPr>
        <p:spPr>
          <a:xfrm>
            <a:off x="13411200" y="7785100"/>
            <a:ext cx="635000" cy="264922"/>
          </a:xfrm>
          <a:prstGeom prst="rect">
            <a:avLst/>
          </a:prstGeom>
          <a:noFill/>
        </p:spPr>
        <p:txBody>
          <a:bodyPr wrap="none" lIns="0" rIns="0" tIns="0" bIns="0" anchor="t">
            <a:spAutoFit/>
          </a:bodyPr>
          <a:lstStyle/>
          <a:p>
            <a:pPr algn="r">
              <a:lnSpc>
                <a:spcPts val="1586"/>
              </a:lnSpc>
              <a:spcBef>
                <a:spcPts val="0"/>
              </a:spcBef>
              <a:spcAft>
                <a:spcPts val="0"/>
              </a:spcAft>
              <a:defRPr sz="1300" b="1">
                <a:solidFill>
                  <a:srgbClr val="087F62"/>
                </a:solidFill>
                <a:latin typeface="Lato"/>
              </a:defRPr>
            </a:pPr>
            <a:r>
              <a:t>22</a:t>
            </a:r>
          </a:p>
        </p:txBody>
      </p:sp>
      <p:sp>
        <p:nvSpPr>
          <p:cNvPr id="10" name="Rounded Rectangle 9"/>
          <p:cNvSpPr/>
          <p:nvPr/>
        </p:nvSpPr>
        <p:spPr>
          <a:xfrm>
            <a:off x="584200" y="2819400"/>
            <a:ext cx="3175000" cy="2921000"/>
          </a:xfrm>
          <a:prstGeom prst="roundRect">
            <a:avLst>
              <a:gd name="adj" fmla="val 3478"/>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073400"/>
            <a:ext cx="2667000" cy="295910"/>
          </a:xfrm>
          <a:prstGeom prst="rect">
            <a:avLst/>
          </a:prstGeom>
          <a:noFill/>
        </p:spPr>
        <p:txBody>
          <a:bodyPr wrap="none" lIns="0" rIns="0" tIns="0" bIns="0" anchor="t">
            <a:spAutoFit/>
          </a:bodyPr>
          <a:lstStyle/>
          <a:p>
            <a:pPr>
              <a:lnSpc>
                <a:spcPts val="1830"/>
              </a:lnSpc>
              <a:spcBef>
                <a:spcPts val="0"/>
              </a:spcBef>
              <a:spcAft>
                <a:spcPts val="0"/>
              </a:spcAft>
              <a:defRPr sz="1500" b="1">
                <a:solidFill>
                  <a:srgbClr val="087F62"/>
                </a:solidFill>
                <a:latin typeface="Lato"/>
              </a:defRPr>
            </a:pPr>
            <a:r>
              <a:t>01</a:t>
            </a:r>
          </a:p>
        </p:txBody>
      </p:sp>
      <p:sp>
        <p:nvSpPr>
          <p:cNvPr id="12" name="TextBox 11"/>
          <p:cNvSpPr txBox="1"/>
          <p:nvPr/>
        </p:nvSpPr>
        <p:spPr>
          <a:xfrm>
            <a:off x="838200" y="3632200"/>
            <a:ext cx="2667000" cy="450850"/>
          </a:xfrm>
          <a:prstGeom prst="rect">
            <a:avLst/>
          </a:prstGeom>
          <a:noFill/>
        </p:spPr>
        <p:txBody>
          <a:bodyPr wrap="none" lIns="0" rIns="0" tIns="0" bIns="0" anchor="t">
            <a:spAutoFit/>
          </a:bodyPr>
          <a:lstStyle/>
          <a:p>
            <a:pPr>
              <a:lnSpc>
                <a:spcPts val="3050"/>
              </a:lnSpc>
              <a:spcBef>
                <a:spcPts val="0"/>
              </a:spcBef>
              <a:spcAft>
                <a:spcPts val="0"/>
              </a:spcAft>
              <a:defRPr sz="2500" b="1">
                <a:solidFill>
                  <a:srgbClr val="202B27"/>
                </a:solidFill>
                <a:latin typeface="Lato"/>
              </a:defRPr>
            </a:pPr>
            <a:r>
              <a:t>Çərçivəni seçin</a:t>
            </a:r>
          </a:p>
        </p:txBody>
      </p:sp>
      <p:sp>
        <p:nvSpPr>
          <p:cNvPr id="13" name="TextBox 12"/>
          <p:cNvSpPr txBox="1"/>
          <p:nvPr/>
        </p:nvSpPr>
        <p:spPr>
          <a:xfrm>
            <a:off x="838200" y="4635500"/>
            <a:ext cx="2667000" cy="590296"/>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Bir kateqoriya, bir satınalma</a:t>
            </a:r>
          </a:p>
          <a:p>
            <a:pPr>
              <a:lnSpc>
                <a:spcPts val="2074"/>
              </a:lnSpc>
              <a:spcBef>
                <a:spcPts val="0"/>
              </a:spcBef>
              <a:spcAft>
                <a:spcPts val="0"/>
              </a:spcAft>
              <a:defRPr sz="1700" b="0">
                <a:solidFill>
                  <a:srgbClr val="607069"/>
                </a:solidFill>
                <a:latin typeface="Lato"/>
              </a:defRPr>
            </a:pPr>
            <a:r>
              <a:t>və məsul komanda.</a:t>
            </a:r>
          </a:p>
        </p:txBody>
      </p:sp>
      <p:sp>
        <p:nvSpPr>
          <p:cNvPr id="14" name="Rounded Rectangle 13"/>
          <p:cNvSpPr/>
          <p:nvPr/>
        </p:nvSpPr>
        <p:spPr>
          <a:xfrm>
            <a:off x="4013200" y="2819400"/>
            <a:ext cx="3175000" cy="2921000"/>
          </a:xfrm>
          <a:prstGeom prst="roundRect">
            <a:avLst>
              <a:gd name="adj" fmla="val 3478"/>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67200" y="3073400"/>
            <a:ext cx="2667000" cy="295910"/>
          </a:xfrm>
          <a:prstGeom prst="rect">
            <a:avLst/>
          </a:prstGeom>
          <a:noFill/>
        </p:spPr>
        <p:txBody>
          <a:bodyPr wrap="none" lIns="0" rIns="0" tIns="0" bIns="0" anchor="t">
            <a:spAutoFit/>
          </a:bodyPr>
          <a:lstStyle/>
          <a:p>
            <a:pPr>
              <a:lnSpc>
                <a:spcPts val="1830"/>
              </a:lnSpc>
              <a:spcBef>
                <a:spcPts val="0"/>
              </a:spcBef>
              <a:spcAft>
                <a:spcPts val="0"/>
              </a:spcAft>
              <a:defRPr sz="1500" b="1">
                <a:solidFill>
                  <a:srgbClr val="087F62"/>
                </a:solidFill>
                <a:latin typeface="Lato"/>
              </a:defRPr>
            </a:pPr>
            <a:r>
              <a:t>02</a:t>
            </a:r>
          </a:p>
        </p:txBody>
      </p:sp>
      <p:sp>
        <p:nvSpPr>
          <p:cNvPr id="16" name="TextBox 15"/>
          <p:cNvSpPr txBox="1"/>
          <p:nvPr/>
        </p:nvSpPr>
        <p:spPr>
          <a:xfrm>
            <a:off x="4267200" y="3632200"/>
            <a:ext cx="2667000" cy="450850"/>
          </a:xfrm>
          <a:prstGeom prst="rect">
            <a:avLst/>
          </a:prstGeom>
          <a:noFill/>
        </p:spPr>
        <p:txBody>
          <a:bodyPr wrap="none" lIns="0" rIns="0" tIns="0" bIns="0" anchor="t">
            <a:spAutoFit/>
          </a:bodyPr>
          <a:lstStyle/>
          <a:p>
            <a:pPr>
              <a:lnSpc>
                <a:spcPts val="3050"/>
              </a:lnSpc>
              <a:spcBef>
                <a:spcPts val="0"/>
              </a:spcBef>
              <a:spcAft>
                <a:spcPts val="0"/>
              </a:spcAft>
              <a:defRPr sz="2500" b="1">
                <a:solidFill>
                  <a:srgbClr val="202B27"/>
                </a:solidFill>
                <a:latin typeface="Lato"/>
              </a:defRPr>
            </a:pPr>
            <a:r>
              <a:t>Qaydaları qurun</a:t>
            </a:r>
          </a:p>
        </p:txBody>
      </p:sp>
      <p:sp>
        <p:nvSpPr>
          <p:cNvPr id="17" name="TextBox 16"/>
          <p:cNvSpPr txBox="1"/>
          <p:nvPr/>
        </p:nvSpPr>
        <p:spPr>
          <a:xfrm>
            <a:off x="4267200" y="4635500"/>
            <a:ext cx="2667000" cy="853694"/>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Rollar, təsdiq hədləri,</a:t>
            </a:r>
          </a:p>
          <a:p>
            <a:pPr>
              <a:lnSpc>
                <a:spcPts val="2074"/>
              </a:lnSpc>
              <a:spcBef>
                <a:spcPts val="0"/>
              </a:spcBef>
              <a:spcAft>
                <a:spcPts val="0"/>
              </a:spcAft>
              <a:defRPr sz="1700" b="0">
                <a:solidFill>
                  <a:srgbClr val="607069"/>
                </a:solidFill>
                <a:latin typeface="Lato"/>
              </a:defRPr>
            </a:pPr>
            <a:r>
              <a:t>qiymətləndirmə və</a:t>
            </a:r>
          </a:p>
          <a:p>
            <a:pPr>
              <a:lnSpc>
                <a:spcPts val="2074"/>
              </a:lnSpc>
              <a:spcBef>
                <a:spcPts val="0"/>
              </a:spcBef>
              <a:spcAft>
                <a:spcPts val="0"/>
              </a:spcAft>
              <a:defRPr sz="1700" b="0">
                <a:solidFill>
                  <a:srgbClr val="607069"/>
                </a:solidFill>
                <a:latin typeface="Lato"/>
              </a:defRPr>
            </a:pPr>
            <a:r>
              <a:t>təchizatçılar.</a:t>
            </a:r>
          </a:p>
        </p:txBody>
      </p:sp>
      <p:sp>
        <p:nvSpPr>
          <p:cNvPr id="18" name="Rounded Rectangle 17"/>
          <p:cNvSpPr/>
          <p:nvPr/>
        </p:nvSpPr>
        <p:spPr>
          <a:xfrm>
            <a:off x="7442200" y="2819400"/>
            <a:ext cx="3175000" cy="2921000"/>
          </a:xfrm>
          <a:prstGeom prst="roundRect">
            <a:avLst>
              <a:gd name="adj" fmla="val 3478"/>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96200" y="3073400"/>
            <a:ext cx="2667000" cy="295910"/>
          </a:xfrm>
          <a:prstGeom prst="rect">
            <a:avLst/>
          </a:prstGeom>
          <a:noFill/>
        </p:spPr>
        <p:txBody>
          <a:bodyPr wrap="none" lIns="0" rIns="0" tIns="0" bIns="0" anchor="t">
            <a:spAutoFit/>
          </a:bodyPr>
          <a:lstStyle/>
          <a:p>
            <a:pPr>
              <a:lnSpc>
                <a:spcPts val="1830"/>
              </a:lnSpc>
              <a:spcBef>
                <a:spcPts val="0"/>
              </a:spcBef>
              <a:spcAft>
                <a:spcPts val="0"/>
              </a:spcAft>
              <a:defRPr sz="1500" b="1">
                <a:solidFill>
                  <a:srgbClr val="087F62"/>
                </a:solidFill>
                <a:latin typeface="Lato"/>
              </a:defRPr>
            </a:pPr>
            <a:r>
              <a:t>03</a:t>
            </a:r>
          </a:p>
        </p:txBody>
      </p:sp>
      <p:sp>
        <p:nvSpPr>
          <p:cNvPr id="20" name="TextBox 19"/>
          <p:cNvSpPr txBox="1"/>
          <p:nvPr/>
        </p:nvSpPr>
        <p:spPr>
          <a:xfrm>
            <a:off x="7696200" y="3632200"/>
            <a:ext cx="2667000" cy="450850"/>
          </a:xfrm>
          <a:prstGeom prst="rect">
            <a:avLst/>
          </a:prstGeom>
          <a:noFill/>
        </p:spPr>
        <p:txBody>
          <a:bodyPr wrap="none" lIns="0" rIns="0" tIns="0" bIns="0" anchor="t">
            <a:spAutoFit/>
          </a:bodyPr>
          <a:lstStyle/>
          <a:p>
            <a:pPr>
              <a:lnSpc>
                <a:spcPts val="3050"/>
              </a:lnSpc>
              <a:spcBef>
                <a:spcPts val="0"/>
              </a:spcBef>
              <a:spcAft>
                <a:spcPts val="0"/>
              </a:spcAft>
              <a:defRPr sz="2500" b="1">
                <a:solidFill>
                  <a:srgbClr val="202B27"/>
                </a:solidFill>
                <a:latin typeface="Lato"/>
              </a:defRPr>
            </a:pPr>
            <a:r>
              <a:t>Dövrü tamamlayın</a:t>
            </a:r>
          </a:p>
        </p:txBody>
      </p:sp>
      <p:sp>
        <p:nvSpPr>
          <p:cNvPr id="21" name="TextBox 20"/>
          <p:cNvSpPr txBox="1"/>
          <p:nvPr/>
        </p:nvSpPr>
        <p:spPr>
          <a:xfrm>
            <a:off x="7696200" y="4635500"/>
            <a:ext cx="2667000" cy="590296"/>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Tələbdən təklifə, sifarişdən</a:t>
            </a:r>
          </a:p>
          <a:p>
            <a:pPr>
              <a:lnSpc>
                <a:spcPts val="2074"/>
              </a:lnSpc>
              <a:spcBef>
                <a:spcPts val="0"/>
              </a:spcBef>
              <a:spcAft>
                <a:spcPts val="0"/>
              </a:spcAft>
              <a:defRPr sz="1700" b="0">
                <a:solidFill>
                  <a:srgbClr val="607069"/>
                </a:solidFill>
                <a:latin typeface="Lato"/>
              </a:defRPr>
            </a:pPr>
            <a:r>
              <a:t>qəbul və qaiməyə.</a:t>
            </a:r>
          </a:p>
        </p:txBody>
      </p:sp>
      <p:sp>
        <p:nvSpPr>
          <p:cNvPr id="22" name="Rounded Rectangle 21"/>
          <p:cNvSpPr/>
          <p:nvPr/>
        </p:nvSpPr>
        <p:spPr>
          <a:xfrm>
            <a:off x="10871200" y="2819400"/>
            <a:ext cx="3175000" cy="2921000"/>
          </a:xfrm>
          <a:prstGeom prst="roundRect">
            <a:avLst>
              <a:gd name="adj" fmla="val 3478"/>
            </a:avLst>
          </a:prstGeom>
          <a:solidFill>
            <a:srgbClr val="FFFFFF"/>
          </a:solidFill>
          <a:ln w="9525">
            <a:solidFill>
              <a:srgbClr val="DC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125200" y="3073400"/>
            <a:ext cx="2667000" cy="295910"/>
          </a:xfrm>
          <a:prstGeom prst="rect">
            <a:avLst/>
          </a:prstGeom>
          <a:noFill/>
        </p:spPr>
        <p:txBody>
          <a:bodyPr wrap="none" lIns="0" rIns="0" tIns="0" bIns="0" anchor="t">
            <a:spAutoFit/>
          </a:bodyPr>
          <a:lstStyle/>
          <a:p>
            <a:pPr>
              <a:lnSpc>
                <a:spcPts val="1830"/>
              </a:lnSpc>
              <a:spcBef>
                <a:spcPts val="0"/>
              </a:spcBef>
              <a:spcAft>
                <a:spcPts val="0"/>
              </a:spcAft>
              <a:defRPr sz="1500" b="1">
                <a:solidFill>
                  <a:srgbClr val="087F62"/>
                </a:solidFill>
                <a:latin typeface="Lato"/>
              </a:defRPr>
            </a:pPr>
            <a:r>
              <a:t>04</a:t>
            </a:r>
          </a:p>
        </p:txBody>
      </p:sp>
      <p:sp>
        <p:nvSpPr>
          <p:cNvPr id="24" name="TextBox 23"/>
          <p:cNvSpPr txBox="1"/>
          <p:nvPr/>
        </p:nvSpPr>
        <p:spPr>
          <a:xfrm>
            <a:off x="11125200" y="3632200"/>
            <a:ext cx="2667000" cy="838200"/>
          </a:xfrm>
          <a:prstGeom prst="rect">
            <a:avLst/>
          </a:prstGeom>
          <a:noFill/>
        </p:spPr>
        <p:txBody>
          <a:bodyPr wrap="none" lIns="0" rIns="0" tIns="0" bIns="0" anchor="t">
            <a:spAutoFit/>
          </a:bodyPr>
          <a:lstStyle/>
          <a:p>
            <a:pPr>
              <a:lnSpc>
                <a:spcPts val="3050"/>
              </a:lnSpc>
              <a:spcBef>
                <a:spcPts val="0"/>
              </a:spcBef>
              <a:spcAft>
                <a:spcPts val="0"/>
              </a:spcAft>
              <a:defRPr sz="2500" b="1">
                <a:solidFill>
                  <a:srgbClr val="202B27"/>
                </a:solidFill>
                <a:latin typeface="Lato"/>
              </a:defRPr>
            </a:pPr>
            <a:r>
              <a:t>Nəticəni</a:t>
            </a:r>
          </a:p>
          <a:p>
            <a:pPr>
              <a:lnSpc>
                <a:spcPts val="3050"/>
              </a:lnSpc>
              <a:spcBef>
                <a:spcPts val="0"/>
              </a:spcBef>
              <a:spcAft>
                <a:spcPts val="0"/>
              </a:spcAft>
              <a:defRPr sz="2500" b="1">
                <a:solidFill>
                  <a:srgbClr val="202B27"/>
                </a:solidFill>
                <a:latin typeface="Lato"/>
              </a:defRPr>
            </a:pPr>
            <a:r>
              <a:t>qiymətləndirin</a:t>
            </a:r>
          </a:p>
        </p:txBody>
      </p:sp>
      <p:sp>
        <p:nvSpPr>
          <p:cNvPr id="25" name="TextBox 24"/>
          <p:cNvSpPr txBox="1"/>
          <p:nvPr/>
        </p:nvSpPr>
        <p:spPr>
          <a:xfrm>
            <a:off x="11125200" y="4635500"/>
            <a:ext cx="2667000" cy="590296"/>
          </a:xfrm>
          <a:prstGeom prst="rect">
            <a:avLst/>
          </a:prstGeom>
          <a:noFill/>
        </p:spPr>
        <p:txBody>
          <a:bodyPr wrap="none" lIns="0" rIns="0" tIns="0" bIns="0" anchor="t">
            <a:spAutoFit/>
          </a:bodyPr>
          <a:lstStyle/>
          <a:p>
            <a:pPr>
              <a:lnSpc>
                <a:spcPts val="2074"/>
              </a:lnSpc>
              <a:spcBef>
                <a:spcPts val="0"/>
              </a:spcBef>
              <a:spcAft>
                <a:spcPts val="0"/>
              </a:spcAft>
              <a:defRPr sz="1700" b="0">
                <a:solidFill>
                  <a:srgbClr val="607069"/>
                </a:solidFill>
                <a:latin typeface="Lato"/>
              </a:defRPr>
            </a:pPr>
            <a:r>
              <a:t>Dövr müddəti, iştirak, smeta</a:t>
            </a:r>
          </a:p>
          <a:p>
            <a:pPr>
              <a:lnSpc>
                <a:spcPts val="2074"/>
              </a:lnSpc>
              <a:spcBef>
                <a:spcPts val="0"/>
              </a:spcBef>
              <a:spcAft>
                <a:spcPts val="0"/>
              </a:spcAft>
              <a:defRPr sz="1700" b="0">
                <a:solidFill>
                  <a:srgbClr val="607069"/>
                </a:solidFill>
                <a:latin typeface="Lato"/>
              </a:defRPr>
            </a:pPr>
            <a:r>
              <a:t>fərqi və uyğunsuzluqlar.</a:t>
            </a:r>
          </a:p>
        </p:txBody>
      </p:sp>
      <p:sp>
        <p:nvSpPr>
          <p:cNvPr id="26" name="Rounded Rectangle 25"/>
          <p:cNvSpPr/>
          <p:nvPr/>
        </p:nvSpPr>
        <p:spPr>
          <a:xfrm>
            <a:off x="584200" y="6299200"/>
            <a:ext cx="13462000" cy="1104900"/>
          </a:xfrm>
          <a:prstGeom prst="roundRect">
            <a:avLst>
              <a:gd name="adj" fmla="val 9195"/>
            </a:avLst>
          </a:prstGeom>
          <a:solidFill>
            <a:srgbClr val="164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9000" y="6578600"/>
            <a:ext cx="12827000" cy="481838"/>
          </a:xfrm>
          <a:prstGeom prst="rect">
            <a:avLst/>
          </a:prstGeom>
          <a:noFill/>
        </p:spPr>
        <p:txBody>
          <a:bodyPr wrap="none" lIns="0" rIns="0" tIns="0" bIns="0" anchor="t">
            <a:spAutoFit/>
          </a:bodyPr>
          <a:lstStyle/>
          <a:p>
            <a:pPr>
              <a:lnSpc>
                <a:spcPts val="3294"/>
              </a:lnSpc>
              <a:spcBef>
                <a:spcPts val="0"/>
              </a:spcBef>
              <a:spcAft>
                <a:spcPts val="0"/>
              </a:spcAft>
              <a:defRPr sz="2700" b="1">
                <a:solidFill>
                  <a:srgbClr val="FFFFFF"/>
                </a:solidFill>
                <a:latin typeface="Lato"/>
              </a:defRPr>
            </a:pPr>
            <a:r>
              <a:t>Növbəti görüş: şirkətinizin bir satınalma ssenarisini birlikdə xəritələndirək.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Leadprocure — Korporativ satınalma platforması</dc:title>
  <dc:subject>Potensial korporativ müştərilər üçün məhsul təqdimatı</dc:subject>
  <dc:creator>Leadprocure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