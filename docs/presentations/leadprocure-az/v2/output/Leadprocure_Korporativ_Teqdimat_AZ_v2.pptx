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Söhbətə proqramın menyusundan başlamayın. Satınalma rəhbəri üçün düzgün təchizatçı seçimi, maliyyə rəhbəri üçün xərc və öhdəliklərin görünməsi, əməliyyat komandası üçün isə razılaşdırılan şərtlərin icrası vacibdir. Leadprocure bu üç baxışı bir satınalma prosesinə bağlayır. Təqdimatda həmin nəzarətin necə qurulduğunu göstərəcəyik; interfeysi və əməliyyat addımlarını ayrıca canlı nümayişdə açacağıq. Bu təqdimat ölçülmüş müştəri nəticəsi və ya qənaət zəmanəti irəli sürmür.</a:t>
            </a:r>
          </a:p>
          <a:p/>
          <a:p>
            <a:r>
              <a:t>Mənbələr:</a:t>
            </a:r>
          </a:p>
          <a:p>
            <a:r>
              <a:t>README.md:3–33</a:t>
            </a:r>
          </a:p>
          <a:p>
            <a:r>
              <a:t>docs/DEMO.md:23–34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slayd rəhbərlik üçün üç biznes baxışını birləşdirir. Xərc şəffaflığı büdcə öhdəliyindən qəbul edilmiş sifarişlər üzrə faktiki xərcə qədər məlumatı göstərir. Rəqabətli seçim dəvət, tender və ya auksion, əvvəlcədən müəyyən edilmiş meyarlar və əsaslandırılmış qərara söykənir. İcra intizamı razılaşdırılan şərtləri sifariş, çatdırılma və qəbul mərhələlərinə bağlayır. Bunlar ölçülmüş müştəri nəticələri deyil; platformanın funksiyaları ilə dəstəklənən idarəetmə imkanlarıdır. Növbəti slaydlarda həmin imkanları təmin edən nəzarət mexanizmlərini göstəririk.</a:t>
            </a:r>
          </a:p>
          <a:p/>
          <a:p>
            <a:r>
              <a:t>Mənbələr:</a:t>
            </a:r>
          </a:p>
          <a:p>
            <a:r>
              <a:t>apps/api/src/modules/dashboard/dashboard.module.ts:86–147</a:t>
            </a:r>
          </a:p>
          <a:p>
            <a:r>
              <a:t>apps/api/src/modules/sourcing/sourcing.service.ts:485–618</a:t>
            </a:r>
          </a:p>
          <a:p>
            <a:r>
              <a:t>apps/api/src/modules/contracts/contracts.module.ts:90–118,166–197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iki nəzarəti ayırın. Birincisi, daxili tələbin təsdiqidir: məbləğ siyasəti təsdiq addımlarını müəyyən edə bilər; müəllif öz tələbini təsdiqləyə bilmir və bir şəxs eyni tələbin iki təsdiq addımını bağlamır. İkincisi, tender qiymətləndirməsidir: meyarlar və çəkilər tender yaradılarkən müəyyən edilir. Qiymətlər açıldıqdan sonra onlara uyğun meyar dəyişdirmək mümkün deyil. Qiymətləndirmədə birinci olmayan təklifin seçilməsi, eləcə də yalnız bir uyğun təklif olan hal əsaslandırma tələb edir. Bunlar proqramda konkret tətbiq olunan nəzarətlərdir; hüquqi sertifikasiya vədi deyil.</a:t>
            </a:r>
          </a:p>
          <a:p/>
          <a:p>
            <a:r>
              <a:t>Mənbələr:</a:t>
            </a:r>
          </a:p>
          <a:p>
            <a:r>
              <a:t>apps/api/src/modules/requests/requests.module.ts:177–201</a:t>
            </a:r>
          </a:p>
          <a:p>
            <a:r>
              <a:t>apps/api/src/modules/sourcing/sourcing.service.ts:94–107,485–519,558–585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Satınalma komandası dəvətin göndərildiyini və təklifin gəldiyini ayrı-ayrı izləyir. Cavab verməmiş dəvətli təchizatçılar üçün xatırlatma ardıcıllığı qurmaq mümkündür. Təklif təqdim ediləndə həmin təchizatçının zənciri dayanır; alıcı onu əl ilə də dayandıra bilər. Sual-cavab bölməsində alıcının cavabı uyğun iştirakçılara eyni məlumatı verir. E-poçt və WhatsApp kanalları təşkilatın sazlamalarından asılıdır; canlı göndəriş bu təqdimat işi çərçivəsində yoxlanılmayıb. İştirak sayının və cavab faizinin artacağına dair rəqəmli zəmanət verilməməlidir.</a:t>
            </a:r>
          </a:p>
          <a:p/>
          <a:p>
            <a:r>
              <a:t>Mənbələr:</a:t>
            </a:r>
          </a:p>
          <a:p>
            <a:r>
              <a:t>apps/api/src/modules/followups/followups.module.ts:92–147,186–249</a:t>
            </a:r>
          </a:p>
          <a:p>
            <a:r>
              <a:t>apps/api/src/modules/sourcing/sourcing.service.ts:413–415</a:t>
            </a:r>
          </a:p>
          <a:p>
            <a:r>
              <a:t>scripts/produce-guides.mjs:539–545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Məxfi tender ilə revers-auksion ayrı rejimlərdir. Bu slayd məxfi RFQ və RFP-yə aiddir: alıcı açılışa qədər iştirak faktını görə bilər, lakin qiymət məbləğlərini görmür. Təchizatçı isə öz təklifini görə və son tarixə qədər qaydalara uyğun idarə edə bilər. Maliyyə məzmunu AES-256-GCM ilə şifrələnir; RFP-də texniki təklif də həmin məxfi məzmuna daxildir. Açılışdan sonra qiymətlər və qiymətləndirmə üçün məlumatlar görünür. “Heç bir səlahiyyətli sistem administratoru məlumatı heç vaxt əldə edə bilməz” kimi mütləq təhlükəsizlik iddiası işlətməyin.</a:t>
            </a:r>
          </a:p>
          <a:p/>
          <a:p>
            <a:r>
              <a:t>Mənbələr:</a:t>
            </a:r>
          </a:p>
          <a:p>
            <a:r>
              <a:t>apps/api/src/common/crypto/sealed.service.ts:5–7,23–33</a:t>
            </a:r>
          </a:p>
          <a:p>
            <a:r>
              <a:t>apps/api/src/modules/sourcing/sourcing.service.ts:327–415,435–479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təqdimatın əsas vurğu nöqtəsidir; qrafiki bir qədər dayanaraq izah edin. Təchizatçı cari ən yaxşı məbləği və növbəti qəbul edilə bilən həddi görür. Yeni təklif həmin həddən yuxarı olduqda qəbul edilmir. Son anda gələn təkliflər üçün sistem müəyyən edilmiş qayda daxilində vaxtı uzada bilər. Uzadılma məhduddur. Bu rejimdə qiymətlər məxfi zərf kimi bağlı deyil, rəqabətin gedişi görünür. Qrafik yalnız mexanizmi izah edir; konkret qənaət və ya təklif sayı vəd etmir. Uyğun kateqoriyanın və qaydaların seçimi müştərinin satınalma məqsədindən asılıdır. Slayddakı illüstrativ auksionda başlanğıc məbləğ 32 000 AZN, cari ən yaxşı təklif 31 200 AZN-dir. Minimum endirim addımı 320 AZN olduqda növbəti təklif ən çox 30 880 AZN ola bilər: 31 200 − 320 = 30 880. Son rəqəm artıq daxil olmuş təklif deyil; buna görə son pillə punktirlə göstərilib. Bu rəqəmlər növbəti RFQ nümunəsinin nəticəsi ilə əlaqələndirilməməlidir.</a:t>
            </a:r>
          </a:p>
          <a:p/>
          <a:p>
            <a:r>
              <a:t>Mənbələr:</a:t>
            </a:r>
          </a:p>
          <a:p>
            <a:r>
              <a:t>apps/api/src/modules/sourcing/auction.service.ts:98–111,131–132,164–183,198–205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nümunə məhsulun demo ssenarisindən götürülüb; real müştəri uğur hekayəsi deyil. Dörd server üçün smeta vahid başına 12 000 AZN, iki kommutator üçün 4 500 AZN-dir: cəmi 57 000 AZN. Supply One təklifi 51 500 AZN və 21 günlük çatdırılma, Baku Metal təklifi isə 54 600 AZN və 14 günlük çatdırılmadır. Nümunədə qiymət və çatdırılma meyarları üzrə formal qiymətləndirmədən sonra Supply One seçilir. Fərq 5 500 AZN, yəni smetanın təxminən 9,65%-idir. Bu slayd məxfi RFQ nümunəsidir; əvvəlki auksion slaydının faktiki nəticəsi kimi təqdim edilməməlidir.</a:t>
            </a:r>
          </a:p>
          <a:p/>
          <a:p>
            <a:r>
              <a:t>Mənbələr:</a:t>
            </a:r>
          </a:p>
          <a:p>
            <a:r>
              <a:t>scripts/demo-fill.mjs:197–230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funksiya əvvəlcədən müəyyən edilmiş tender meyarları ilə aparılan formal qiymətləndirməni əvəz etmir. Ayrı dəstək modeli açılmış təklifləri qiymət, çatdırılma müddəti və təchizatçının performans tarixçəsi əsasında sıralayır, səbəbləri göstərir. Cari yerli modeldə çəkilər 50% qiymət, 20% müddət, 30% etibarlılıqdır; formal demo qiymətləndirməsinin 70/30 çəkiləri ilə qarışdırılmamalıdır. Ayrı AI xidməti konfiqurasiya olunarsa LLM izahı əlavə oluna bilər; xidmət əlçatan olmadıqda yerli modelə keçid var. Avtonom satınalma, bazar proqnozu və ya təsdiqsiz qalib seçimi iddia edilməməlidir.</a:t>
            </a:r>
          </a:p>
          <a:p/>
          <a:p>
            <a:r>
              <a:t>Mənbələr:</a:t>
            </a:r>
          </a:p>
          <a:p>
            <a:r>
              <a:t>apps/api/src/common/ai/ai-scorer.ts:34–103,107–181</a:t>
            </a:r>
          </a:p>
          <a:p>
            <a:r>
              <a:t>services/ai-orchestrator/main.py:68–114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Təchizatçı seçildikdən sonra proses davam edir. Müqavilə qalib tender əsasında yaradılır, onun üzrə sifariş verilir və icra mərhələləri izlənir. Miqdar və ya qiymət dəyişməlidirsə, alıcı düzəliş təklif edir; təchizatçı köhnə və yeni şərtləri görərək qəbul və ya rədd edir. Məbləğ yalnız razılıqdan sonra yenilənir, dəyişiklik tarixçəsi saxlanılır. Bu əməliyyatın sifariş statusu və mal qəbulunun başlamaması kimi şərtləri var. Logistika hadisələri təchizatçı tərəfindən qeyd edilir; avtomatik GPS və daşıyıcı inteqrasiyası kimi izah edilməməlidir.</a:t>
            </a:r>
          </a:p>
          <a:p/>
          <a:p>
            <a:r>
              <a:t>Mənbələr:</a:t>
            </a:r>
          </a:p>
          <a:p>
            <a:r>
              <a:t>apps/web/src/guides.ts:110–129</a:t>
            </a:r>
          </a:p>
          <a:p>
            <a:r>
              <a:t>apps/api/src/modules/contracts/contracts.module.ts:354–428</a:t>
            </a:r>
          </a:p>
          <a:p>
            <a:r>
              <a:t>scripts/produce-guides.mjs:377–388,547–558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qaimənin qiymət və miqdarını sifarişlə, qəbul edilmiş və daha əvvəl qaimələnmiş miqdarla müqayisə edir. Uyğunsuzluq olduqda DISPUTED statusu yaranır. Qəbul sonradan rəsmiləşdirilərsə yoxlama yenidən hesablanır. Mübahisəli qaimənin təsdiqinə istisna tətbiq ediləndə səbəb tələb olunur. Bu, üç sənədi əlaqələndirən əməliyyat nəzarətidir; hər biznes halını avtomatik həll edən zəmanət kimi təqdim edilməsin. Ödəniş statusunun qeydi mövcuddur, lakin bank köçürməsini məhsulun özünün icra etdiyi deyilməməlidir.</a:t>
            </a:r>
          </a:p>
          <a:p/>
          <a:p>
            <a:r>
              <a:t>Mənbələr:</a:t>
            </a:r>
          </a:p>
          <a:p>
            <a:r>
              <a:t>apps/api/src/modules/invoices/invoices.module.ts:32–84,214–220,292–295</a:t>
            </a:r>
          </a:p>
          <a:p>
            <a:r>
              <a:t>apps/api/src/modules/contracts/contracts.module.ts:320–327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Büdcə istifadəsi kateqoriya, il və valyuta üzrə uyğun təsdiqlənmiş tələblərdən hesablanır. Bu göstərici bank hesabındakı qalıq və ya ödənilmiş məbləğ deyil. Xərc analitikası isə qəbul edilmiş PO-lara əsaslanır; aylar, kateqoriyalar, əsas təchizatçılar və qaimə statusları üzrə baxış verir. Büdcə aşımı xəbərdarlıq yaradır, təsdiqi avtomatik bloklamır. Müştəriyə bu fərqi açıq izah edin: platforma qərar üçün görünürlük verir və mövcud qaydaları tətbiq edir; maliyyə siyasətinin bütün sərt bloklama tələblərinin artıq hazır olduğunu vəd etmir.</a:t>
            </a:r>
          </a:p>
          <a:p/>
          <a:p>
            <a:r>
              <a:t>Mənbələr:</a:t>
            </a:r>
          </a:p>
          <a:p>
            <a:r>
              <a:t>apps/api/src/modules/budgets/budgets.module.ts:30–63,114–137</a:t>
            </a:r>
          </a:p>
          <a:p>
            <a:r>
              <a:t>apps/api/src/modules/dashboard/dashboard.module.ts:86–147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funksiyaları yenidən sadalamayın. Əvvəlki mexanizmləri rəhbərlik baxışına qaytarın: maliyyə üçün büdcə öhdəlikləri və qəbul edilmiş sifarişlər; satınalma üçün rəqabət, qiymətləndirmə və seçim əsasları; əməliyyat üçün sifariş, dəyişiklik və qəbul vəziyyəti. Audit qeydləri əsas əməliyyatların izlənməsini dəstəkləyir. Bunlar məlumat və nəzarət imkanlarıdır; konkret müştərinin nə qədər vaxt və vəsait qənaət edəcəyi pilotda ölçülməlidir. Texniki yerləşdirmə, dillər, inteqrasiya şərtləri və əlavə modullar ayrıca məhsul məlumat vərəqində müzakirə oluna bilər.</a:t>
            </a:r>
          </a:p>
          <a:p/>
          <a:p>
            <a:r>
              <a:t>Mənbələr:</a:t>
            </a:r>
          </a:p>
          <a:p>
            <a:r>
              <a:t>apps/api/src/modules/dashboard/dashboard.module.ts:15–47,86–147</a:t>
            </a:r>
          </a:p>
          <a:p>
            <a:r>
              <a:t>apps/api/src/common/audit/audit.service.ts:6–7,22–43</a:t>
            </a:r>
          </a:p>
          <a:p>
            <a:r>
              <a:t>apps/api/src/modules/sourcing/sourcing.service.ts:533–618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Növbəti addımı konkret, lakin əvvəlcədən öhdəlik yaratmadan təklif edin. Bir satınalma kateqoriyası, bir proses, məsul komanda və seçilmiş təchizatçılar kifayətdir. Başlamazdan əvvəl rollar, təsdiq qaydaları, prosedur və qiymətləndirmə meyarları razılaşdırılır. Pilotda proses müddəti, iştirak, smetaya nisbətən fərq və üzləşdirmədə görünən uyğunsuzluqlar izlənə bilər. Hədəf rəqəmləri və qəbul meyarları müştəri ilə birlikdə müəyyən edilir. Sonra genişləndirmənin əhatəsi, yerləşdirmə və inteqrasiyalar müzakirə olunur. Bağlanış cümləsi: “Şirkətinizdə ilk pilot üçün hansı satınalma kateqoriyası daha uyğundur?”</a:t>
            </a:r>
          </a:p>
          <a:p/>
          <a:p>
            <a:r>
              <a:t>Mənbələr:</a:t>
            </a:r>
          </a:p>
          <a:p>
            <a:r>
              <a:t>Müəllifin təklif etdiyi pilot yanaşması; məhsul göstəricisi və ya müqavilə öhdəliyi deyil.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nograph-network.png"/>
          <p:cNvPicPr>
            <a:picLocks noChangeAspect="1"/>
          </p:cNvPicPr>
          <p:nvPr/>
        </p:nvPicPr>
        <p:blipFill>
          <a:blip r:embed="rId2"/>
          <a:stretch>
            <a:fillRect/>
          </a:stretch>
        </p:blipFill>
        <p:spPr>
          <a:xfrm>
            <a:off x="0" y="0"/>
            <a:ext cx="16256000" cy="9144000"/>
          </a:xfrm>
          <a:prstGeom prst="rect">
            <a:avLst/>
          </a:prstGeom>
        </p:spPr>
      </p:pic>
      <p:sp>
        <p:nvSpPr>
          <p:cNvPr id="4" name="TextBox 3"/>
          <p:cNvSpPr txBox="1"/>
          <p:nvPr/>
        </p:nvSpPr>
        <p:spPr>
          <a:xfrm>
            <a:off x="914400" y="939800"/>
            <a:ext cx="6743700" cy="1614170"/>
          </a:xfrm>
          <a:prstGeom prst="rect">
            <a:avLst/>
          </a:prstGeom>
          <a:noFill/>
        </p:spPr>
        <p:txBody>
          <a:bodyPr wrap="none" lIns="0" rIns="0" tIns="0" bIns="0" anchor="t">
            <a:spAutoFit/>
          </a:bodyPr>
          <a:lstStyle/>
          <a:p>
            <a:pPr algn="l">
              <a:lnSpc>
                <a:spcPct val="100000"/>
              </a:lnSpc>
              <a:spcBef>
                <a:spcPts val="0"/>
              </a:spcBef>
              <a:spcAft>
                <a:spcPts val="0"/>
              </a:spcAft>
              <a:defRPr sz="8200" b="1">
                <a:solidFill>
                  <a:srgbClr val="FFFFFF"/>
                </a:solidFill>
                <a:latin typeface="Barlow Condensed"/>
              </a:defRPr>
            </a:pPr>
            <a:r>
              <a:t>Leadprocure</a:t>
            </a:r>
          </a:p>
        </p:txBody>
      </p:sp>
      <p:sp>
        <p:nvSpPr>
          <p:cNvPr id="5" name="TextBox 4"/>
          <p:cNvSpPr txBox="1"/>
          <p:nvPr/>
        </p:nvSpPr>
        <p:spPr>
          <a:xfrm>
            <a:off x="914400" y="3733800"/>
            <a:ext cx="6870700" cy="1535430"/>
          </a:xfrm>
          <a:prstGeom prst="rect">
            <a:avLst/>
          </a:prstGeom>
          <a:noFill/>
        </p:spPr>
        <p:txBody>
          <a:bodyPr wrap="none" lIns="0" rIns="0" tIns="0" bIns="0" anchor="t">
            <a:spAutoFit/>
          </a:bodyPr>
          <a:lstStyle/>
          <a:p>
            <a:pPr algn="l">
              <a:lnSpc>
                <a:spcPct val="100000"/>
              </a:lnSpc>
              <a:spcBef>
                <a:spcPts val="0"/>
              </a:spcBef>
              <a:spcAft>
                <a:spcPts val="0"/>
              </a:spcAft>
              <a:defRPr sz="7800" b="1">
                <a:solidFill>
                  <a:srgbClr val="FFFFFF"/>
                </a:solidFill>
                <a:latin typeface="Barlow Condensed"/>
              </a:defRPr>
            </a:pPr>
            <a:r>
              <a:t>Satınalmanı</a:t>
            </a:r>
          </a:p>
        </p:txBody>
      </p:sp>
      <p:sp>
        <p:nvSpPr>
          <p:cNvPr id="6" name="TextBox 5"/>
          <p:cNvSpPr txBox="1"/>
          <p:nvPr/>
        </p:nvSpPr>
        <p:spPr>
          <a:xfrm>
            <a:off x="914400" y="4744212"/>
            <a:ext cx="6870700" cy="1535430"/>
          </a:xfrm>
          <a:prstGeom prst="rect">
            <a:avLst/>
          </a:prstGeom>
          <a:noFill/>
        </p:spPr>
        <p:txBody>
          <a:bodyPr wrap="none" lIns="0" rIns="0" tIns="0" bIns="0" anchor="t">
            <a:spAutoFit/>
          </a:bodyPr>
          <a:lstStyle/>
          <a:p>
            <a:pPr algn="l">
              <a:lnSpc>
                <a:spcPct val="100000"/>
              </a:lnSpc>
              <a:spcBef>
                <a:spcPts val="0"/>
              </a:spcBef>
              <a:spcAft>
                <a:spcPts val="0"/>
              </a:spcAft>
              <a:defRPr sz="7800" b="1">
                <a:solidFill>
                  <a:srgbClr val="FFFFFF"/>
                </a:solidFill>
                <a:latin typeface="Barlow Condensed"/>
              </a:defRPr>
            </a:pPr>
            <a:r>
              <a:t>strateji üstünlüyə</a:t>
            </a:r>
          </a:p>
        </p:txBody>
      </p:sp>
      <p:sp>
        <p:nvSpPr>
          <p:cNvPr id="7" name="TextBox 6"/>
          <p:cNvSpPr txBox="1"/>
          <p:nvPr/>
        </p:nvSpPr>
        <p:spPr>
          <a:xfrm>
            <a:off x="914400" y="5754624"/>
            <a:ext cx="6870700" cy="1535430"/>
          </a:xfrm>
          <a:prstGeom prst="rect">
            <a:avLst/>
          </a:prstGeom>
          <a:noFill/>
        </p:spPr>
        <p:txBody>
          <a:bodyPr wrap="none" lIns="0" rIns="0" tIns="0" bIns="0" anchor="t">
            <a:spAutoFit/>
          </a:bodyPr>
          <a:lstStyle/>
          <a:p>
            <a:pPr algn="l">
              <a:lnSpc>
                <a:spcPct val="100000"/>
              </a:lnSpc>
              <a:spcBef>
                <a:spcPts val="0"/>
              </a:spcBef>
              <a:spcAft>
                <a:spcPts val="0"/>
              </a:spcAft>
              <a:defRPr sz="7800" b="1">
                <a:solidFill>
                  <a:srgbClr val="FFFFFF"/>
                </a:solidFill>
                <a:latin typeface="Barlow Condensed"/>
              </a:defRPr>
            </a:pPr>
            <a:r>
              <a:t>çevirin.</a:t>
            </a:r>
          </a:p>
        </p:txBody>
      </p:sp>
      <p:sp>
        <p:nvSpPr>
          <p:cNvPr id="8" name="TextBox 7"/>
          <p:cNvSpPr txBox="1"/>
          <p:nvPr/>
        </p:nvSpPr>
        <p:spPr>
          <a:xfrm>
            <a:off x="914400" y="7505700"/>
            <a:ext cx="6362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Korporativ satınalma</a:t>
            </a:r>
          </a:p>
        </p:txBody>
      </p:sp>
      <p:sp>
        <p:nvSpPr>
          <p:cNvPr id="9" name="TextBox 8"/>
          <p:cNvSpPr txBox="1"/>
          <p:nvPr/>
        </p:nvSpPr>
        <p:spPr>
          <a:xfrm>
            <a:off x="914400" y="7902575"/>
            <a:ext cx="6362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platforması</a:t>
            </a:r>
          </a:p>
        </p:txBody>
      </p:sp>
      <p:sp>
        <p:nvSpPr>
          <p:cNvPr id="10" name="TextBox 9"/>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İDARƏETMƏ DƏYƏRİ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HƏR QƏRAR GÖRÜNÜR.</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HƏR MƏRHƏLƏ NƏZARƏTDƏDİR.</a:t>
            </a:r>
          </a:p>
        </p:txBody>
      </p:sp>
      <p:sp>
        <p:nvSpPr>
          <p:cNvPr id="6" name="TextBox 5"/>
          <p:cNvSpPr txBox="1"/>
          <p:nvPr/>
        </p:nvSpPr>
        <p:spPr>
          <a:xfrm>
            <a:off x="914400" y="3683000"/>
            <a:ext cx="3314700" cy="3543300"/>
          </a:xfrm>
          <a:prstGeom prst="rect">
            <a:avLst/>
          </a:prstGeom>
          <a:noFill/>
        </p:spPr>
        <p:txBody>
          <a:bodyPr wrap="none" lIns="0" rIns="0" tIns="0" bIns="0" anchor="t">
            <a:spAutoFit/>
          </a:bodyPr>
          <a:lstStyle/>
          <a:p>
            <a:pPr algn="l">
              <a:lnSpc>
                <a:spcPct val="100000"/>
              </a:lnSpc>
              <a:spcBef>
                <a:spcPts val="0"/>
              </a:spcBef>
              <a:spcAft>
                <a:spcPts val="0"/>
              </a:spcAft>
              <a:defRPr sz="18000" b="1">
                <a:solidFill>
                  <a:srgbClr val="B5B5B5"/>
                </a:solidFill>
                <a:latin typeface="Barlow Condensed"/>
              </a:defRPr>
            </a:pPr>
            <a:r>
              <a:t>01</a:t>
            </a:r>
          </a:p>
        </p:txBody>
      </p:sp>
      <p:sp>
        <p:nvSpPr>
          <p:cNvPr id="7" name="TextBox 6"/>
          <p:cNvSpPr txBox="1"/>
          <p:nvPr/>
        </p:nvSpPr>
        <p:spPr>
          <a:xfrm>
            <a:off x="914400" y="6337300"/>
            <a:ext cx="4203700" cy="748030"/>
          </a:xfrm>
          <a:prstGeom prst="rect">
            <a:avLst/>
          </a:prstGeom>
          <a:noFill/>
        </p:spPr>
        <p:txBody>
          <a:bodyPr wrap="none" lIns="0" rIns="0" tIns="0" bIns="0" anchor="t">
            <a:spAutoFit/>
          </a:bodyPr>
          <a:lstStyle/>
          <a:p>
            <a:pPr algn="l">
              <a:lnSpc>
                <a:spcPct val="100000"/>
              </a:lnSpc>
              <a:spcBef>
                <a:spcPts val="0"/>
              </a:spcBef>
              <a:spcAft>
                <a:spcPts val="0"/>
              </a:spcAft>
              <a:defRPr sz="3800" b="1">
                <a:solidFill>
                  <a:srgbClr val="161616"/>
                </a:solidFill>
                <a:latin typeface="Barlow Condensed"/>
              </a:defRPr>
            </a:pPr>
            <a:r>
              <a:t>XƏRC ŞƏFFAFLIĞI</a:t>
            </a:r>
          </a:p>
        </p:txBody>
      </p:sp>
      <p:sp>
        <p:nvSpPr>
          <p:cNvPr id="8" name="TextBox 7"/>
          <p:cNvSpPr txBox="1"/>
          <p:nvPr/>
        </p:nvSpPr>
        <p:spPr>
          <a:xfrm>
            <a:off x="914400" y="706120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Büdcədən faktiki xərcə</a:t>
            </a:r>
          </a:p>
        </p:txBody>
      </p:sp>
      <p:sp>
        <p:nvSpPr>
          <p:cNvPr id="9" name="TextBox 8"/>
          <p:cNvSpPr txBox="1"/>
          <p:nvPr/>
        </p:nvSpPr>
        <p:spPr>
          <a:xfrm>
            <a:off x="6070600" y="3683000"/>
            <a:ext cx="3314700" cy="3543300"/>
          </a:xfrm>
          <a:prstGeom prst="rect">
            <a:avLst/>
          </a:prstGeom>
          <a:noFill/>
        </p:spPr>
        <p:txBody>
          <a:bodyPr wrap="none" lIns="0" rIns="0" tIns="0" bIns="0" anchor="t">
            <a:spAutoFit/>
          </a:bodyPr>
          <a:lstStyle/>
          <a:p>
            <a:pPr algn="l">
              <a:lnSpc>
                <a:spcPct val="100000"/>
              </a:lnSpc>
              <a:spcBef>
                <a:spcPts val="0"/>
              </a:spcBef>
              <a:spcAft>
                <a:spcPts val="0"/>
              </a:spcAft>
              <a:defRPr sz="18000" b="1">
                <a:solidFill>
                  <a:srgbClr val="B5B5B5"/>
                </a:solidFill>
                <a:latin typeface="Barlow Condensed"/>
              </a:defRPr>
            </a:pPr>
            <a:r>
              <a:t>02</a:t>
            </a:r>
          </a:p>
        </p:txBody>
      </p:sp>
      <p:sp>
        <p:nvSpPr>
          <p:cNvPr id="10" name="TextBox 9"/>
          <p:cNvSpPr txBox="1"/>
          <p:nvPr/>
        </p:nvSpPr>
        <p:spPr>
          <a:xfrm>
            <a:off x="6070600" y="6337300"/>
            <a:ext cx="4203700" cy="748030"/>
          </a:xfrm>
          <a:prstGeom prst="rect">
            <a:avLst/>
          </a:prstGeom>
          <a:noFill/>
        </p:spPr>
        <p:txBody>
          <a:bodyPr wrap="none" lIns="0" rIns="0" tIns="0" bIns="0" anchor="t">
            <a:spAutoFit/>
          </a:bodyPr>
          <a:lstStyle/>
          <a:p>
            <a:pPr algn="l">
              <a:lnSpc>
                <a:spcPct val="100000"/>
              </a:lnSpc>
              <a:spcBef>
                <a:spcPts val="0"/>
              </a:spcBef>
              <a:spcAft>
                <a:spcPts val="0"/>
              </a:spcAft>
              <a:defRPr sz="3800" b="1">
                <a:solidFill>
                  <a:srgbClr val="161616"/>
                </a:solidFill>
                <a:latin typeface="Barlow Condensed"/>
              </a:defRPr>
            </a:pPr>
            <a:r>
              <a:t>RƏQABƏTLİ SEÇİM</a:t>
            </a:r>
          </a:p>
        </p:txBody>
      </p:sp>
      <p:sp>
        <p:nvSpPr>
          <p:cNvPr id="11" name="TextBox 10"/>
          <p:cNvSpPr txBox="1"/>
          <p:nvPr/>
        </p:nvSpPr>
        <p:spPr>
          <a:xfrm>
            <a:off x="6070600" y="706120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Qaydalı və əsaslandırılmış</a:t>
            </a:r>
          </a:p>
        </p:txBody>
      </p:sp>
      <p:sp>
        <p:nvSpPr>
          <p:cNvPr id="12" name="TextBox 11"/>
          <p:cNvSpPr txBox="1"/>
          <p:nvPr/>
        </p:nvSpPr>
        <p:spPr>
          <a:xfrm>
            <a:off x="6070600" y="741172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qərar</a:t>
            </a:r>
          </a:p>
        </p:txBody>
      </p:sp>
      <p:sp>
        <p:nvSpPr>
          <p:cNvPr id="13" name="TextBox 12"/>
          <p:cNvSpPr txBox="1"/>
          <p:nvPr/>
        </p:nvSpPr>
        <p:spPr>
          <a:xfrm>
            <a:off x="11226800" y="3683000"/>
            <a:ext cx="3314700" cy="3543300"/>
          </a:xfrm>
          <a:prstGeom prst="rect">
            <a:avLst/>
          </a:prstGeom>
          <a:noFill/>
        </p:spPr>
        <p:txBody>
          <a:bodyPr wrap="none" lIns="0" rIns="0" tIns="0" bIns="0" anchor="t">
            <a:spAutoFit/>
          </a:bodyPr>
          <a:lstStyle/>
          <a:p>
            <a:pPr algn="l">
              <a:lnSpc>
                <a:spcPct val="100000"/>
              </a:lnSpc>
              <a:spcBef>
                <a:spcPts val="0"/>
              </a:spcBef>
              <a:spcAft>
                <a:spcPts val="0"/>
              </a:spcAft>
              <a:defRPr sz="18000" b="1">
                <a:solidFill>
                  <a:srgbClr val="B5B5B5"/>
                </a:solidFill>
                <a:latin typeface="Barlow Condensed"/>
              </a:defRPr>
            </a:pPr>
            <a:r>
              <a:t>03</a:t>
            </a:r>
          </a:p>
        </p:txBody>
      </p:sp>
      <p:sp>
        <p:nvSpPr>
          <p:cNvPr id="14" name="TextBox 13"/>
          <p:cNvSpPr txBox="1"/>
          <p:nvPr/>
        </p:nvSpPr>
        <p:spPr>
          <a:xfrm>
            <a:off x="11226800" y="6337300"/>
            <a:ext cx="4203700" cy="748030"/>
          </a:xfrm>
          <a:prstGeom prst="rect">
            <a:avLst/>
          </a:prstGeom>
          <a:noFill/>
        </p:spPr>
        <p:txBody>
          <a:bodyPr wrap="none" lIns="0" rIns="0" tIns="0" bIns="0" anchor="t">
            <a:spAutoFit/>
          </a:bodyPr>
          <a:lstStyle/>
          <a:p>
            <a:pPr algn="l">
              <a:lnSpc>
                <a:spcPct val="100000"/>
              </a:lnSpc>
              <a:spcBef>
                <a:spcPts val="0"/>
              </a:spcBef>
              <a:spcAft>
                <a:spcPts val="0"/>
              </a:spcAft>
              <a:defRPr sz="3800" b="1">
                <a:solidFill>
                  <a:srgbClr val="161616"/>
                </a:solidFill>
                <a:latin typeface="Barlow Condensed"/>
              </a:defRPr>
            </a:pPr>
            <a:r>
              <a:t>İCRA İNTİZAMI</a:t>
            </a:r>
          </a:p>
        </p:txBody>
      </p:sp>
      <p:sp>
        <p:nvSpPr>
          <p:cNvPr id="15" name="TextBox 14"/>
          <p:cNvSpPr txBox="1"/>
          <p:nvPr/>
        </p:nvSpPr>
        <p:spPr>
          <a:xfrm>
            <a:off x="11226800" y="706120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Sifarişdən malın qəbuluna</a:t>
            </a:r>
          </a:p>
        </p:txBody>
      </p:sp>
      <p:cxnSp>
        <p:nvCxnSpPr>
          <p:cNvPr id="16" name="Connector 15"/>
          <p:cNvCxnSpPr/>
          <p:nvPr/>
        </p:nvCxnSpPr>
        <p:spPr>
          <a:xfrm>
            <a:off x="3670300" y="5219700"/>
            <a:ext cx="18288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386451" y="52197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5386451" y="51610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26500" y="5219700"/>
            <a:ext cx="18288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542651" y="52197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542651" y="51610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3" name="TextBox 22"/>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4" name="TextBox 23"/>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DAXİLİ NƏZARƏT</a:t>
            </a:r>
          </a:p>
        </p:txBody>
      </p:sp>
      <p:sp>
        <p:nvSpPr>
          <p:cNvPr id="4" name="TextBox 3"/>
          <p:cNvSpPr txBox="1"/>
          <p:nvPr/>
        </p:nvSpPr>
        <p:spPr>
          <a:xfrm>
            <a:off x="914400" y="1155700"/>
            <a:ext cx="5727700" cy="1259840"/>
          </a:xfrm>
          <a:prstGeom prst="rect">
            <a:avLst/>
          </a:prstGeom>
          <a:noFill/>
        </p:spPr>
        <p:txBody>
          <a:bodyPr wrap="none" lIns="0" rIns="0" tIns="0" bIns="0" anchor="t">
            <a:spAutoFit/>
          </a:bodyPr>
          <a:lstStyle/>
          <a:p>
            <a:pPr algn="l">
              <a:lnSpc>
                <a:spcPct val="100000"/>
              </a:lnSpc>
              <a:spcBef>
                <a:spcPts val="0"/>
              </a:spcBef>
              <a:spcAft>
                <a:spcPts val="0"/>
              </a:spcAft>
              <a:defRPr sz="6400" b="1">
                <a:solidFill>
                  <a:srgbClr val="161616"/>
                </a:solidFill>
                <a:latin typeface="Barlow Condensed"/>
              </a:defRPr>
            </a:pPr>
            <a:r>
              <a:t>QƏRARDAN ƏVVƏL</a:t>
            </a:r>
          </a:p>
        </p:txBody>
      </p:sp>
      <p:sp>
        <p:nvSpPr>
          <p:cNvPr id="5" name="TextBox 4"/>
          <p:cNvSpPr txBox="1"/>
          <p:nvPr/>
        </p:nvSpPr>
        <p:spPr>
          <a:xfrm>
            <a:off x="914400" y="1984756"/>
            <a:ext cx="5727700" cy="1259840"/>
          </a:xfrm>
          <a:prstGeom prst="rect">
            <a:avLst/>
          </a:prstGeom>
          <a:noFill/>
        </p:spPr>
        <p:txBody>
          <a:bodyPr wrap="none" lIns="0" rIns="0" tIns="0" bIns="0" anchor="t">
            <a:spAutoFit/>
          </a:bodyPr>
          <a:lstStyle/>
          <a:p>
            <a:pPr algn="l">
              <a:lnSpc>
                <a:spcPct val="100000"/>
              </a:lnSpc>
              <a:spcBef>
                <a:spcPts val="0"/>
              </a:spcBef>
              <a:spcAft>
                <a:spcPts val="0"/>
              </a:spcAft>
              <a:defRPr sz="6400" b="1">
                <a:solidFill>
                  <a:srgbClr val="161616"/>
                </a:solidFill>
                <a:latin typeface="Barlow Condensed"/>
              </a:defRPr>
            </a:pPr>
            <a:r>
              <a:t>QAYDALAR.</a:t>
            </a:r>
          </a:p>
        </p:txBody>
      </p:sp>
      <p:sp>
        <p:nvSpPr>
          <p:cNvPr id="6" name="TextBox 5"/>
          <p:cNvSpPr txBox="1"/>
          <p:nvPr/>
        </p:nvSpPr>
        <p:spPr>
          <a:xfrm>
            <a:off x="914400" y="4254500"/>
            <a:ext cx="4838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525252"/>
                </a:solidFill>
                <a:latin typeface="IBM Plex Sans"/>
              </a:defRPr>
            </a:pPr>
            <a:r>
              <a:t>Səlahiyyətlər ayrılır.</a:t>
            </a:r>
          </a:p>
        </p:txBody>
      </p:sp>
      <p:sp>
        <p:nvSpPr>
          <p:cNvPr id="7" name="TextBox 6"/>
          <p:cNvSpPr txBox="1"/>
          <p:nvPr/>
        </p:nvSpPr>
        <p:spPr>
          <a:xfrm>
            <a:off x="914400" y="4734560"/>
            <a:ext cx="4838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525252"/>
                </a:solidFill>
                <a:latin typeface="IBM Plex Sans"/>
              </a:defRPr>
            </a:pPr>
            <a:r>
              <a:t>Meyarlar əvvəlcədən</a:t>
            </a:r>
          </a:p>
        </p:txBody>
      </p:sp>
      <p:sp>
        <p:nvSpPr>
          <p:cNvPr id="8" name="TextBox 7"/>
          <p:cNvSpPr txBox="1"/>
          <p:nvPr/>
        </p:nvSpPr>
        <p:spPr>
          <a:xfrm>
            <a:off x="914400" y="5214620"/>
            <a:ext cx="4838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525252"/>
                </a:solidFill>
                <a:latin typeface="IBM Plex Sans"/>
              </a:defRPr>
            </a:pPr>
            <a:r>
              <a:t>müəyyən edilir.</a:t>
            </a:r>
          </a:p>
        </p:txBody>
      </p:sp>
      <p:sp>
        <p:nvSpPr>
          <p:cNvPr id="9" name="Oval 8"/>
          <p:cNvSpPr/>
          <p:nvPr/>
        </p:nvSpPr>
        <p:spPr>
          <a:xfrm>
            <a:off x="7073900" y="3200400"/>
            <a:ext cx="584200" cy="584200"/>
          </a:xfrm>
          <a:prstGeom prst="ellipse">
            <a:avLst/>
          </a:prstGeom>
          <a:noFill/>
          <a:ln w="3175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6794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7945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086600" y="3987800"/>
            <a:ext cx="5588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6454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37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94500" y="4495800"/>
            <a:ext cx="11430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0121900" y="3200400"/>
            <a:ext cx="584200" cy="584200"/>
          </a:xfrm>
          <a:prstGeom prst="ellipse">
            <a:avLst/>
          </a:prstGeom>
          <a:noFill/>
          <a:ln w="3175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9842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8425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134600" y="3987800"/>
            <a:ext cx="5588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934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985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842500" y="4495800"/>
            <a:ext cx="11430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3208000" y="3175000"/>
            <a:ext cx="1168400" cy="1397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3436600" y="3530600"/>
            <a:ext cx="711200" cy="0"/>
          </a:xfrm>
          <a:prstGeom prst="line">
            <a:avLst/>
          </a:prstGeom>
          <a:ln w="25400">
            <a:solidFill>
              <a:srgbClr val="52525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436600" y="3822700"/>
            <a:ext cx="711200" cy="0"/>
          </a:xfrm>
          <a:prstGeom prst="line">
            <a:avLst/>
          </a:prstGeom>
          <a:ln w="25400">
            <a:solidFill>
              <a:srgbClr val="52525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436600" y="4114800"/>
            <a:ext cx="711200" cy="0"/>
          </a:xfrm>
          <a:prstGeom prst="line">
            <a:avLst/>
          </a:prstGeom>
          <a:ln w="25400">
            <a:solidFill>
              <a:srgbClr val="525252"/>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4058900" y="41148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173200" y="38735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071600" y="41402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102600" y="3873500"/>
            <a:ext cx="15113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9501251" y="38735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9501251" y="38148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201400" y="3873500"/>
            <a:ext cx="17145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2803251" y="38735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2803251" y="38148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23000" y="5016500"/>
            <a:ext cx="2298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Tələb</a:t>
            </a:r>
          </a:p>
        </p:txBody>
      </p:sp>
      <p:sp>
        <p:nvSpPr>
          <p:cNvPr id="37" name="TextBox 36"/>
          <p:cNvSpPr txBox="1"/>
          <p:nvPr/>
        </p:nvSpPr>
        <p:spPr>
          <a:xfrm>
            <a:off x="6223000" y="5534660"/>
            <a:ext cx="2298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müəllifi</a:t>
            </a:r>
          </a:p>
        </p:txBody>
      </p:sp>
      <p:sp>
        <p:nvSpPr>
          <p:cNvPr id="38" name="TextBox 37"/>
          <p:cNvSpPr txBox="1"/>
          <p:nvPr/>
        </p:nvSpPr>
        <p:spPr>
          <a:xfrm>
            <a:off x="9017000" y="5016500"/>
            <a:ext cx="2806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Səlahiyyətli</a:t>
            </a:r>
          </a:p>
        </p:txBody>
      </p:sp>
      <p:sp>
        <p:nvSpPr>
          <p:cNvPr id="39" name="TextBox 38"/>
          <p:cNvSpPr txBox="1"/>
          <p:nvPr/>
        </p:nvSpPr>
        <p:spPr>
          <a:xfrm>
            <a:off x="9017000" y="5534660"/>
            <a:ext cx="2806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təsdiqləyən</a:t>
            </a:r>
          </a:p>
        </p:txBody>
      </p:sp>
      <p:sp>
        <p:nvSpPr>
          <p:cNvPr id="40" name="TextBox 39"/>
          <p:cNvSpPr txBox="1"/>
          <p:nvPr/>
        </p:nvSpPr>
        <p:spPr>
          <a:xfrm>
            <a:off x="12763500" y="5016500"/>
            <a:ext cx="20701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Sabit</a:t>
            </a:r>
          </a:p>
        </p:txBody>
      </p:sp>
      <p:sp>
        <p:nvSpPr>
          <p:cNvPr id="41" name="TextBox 40"/>
          <p:cNvSpPr txBox="1"/>
          <p:nvPr/>
        </p:nvSpPr>
        <p:spPr>
          <a:xfrm>
            <a:off x="12763500" y="5534660"/>
            <a:ext cx="20701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meyarlar</a:t>
            </a:r>
          </a:p>
        </p:txBody>
      </p:sp>
      <p:cxnSp>
        <p:nvCxnSpPr>
          <p:cNvPr id="42" name="Connector 41"/>
          <p:cNvCxnSpPr/>
          <p:nvPr/>
        </p:nvCxnSpPr>
        <p:spPr>
          <a:xfrm>
            <a:off x="6223000" y="6324600"/>
            <a:ext cx="85979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23000" y="6629400"/>
            <a:ext cx="9029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Müəllif öz tələbini təsdiqləmir.</a:t>
            </a:r>
          </a:p>
        </p:txBody>
      </p:sp>
      <p:sp>
        <p:nvSpPr>
          <p:cNvPr id="44" name="TextBox 43"/>
          <p:cNvSpPr txBox="1"/>
          <p:nvPr/>
        </p:nvSpPr>
        <p:spPr>
          <a:xfrm>
            <a:off x="914400" y="7835900"/>
            <a:ext cx="14439900" cy="511810"/>
          </a:xfrm>
          <a:prstGeom prst="rect">
            <a:avLst/>
          </a:prstGeom>
          <a:noFill/>
        </p:spPr>
        <p:txBody>
          <a:bodyPr wrap="none" lIns="0" rIns="0" tIns="0" bIns="0" anchor="t">
            <a:spAutoFit/>
          </a:bodyPr>
          <a:lstStyle/>
          <a:p>
            <a:pPr algn="l">
              <a:lnSpc>
                <a:spcPct val="100000"/>
              </a:lnSpc>
              <a:spcBef>
                <a:spcPts val="0"/>
              </a:spcBef>
              <a:spcAft>
                <a:spcPts val="0"/>
              </a:spcAft>
              <a:defRPr sz="2600" b="1">
                <a:solidFill>
                  <a:srgbClr val="161616"/>
                </a:solidFill>
                <a:latin typeface="IBM Plex Sans"/>
              </a:defRPr>
            </a:pPr>
            <a:r>
              <a:t>Məbləğə uyğun təsdiq zənciri.</a:t>
            </a:r>
          </a:p>
        </p:txBody>
      </p:sp>
      <p:sp>
        <p:nvSpPr>
          <p:cNvPr id="45" name="TextBox 44"/>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46" name="TextBox 45"/>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47" name="TextBox 46"/>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TƏCHİZATÇI İŞTİRAKI</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DƏVƏTDƏN</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CAVABA QƏDƏR.</a:t>
            </a:r>
          </a:p>
        </p:txBody>
      </p:sp>
      <p:sp>
        <p:nvSpPr>
          <p:cNvPr id="6" name="TextBox 5"/>
          <p:cNvSpPr txBox="1"/>
          <p:nvPr/>
        </p:nvSpPr>
        <p:spPr>
          <a:xfrm>
            <a:off x="914400" y="4813300"/>
            <a:ext cx="2425700" cy="866140"/>
          </a:xfrm>
          <a:prstGeom prst="rect">
            <a:avLst/>
          </a:prstGeom>
          <a:noFill/>
        </p:spPr>
        <p:txBody>
          <a:bodyPr wrap="none" lIns="0" rIns="0" tIns="0" bIns="0" anchor="t">
            <a:spAutoFit/>
          </a:bodyPr>
          <a:lstStyle/>
          <a:p>
            <a:pPr algn="l">
              <a:lnSpc>
                <a:spcPct val="100000"/>
              </a:lnSpc>
              <a:spcBef>
                <a:spcPts val="0"/>
              </a:spcBef>
              <a:spcAft>
                <a:spcPts val="0"/>
              </a:spcAft>
              <a:defRPr sz="4400" b="1">
                <a:solidFill>
                  <a:srgbClr val="FFFFFF"/>
                </a:solidFill>
                <a:latin typeface="Barlow Condensed"/>
              </a:defRPr>
            </a:pPr>
            <a:r>
              <a:t>Dəvət</a:t>
            </a:r>
          </a:p>
        </p:txBody>
      </p:sp>
      <p:cxnSp>
        <p:nvCxnSpPr>
          <p:cNvPr id="7" name="Connector 6"/>
          <p:cNvCxnSpPr/>
          <p:nvPr/>
        </p:nvCxnSpPr>
        <p:spPr>
          <a:xfrm>
            <a:off x="3009900" y="5143500"/>
            <a:ext cx="9525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962400" y="4102100"/>
            <a:ext cx="0" cy="23749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962400" y="4102100"/>
            <a:ext cx="1371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5221351" y="41021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221351" y="40434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962400" y="6477000"/>
            <a:ext cx="1371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221351" y="64770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5221351" y="64183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638800" y="39116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3784600"/>
            <a:ext cx="45847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FFFFFF"/>
                </a:solidFill>
                <a:latin typeface="Barlow Condensed"/>
              </a:defRPr>
            </a:pPr>
            <a:r>
              <a:t>Təklif təqdim edilib</a:t>
            </a:r>
          </a:p>
        </p:txBody>
      </p:sp>
      <p:cxnSp>
        <p:nvCxnSpPr>
          <p:cNvPr id="17" name="Connector 16"/>
          <p:cNvCxnSpPr/>
          <p:nvPr/>
        </p:nvCxnSpPr>
        <p:spPr>
          <a:xfrm>
            <a:off x="10769600" y="4102100"/>
            <a:ext cx="736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1393551" y="41021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11393551" y="40434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887200" y="3657600"/>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Xatırlatma</a:t>
            </a:r>
          </a:p>
        </p:txBody>
      </p:sp>
      <p:sp>
        <p:nvSpPr>
          <p:cNvPr id="21" name="TextBox 20"/>
          <p:cNvSpPr txBox="1"/>
          <p:nvPr/>
        </p:nvSpPr>
        <p:spPr>
          <a:xfrm>
            <a:off x="11887200" y="4175760"/>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dayanır</a:t>
            </a:r>
          </a:p>
        </p:txBody>
      </p:sp>
      <p:sp>
        <p:nvSpPr>
          <p:cNvPr id="22" name="Oval 21"/>
          <p:cNvSpPr/>
          <p:nvPr/>
        </p:nvSpPr>
        <p:spPr>
          <a:xfrm>
            <a:off x="5638800" y="6299200"/>
            <a:ext cx="228600" cy="228600"/>
          </a:xfrm>
          <a:prstGeom prst="ellipse">
            <a:avLst/>
          </a:prstGeom>
          <a:noFill/>
          <a:ln w="25400">
            <a:solidFill>
              <a:srgbClr val="B5B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6159500"/>
            <a:ext cx="43942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FFFFFF"/>
                </a:solidFill>
                <a:latin typeface="Barlow Condensed"/>
              </a:defRPr>
            </a:pPr>
            <a:r>
              <a:t>Cavab gözlənilir</a:t>
            </a:r>
          </a:p>
        </p:txBody>
      </p:sp>
      <p:cxnSp>
        <p:nvCxnSpPr>
          <p:cNvPr id="24" name="Connector 23"/>
          <p:cNvCxnSpPr/>
          <p:nvPr/>
        </p:nvCxnSpPr>
        <p:spPr>
          <a:xfrm>
            <a:off x="10769600" y="6477000"/>
            <a:ext cx="736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393551" y="64770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1393551" y="64183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887200" y="6032500"/>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Planlı</a:t>
            </a:r>
          </a:p>
        </p:txBody>
      </p:sp>
      <p:sp>
        <p:nvSpPr>
          <p:cNvPr id="28" name="TextBox 27"/>
          <p:cNvSpPr txBox="1"/>
          <p:nvPr/>
        </p:nvSpPr>
        <p:spPr>
          <a:xfrm>
            <a:off x="11887200" y="6550659"/>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xatırlatma</a:t>
            </a:r>
          </a:p>
        </p:txBody>
      </p:sp>
      <p:sp>
        <p:nvSpPr>
          <p:cNvPr id="29" name="TextBox 28"/>
          <p:cNvSpPr txBox="1"/>
          <p:nvPr/>
        </p:nvSpPr>
        <p:spPr>
          <a:xfrm>
            <a:off x="914400" y="7823200"/>
            <a:ext cx="13982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Sual-cavab məlumatı uyğun iştirakçılar üçün ortaqdır.</a:t>
            </a:r>
          </a:p>
        </p:txBody>
      </p:sp>
      <p:sp>
        <p:nvSpPr>
          <p:cNvPr id="30" name="TextBox 29"/>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31" name="TextBox 30"/>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32" name="TextBox 31"/>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MƏXFİ RFQ / RFP</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TƏKLİFLƏR AÇILANADƏK</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QİYMƏTLƏR MƏXFİDİR.</a:t>
            </a:r>
          </a:p>
        </p:txBody>
      </p:sp>
      <p:sp>
        <p:nvSpPr>
          <p:cNvPr id="6" name="Rectangle 5"/>
          <p:cNvSpPr/>
          <p:nvPr/>
        </p:nvSpPr>
        <p:spPr>
          <a:xfrm>
            <a:off x="1524000" y="4013200"/>
            <a:ext cx="1066800" cy="1524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73300" y="50800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87600" y="48387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0" y="51054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6400" y="4495800"/>
            <a:ext cx="774700" cy="610235"/>
          </a:xfrm>
          <a:prstGeom prst="rect">
            <a:avLst/>
          </a:prstGeom>
          <a:noFill/>
        </p:spPr>
        <p:txBody>
          <a:bodyPr wrap="none" lIns="0" rIns="0" tIns="0" bIns="0" anchor="t">
            <a:spAutoFit/>
          </a:bodyPr>
          <a:lstStyle/>
          <a:p>
            <a:pPr algn="ctr">
              <a:lnSpc>
                <a:spcPct val="100000"/>
              </a:lnSpc>
              <a:spcBef>
                <a:spcPts val="0"/>
              </a:spcBef>
              <a:spcAft>
                <a:spcPts val="0"/>
              </a:spcAft>
              <a:defRPr sz="3100" b="1">
                <a:solidFill>
                  <a:srgbClr val="161616"/>
                </a:solidFill>
                <a:latin typeface="IBM Plex Sans"/>
              </a:defRPr>
            </a:pPr>
            <a:r>
              <a:t>•••</a:t>
            </a:r>
          </a:p>
        </p:txBody>
      </p:sp>
      <p:sp>
        <p:nvSpPr>
          <p:cNvPr id="11" name="Rectangle 10"/>
          <p:cNvSpPr/>
          <p:nvPr/>
        </p:nvSpPr>
        <p:spPr>
          <a:xfrm>
            <a:off x="3200400" y="4013200"/>
            <a:ext cx="1066800" cy="1524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49700" y="50800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064000" y="48387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62400" y="51054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52800" y="4495800"/>
            <a:ext cx="774700" cy="610235"/>
          </a:xfrm>
          <a:prstGeom prst="rect">
            <a:avLst/>
          </a:prstGeom>
          <a:noFill/>
        </p:spPr>
        <p:txBody>
          <a:bodyPr wrap="none" lIns="0" rIns="0" tIns="0" bIns="0" anchor="t">
            <a:spAutoFit/>
          </a:bodyPr>
          <a:lstStyle/>
          <a:p>
            <a:pPr algn="ctr">
              <a:lnSpc>
                <a:spcPct val="100000"/>
              </a:lnSpc>
              <a:spcBef>
                <a:spcPts val="0"/>
              </a:spcBef>
              <a:spcAft>
                <a:spcPts val="0"/>
              </a:spcAft>
              <a:defRPr sz="3100" b="1">
                <a:solidFill>
                  <a:srgbClr val="161616"/>
                </a:solidFill>
                <a:latin typeface="IBM Plex Sans"/>
              </a:defRPr>
            </a:pPr>
            <a:r>
              <a:t>•••</a:t>
            </a:r>
          </a:p>
        </p:txBody>
      </p:sp>
      <p:sp>
        <p:nvSpPr>
          <p:cNvPr id="16" name="Rectangle 15"/>
          <p:cNvSpPr/>
          <p:nvPr/>
        </p:nvSpPr>
        <p:spPr>
          <a:xfrm>
            <a:off x="4876800" y="4013200"/>
            <a:ext cx="1066800" cy="1524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26100" y="50800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40400" y="48387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38800" y="51054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4495800"/>
            <a:ext cx="774700" cy="610235"/>
          </a:xfrm>
          <a:prstGeom prst="rect">
            <a:avLst/>
          </a:prstGeom>
          <a:noFill/>
        </p:spPr>
        <p:txBody>
          <a:bodyPr wrap="none" lIns="0" rIns="0" tIns="0" bIns="0" anchor="t">
            <a:spAutoFit/>
          </a:bodyPr>
          <a:lstStyle/>
          <a:p>
            <a:pPr algn="ctr">
              <a:lnSpc>
                <a:spcPct val="100000"/>
              </a:lnSpc>
              <a:spcBef>
                <a:spcPts val="0"/>
              </a:spcBef>
              <a:spcAft>
                <a:spcPts val="0"/>
              </a:spcAft>
              <a:defRPr sz="3100" b="1">
                <a:solidFill>
                  <a:srgbClr val="161616"/>
                </a:solidFill>
                <a:latin typeface="IBM Plex Sans"/>
              </a:defRPr>
            </a:pPr>
            <a:r>
              <a:t>•••</a:t>
            </a:r>
          </a:p>
        </p:txBody>
      </p:sp>
      <p:sp>
        <p:nvSpPr>
          <p:cNvPr id="21" name="TextBox 20"/>
          <p:cNvSpPr txBox="1"/>
          <p:nvPr/>
        </p:nvSpPr>
        <p:spPr>
          <a:xfrm>
            <a:off x="1320800" y="6299200"/>
            <a:ext cx="5219700" cy="708660"/>
          </a:xfrm>
          <a:prstGeom prst="rect">
            <a:avLst/>
          </a:prstGeom>
          <a:noFill/>
        </p:spPr>
        <p:txBody>
          <a:bodyPr wrap="none" lIns="0" rIns="0" tIns="0" bIns="0" anchor="t">
            <a:spAutoFit/>
          </a:bodyPr>
          <a:lstStyle/>
          <a:p>
            <a:pPr algn="l">
              <a:lnSpc>
                <a:spcPct val="100000"/>
              </a:lnSpc>
              <a:spcBef>
                <a:spcPts val="0"/>
              </a:spcBef>
              <a:spcAft>
                <a:spcPts val="0"/>
              </a:spcAft>
              <a:defRPr sz="3600" b="1">
                <a:solidFill>
                  <a:srgbClr val="161616"/>
                </a:solidFill>
                <a:latin typeface="Barlow Condensed"/>
              </a:defRPr>
            </a:pPr>
            <a:r>
              <a:t>Açılışdan əvvəl</a:t>
            </a:r>
          </a:p>
        </p:txBody>
      </p:sp>
      <p:sp>
        <p:nvSpPr>
          <p:cNvPr id="22" name="TextBox 21"/>
          <p:cNvSpPr txBox="1"/>
          <p:nvPr/>
        </p:nvSpPr>
        <p:spPr>
          <a:xfrm>
            <a:off x="1320800" y="7035800"/>
            <a:ext cx="5473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525252"/>
                </a:solidFill>
                <a:latin typeface="IBM Plex Sans"/>
              </a:defRPr>
            </a:pPr>
            <a:r>
              <a:t>Alıcı məbləği görmür.</a:t>
            </a:r>
          </a:p>
        </p:txBody>
      </p:sp>
      <p:cxnSp>
        <p:nvCxnSpPr>
          <p:cNvPr id="23" name="Connector 22"/>
          <p:cNvCxnSpPr/>
          <p:nvPr/>
        </p:nvCxnSpPr>
        <p:spPr>
          <a:xfrm>
            <a:off x="6578600" y="4787900"/>
            <a:ext cx="16637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8129651" y="47879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8129651" y="47292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369300" y="4051300"/>
            <a:ext cx="1473200" cy="14732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6300" y="4572000"/>
            <a:ext cx="1231900" cy="472440"/>
          </a:xfrm>
          <a:prstGeom prst="rect">
            <a:avLst/>
          </a:prstGeom>
          <a:noFill/>
        </p:spPr>
        <p:txBody>
          <a:bodyPr wrap="none" lIns="0" rIns="0" tIns="0" bIns="0" anchor="t">
            <a:spAutoFit/>
          </a:bodyPr>
          <a:lstStyle/>
          <a:p>
            <a:pPr algn="ctr">
              <a:lnSpc>
                <a:spcPct val="100000"/>
              </a:lnSpc>
              <a:spcBef>
                <a:spcPts val="0"/>
              </a:spcBef>
              <a:spcAft>
                <a:spcPts val="0"/>
              </a:spcAft>
              <a:defRPr sz="2400" b="1">
                <a:solidFill>
                  <a:srgbClr val="161616"/>
                </a:solidFill>
                <a:latin typeface="Barlow Condensed"/>
              </a:defRPr>
            </a:pPr>
            <a:r>
              <a:t>AÇILIŞ</a:t>
            </a:r>
          </a:p>
        </p:txBody>
      </p:sp>
      <p:cxnSp>
        <p:nvCxnSpPr>
          <p:cNvPr id="28" name="Connector 27"/>
          <p:cNvCxnSpPr/>
          <p:nvPr/>
        </p:nvCxnSpPr>
        <p:spPr>
          <a:xfrm>
            <a:off x="9969500" y="4787900"/>
            <a:ext cx="9779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0834751" y="47879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0834751" y="47292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417300" y="4064000"/>
            <a:ext cx="3568700" cy="0"/>
          </a:xfrm>
          <a:prstGeom prst="line">
            <a:avLst/>
          </a:prstGeom>
          <a:ln w="25400">
            <a:solidFill>
              <a:srgbClr val="161616"/>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1226800" y="4000500"/>
            <a:ext cx="127000" cy="127000"/>
          </a:xfrm>
          <a:prstGeom prst="ellipse">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1417300" y="4635500"/>
            <a:ext cx="3568700" cy="0"/>
          </a:xfrm>
          <a:prstGeom prst="line">
            <a:avLst/>
          </a:prstGeom>
          <a:ln w="25400">
            <a:solidFill>
              <a:srgbClr val="161616"/>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1226800" y="4572000"/>
            <a:ext cx="127000" cy="127000"/>
          </a:xfrm>
          <a:prstGeom prst="ellipse">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1417300" y="5207000"/>
            <a:ext cx="3568700" cy="0"/>
          </a:xfrm>
          <a:prstGeom prst="line">
            <a:avLst/>
          </a:prstGeom>
          <a:ln w="25400">
            <a:solidFill>
              <a:srgbClr val="161616"/>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1226800" y="5143500"/>
            <a:ext cx="127000" cy="127000"/>
          </a:xfrm>
          <a:prstGeom prst="ellipse">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90300" y="6299200"/>
            <a:ext cx="4203700" cy="708660"/>
          </a:xfrm>
          <a:prstGeom prst="rect">
            <a:avLst/>
          </a:prstGeom>
          <a:noFill/>
        </p:spPr>
        <p:txBody>
          <a:bodyPr wrap="none" lIns="0" rIns="0" tIns="0" bIns="0" anchor="t">
            <a:spAutoFit/>
          </a:bodyPr>
          <a:lstStyle/>
          <a:p>
            <a:pPr algn="l">
              <a:lnSpc>
                <a:spcPct val="100000"/>
              </a:lnSpc>
              <a:spcBef>
                <a:spcPts val="0"/>
              </a:spcBef>
              <a:spcAft>
                <a:spcPts val="0"/>
              </a:spcAft>
              <a:defRPr sz="3600" b="1">
                <a:solidFill>
                  <a:srgbClr val="161616"/>
                </a:solidFill>
                <a:latin typeface="Barlow Condensed"/>
              </a:defRPr>
            </a:pPr>
            <a:r>
              <a:t>Qiymətləndirmə</a:t>
            </a:r>
          </a:p>
        </p:txBody>
      </p:sp>
      <p:sp>
        <p:nvSpPr>
          <p:cNvPr id="38" name="TextBox 37"/>
          <p:cNvSpPr txBox="1"/>
          <p:nvPr/>
        </p:nvSpPr>
        <p:spPr>
          <a:xfrm>
            <a:off x="11290300" y="7035800"/>
            <a:ext cx="40640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Əvvəlcədən müəyyən</a:t>
            </a:r>
          </a:p>
        </p:txBody>
      </p:sp>
      <p:sp>
        <p:nvSpPr>
          <p:cNvPr id="39" name="TextBox 38"/>
          <p:cNvSpPr txBox="1"/>
          <p:nvPr/>
        </p:nvSpPr>
        <p:spPr>
          <a:xfrm>
            <a:off x="11290300" y="7401559"/>
            <a:ext cx="40640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edilmiş meyarlarla.</a:t>
            </a:r>
          </a:p>
        </p:txBody>
      </p:sp>
      <p:sp>
        <p:nvSpPr>
          <p:cNvPr id="40" name="TextBox 39"/>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41" name="TextBox 40"/>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42" name="TextBox 41"/>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QİYMƏT RƏQABƏTİ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FFFFFF"/>
                </a:solidFill>
                <a:latin typeface="Barlow Condensed"/>
              </a:defRPr>
            </a:pPr>
            <a:r>
              <a:t>REVERS-AUKSİON:</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FFFFFF"/>
                </a:solidFill>
                <a:latin typeface="Barlow Condensed"/>
              </a:defRPr>
            </a:pPr>
            <a:r>
              <a:t>RƏQABƏT REAL VAXTDA.</a:t>
            </a:r>
          </a:p>
        </p:txBody>
      </p:sp>
      <p:sp>
        <p:nvSpPr>
          <p:cNvPr id="6" name="TextBox 5"/>
          <p:cNvSpPr txBox="1"/>
          <p:nvPr/>
        </p:nvSpPr>
        <p:spPr>
          <a:xfrm>
            <a:off x="914400" y="3251200"/>
            <a:ext cx="4076700" cy="2125980"/>
          </a:xfrm>
          <a:prstGeom prst="rect">
            <a:avLst/>
          </a:prstGeom>
          <a:noFill/>
        </p:spPr>
        <p:txBody>
          <a:bodyPr wrap="none" lIns="0" rIns="0" tIns="0" bIns="0" anchor="t">
            <a:spAutoFit/>
          </a:bodyPr>
          <a:lstStyle/>
          <a:p>
            <a:pPr algn="l">
              <a:lnSpc>
                <a:spcPct val="100000"/>
              </a:lnSpc>
              <a:spcBef>
                <a:spcPts val="0"/>
              </a:spcBef>
              <a:spcAft>
                <a:spcPts val="0"/>
              </a:spcAft>
              <a:defRPr sz="10800" b="1">
                <a:solidFill>
                  <a:srgbClr val="FFFFFF"/>
                </a:solidFill>
                <a:latin typeface="Barlow Condensed"/>
              </a:defRPr>
            </a:pPr>
            <a:r>
              <a:t>32 000</a:t>
            </a:r>
          </a:p>
        </p:txBody>
      </p:sp>
      <p:sp>
        <p:nvSpPr>
          <p:cNvPr id="7" name="TextBox 6"/>
          <p:cNvSpPr txBox="1"/>
          <p:nvPr/>
        </p:nvSpPr>
        <p:spPr>
          <a:xfrm>
            <a:off x="4470400" y="4076700"/>
            <a:ext cx="927100" cy="413385"/>
          </a:xfrm>
          <a:prstGeom prst="rect">
            <a:avLst/>
          </a:prstGeom>
          <a:noFill/>
        </p:spPr>
        <p:txBody>
          <a:bodyPr wrap="none" lIns="0" rIns="0" tIns="0" bIns="0" anchor="t">
            <a:spAutoFit/>
          </a:bodyPr>
          <a:lstStyle/>
          <a:p>
            <a:pPr algn="l">
              <a:lnSpc>
                <a:spcPct val="100000"/>
              </a:lnSpc>
              <a:spcBef>
                <a:spcPts val="0"/>
              </a:spcBef>
              <a:spcAft>
                <a:spcPts val="0"/>
              </a:spcAft>
              <a:defRPr sz="2100" b="1">
                <a:solidFill>
                  <a:srgbClr val="D1D1D1"/>
                </a:solidFill>
                <a:latin typeface="IBM Plex Sans"/>
              </a:defRPr>
            </a:pPr>
            <a:r>
              <a:t>AZN</a:t>
            </a:r>
          </a:p>
        </p:txBody>
      </p:sp>
      <p:sp>
        <p:nvSpPr>
          <p:cNvPr id="8" name="TextBox 7"/>
          <p:cNvSpPr txBox="1"/>
          <p:nvPr/>
        </p:nvSpPr>
        <p:spPr>
          <a:xfrm>
            <a:off x="5956300" y="4457700"/>
            <a:ext cx="4076700" cy="2125980"/>
          </a:xfrm>
          <a:prstGeom prst="rect">
            <a:avLst/>
          </a:prstGeom>
          <a:noFill/>
        </p:spPr>
        <p:txBody>
          <a:bodyPr wrap="none" lIns="0" rIns="0" tIns="0" bIns="0" anchor="t">
            <a:spAutoFit/>
          </a:bodyPr>
          <a:lstStyle/>
          <a:p>
            <a:pPr algn="l">
              <a:lnSpc>
                <a:spcPct val="100000"/>
              </a:lnSpc>
              <a:spcBef>
                <a:spcPts val="0"/>
              </a:spcBef>
              <a:spcAft>
                <a:spcPts val="0"/>
              </a:spcAft>
              <a:defRPr sz="10800" b="1">
                <a:solidFill>
                  <a:srgbClr val="FFFFFF"/>
                </a:solidFill>
                <a:latin typeface="Barlow Condensed"/>
              </a:defRPr>
            </a:pPr>
            <a:r>
              <a:t>31 200</a:t>
            </a:r>
          </a:p>
        </p:txBody>
      </p:sp>
      <p:sp>
        <p:nvSpPr>
          <p:cNvPr id="9" name="TextBox 8"/>
          <p:cNvSpPr txBox="1"/>
          <p:nvPr/>
        </p:nvSpPr>
        <p:spPr>
          <a:xfrm>
            <a:off x="9512300" y="5283200"/>
            <a:ext cx="927100" cy="413385"/>
          </a:xfrm>
          <a:prstGeom prst="rect">
            <a:avLst/>
          </a:prstGeom>
          <a:noFill/>
        </p:spPr>
        <p:txBody>
          <a:bodyPr wrap="none" lIns="0" rIns="0" tIns="0" bIns="0" anchor="t">
            <a:spAutoFit/>
          </a:bodyPr>
          <a:lstStyle/>
          <a:p>
            <a:pPr algn="l">
              <a:lnSpc>
                <a:spcPct val="100000"/>
              </a:lnSpc>
              <a:spcBef>
                <a:spcPts val="0"/>
              </a:spcBef>
              <a:spcAft>
                <a:spcPts val="0"/>
              </a:spcAft>
              <a:defRPr sz="2100" b="1">
                <a:solidFill>
                  <a:srgbClr val="D1D1D1"/>
                </a:solidFill>
                <a:latin typeface="IBM Plex Sans"/>
              </a:defRPr>
            </a:pPr>
            <a:r>
              <a:t>AZN</a:t>
            </a:r>
          </a:p>
        </p:txBody>
      </p:sp>
      <p:sp>
        <p:nvSpPr>
          <p:cNvPr id="10" name="TextBox 9"/>
          <p:cNvSpPr txBox="1"/>
          <p:nvPr/>
        </p:nvSpPr>
        <p:spPr>
          <a:xfrm>
            <a:off x="10998200" y="5664200"/>
            <a:ext cx="4076700" cy="2125980"/>
          </a:xfrm>
          <a:prstGeom prst="rect">
            <a:avLst/>
          </a:prstGeom>
          <a:noFill/>
        </p:spPr>
        <p:txBody>
          <a:bodyPr wrap="none" lIns="0" rIns="0" tIns="0" bIns="0" anchor="t">
            <a:spAutoFit/>
          </a:bodyPr>
          <a:lstStyle/>
          <a:p>
            <a:pPr algn="l">
              <a:lnSpc>
                <a:spcPct val="100000"/>
              </a:lnSpc>
              <a:spcBef>
                <a:spcPts val="0"/>
              </a:spcBef>
              <a:spcAft>
                <a:spcPts val="0"/>
              </a:spcAft>
              <a:defRPr sz="10800" b="1">
                <a:solidFill>
                  <a:srgbClr val="FFFFFF"/>
                </a:solidFill>
                <a:latin typeface="Barlow Condensed"/>
              </a:defRPr>
            </a:pPr>
            <a:r>
              <a:t>30 880</a:t>
            </a:r>
          </a:p>
        </p:txBody>
      </p:sp>
      <p:sp>
        <p:nvSpPr>
          <p:cNvPr id="11" name="TextBox 10"/>
          <p:cNvSpPr txBox="1"/>
          <p:nvPr/>
        </p:nvSpPr>
        <p:spPr>
          <a:xfrm>
            <a:off x="14554200" y="6489700"/>
            <a:ext cx="927100" cy="413385"/>
          </a:xfrm>
          <a:prstGeom prst="rect">
            <a:avLst/>
          </a:prstGeom>
          <a:noFill/>
        </p:spPr>
        <p:txBody>
          <a:bodyPr wrap="none" lIns="0" rIns="0" tIns="0" bIns="0" anchor="t">
            <a:spAutoFit/>
          </a:bodyPr>
          <a:lstStyle/>
          <a:p>
            <a:pPr algn="l">
              <a:lnSpc>
                <a:spcPct val="100000"/>
              </a:lnSpc>
              <a:spcBef>
                <a:spcPts val="0"/>
              </a:spcBef>
              <a:spcAft>
                <a:spcPts val="0"/>
              </a:spcAft>
              <a:defRPr sz="2100" b="1">
                <a:solidFill>
                  <a:srgbClr val="D1D1D1"/>
                </a:solidFill>
                <a:latin typeface="IBM Plex Sans"/>
              </a:defRPr>
            </a:pPr>
            <a:r>
              <a:t>AZN</a:t>
            </a:r>
          </a:p>
        </p:txBody>
      </p:sp>
      <p:cxnSp>
        <p:nvCxnSpPr>
          <p:cNvPr id="12" name="Connector 11"/>
          <p:cNvCxnSpPr/>
          <p:nvPr/>
        </p:nvCxnSpPr>
        <p:spPr>
          <a:xfrm>
            <a:off x="914400" y="4838700"/>
            <a:ext cx="46990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613400" y="4838700"/>
            <a:ext cx="0" cy="120650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3400" y="6045200"/>
            <a:ext cx="50292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642600" y="6045200"/>
            <a:ext cx="0" cy="120650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642600" y="7251700"/>
            <a:ext cx="4686300" cy="0"/>
          </a:xfrm>
          <a:prstGeom prst="line">
            <a:avLst/>
          </a:prstGeom>
          <a:ln w="38100">
            <a:solidFill>
              <a:srgbClr val="FFFFFF"/>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5041900"/>
            <a:ext cx="3822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Start</a:t>
            </a:r>
          </a:p>
        </p:txBody>
      </p:sp>
      <p:sp>
        <p:nvSpPr>
          <p:cNvPr id="18" name="TextBox 17"/>
          <p:cNvSpPr txBox="1"/>
          <p:nvPr/>
        </p:nvSpPr>
        <p:spPr>
          <a:xfrm>
            <a:off x="5956300" y="6248400"/>
            <a:ext cx="4203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Ən yaxşı təklif</a:t>
            </a:r>
          </a:p>
        </p:txBody>
      </p:sp>
      <p:sp>
        <p:nvSpPr>
          <p:cNvPr id="19" name="TextBox 18"/>
          <p:cNvSpPr txBox="1"/>
          <p:nvPr/>
        </p:nvSpPr>
        <p:spPr>
          <a:xfrm>
            <a:off x="10998200" y="7467600"/>
            <a:ext cx="4356100" cy="413385"/>
          </a:xfrm>
          <a:prstGeom prst="rect">
            <a:avLst/>
          </a:prstGeom>
          <a:noFill/>
        </p:spPr>
        <p:txBody>
          <a:bodyPr wrap="none" lIns="0" rIns="0" tIns="0" bIns="0" anchor="t">
            <a:spAutoFit/>
          </a:bodyPr>
          <a:lstStyle/>
          <a:p>
            <a:pPr algn="l">
              <a:lnSpc>
                <a:spcPct val="100000"/>
              </a:lnSpc>
              <a:spcBef>
                <a:spcPts val="0"/>
              </a:spcBef>
              <a:spcAft>
                <a:spcPts val="0"/>
              </a:spcAft>
              <a:defRPr sz="2100" b="0">
                <a:solidFill>
                  <a:srgbClr val="D1D1D1"/>
                </a:solidFill>
                <a:latin typeface="IBM Plex Sans"/>
              </a:defRPr>
            </a:pPr>
            <a:r>
              <a:t>Növbəti maksimum təklif</a:t>
            </a:r>
          </a:p>
        </p:txBody>
      </p:sp>
      <p:sp>
        <p:nvSpPr>
          <p:cNvPr id="20" name="TextBox 19"/>
          <p:cNvSpPr txBox="1"/>
          <p:nvPr/>
        </p:nvSpPr>
        <p:spPr>
          <a:xfrm>
            <a:off x="914400" y="8140700"/>
            <a:ext cx="3695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Minimum addım</a:t>
            </a:r>
          </a:p>
        </p:txBody>
      </p:sp>
      <p:sp>
        <p:nvSpPr>
          <p:cNvPr id="21" name="TextBox 20"/>
          <p:cNvSpPr txBox="1"/>
          <p:nvPr/>
        </p:nvSpPr>
        <p:spPr>
          <a:xfrm>
            <a:off x="5588000" y="8140700"/>
            <a:ext cx="4457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Son saniyədə uzatma</a:t>
            </a:r>
          </a:p>
        </p:txBody>
      </p:sp>
      <p:sp>
        <p:nvSpPr>
          <p:cNvPr id="22" name="TextBox 21"/>
          <p:cNvSpPr txBox="1"/>
          <p:nvPr/>
        </p:nvSpPr>
        <p:spPr>
          <a:xfrm>
            <a:off x="11785600" y="8140700"/>
            <a:ext cx="3568700" cy="433070"/>
          </a:xfrm>
          <a:prstGeom prst="rect">
            <a:avLst/>
          </a:prstGeom>
          <a:noFill/>
        </p:spPr>
        <p:txBody>
          <a:bodyPr wrap="none" lIns="0" rIns="0" tIns="0" bIns="0" anchor="t">
            <a:spAutoFit/>
          </a:bodyPr>
          <a:lstStyle/>
          <a:p>
            <a:pPr algn="r">
              <a:lnSpc>
                <a:spcPct val="100000"/>
              </a:lnSpc>
              <a:spcBef>
                <a:spcPts val="0"/>
              </a:spcBef>
              <a:spcAft>
                <a:spcPts val="0"/>
              </a:spcAft>
              <a:defRPr sz="2200" b="0">
                <a:solidFill>
                  <a:srgbClr val="D1D1D1"/>
                </a:solidFill>
                <a:latin typeface="IBM Plex Sans"/>
              </a:defRPr>
            </a:pPr>
            <a:r>
              <a:t>Şəffaf qaydalar</a:t>
            </a:r>
          </a:p>
        </p:txBody>
      </p:sp>
      <p:sp>
        <p:nvSpPr>
          <p:cNvPr id="23" name="TextBox 22"/>
          <p:cNvSpPr txBox="1"/>
          <p:nvPr/>
        </p:nvSpPr>
        <p:spPr>
          <a:xfrm>
            <a:off x="11506200" y="571500"/>
            <a:ext cx="3848100" cy="295275"/>
          </a:xfrm>
          <a:prstGeom prst="rect">
            <a:avLst/>
          </a:prstGeom>
          <a:noFill/>
        </p:spPr>
        <p:txBody>
          <a:bodyPr wrap="none" lIns="0" rIns="0" tIns="0" bIns="0" anchor="t">
            <a:spAutoFit/>
          </a:bodyPr>
          <a:lstStyle/>
          <a:p>
            <a:pPr algn="r">
              <a:lnSpc>
                <a:spcPct val="100000"/>
              </a:lnSpc>
              <a:spcBef>
                <a:spcPts val="0"/>
              </a:spcBef>
              <a:spcAft>
                <a:spcPts val="0"/>
              </a:spcAft>
              <a:defRPr sz="1500" b="0">
                <a:solidFill>
                  <a:srgbClr val="D1D1D1"/>
                </a:solidFill>
                <a:latin typeface="IBM Plex Sans"/>
              </a:defRPr>
            </a:pPr>
            <a:r>
              <a:t>İllüstrativ nümunə</a:t>
            </a:r>
          </a:p>
        </p:txBody>
      </p:sp>
      <p:sp>
        <p:nvSpPr>
          <p:cNvPr id="24" name="TextBox 23"/>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25" name="TextBox 24"/>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26" name="TextBox 25"/>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RFQ / DEMO NÜMUNƏSİ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SEÇİMİ RƏQƏMLƏRLƏ</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GÖRÜNƏN EDİN.</a:t>
            </a:r>
          </a:p>
        </p:txBody>
      </p:sp>
      <p:sp>
        <p:nvSpPr>
          <p:cNvPr id="6" name="TextBox 5"/>
          <p:cNvSpPr txBox="1"/>
          <p:nvPr/>
        </p:nvSpPr>
        <p:spPr>
          <a:xfrm>
            <a:off x="914400" y="3695700"/>
            <a:ext cx="6362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525252"/>
                </a:solidFill>
                <a:latin typeface="IBM Plex Sans"/>
              </a:defRPr>
            </a:pPr>
            <a:r>
              <a:t>İlkin smeta</a:t>
            </a:r>
          </a:p>
        </p:txBody>
      </p:sp>
      <p:sp>
        <p:nvSpPr>
          <p:cNvPr id="7" name="TextBox 6"/>
          <p:cNvSpPr txBox="1"/>
          <p:nvPr/>
        </p:nvSpPr>
        <p:spPr>
          <a:xfrm>
            <a:off x="914400" y="4102100"/>
            <a:ext cx="7251700" cy="1968500"/>
          </a:xfrm>
          <a:prstGeom prst="rect">
            <a:avLst/>
          </a:prstGeom>
          <a:noFill/>
        </p:spPr>
        <p:txBody>
          <a:bodyPr wrap="none" lIns="0" rIns="0" tIns="0" bIns="0" anchor="t">
            <a:spAutoFit/>
          </a:bodyPr>
          <a:lstStyle/>
          <a:p>
            <a:pPr algn="l">
              <a:lnSpc>
                <a:spcPct val="100000"/>
              </a:lnSpc>
              <a:spcBef>
                <a:spcPts val="0"/>
              </a:spcBef>
              <a:spcAft>
                <a:spcPts val="0"/>
              </a:spcAft>
              <a:defRPr sz="10000" b="1">
                <a:solidFill>
                  <a:srgbClr val="161616"/>
                </a:solidFill>
                <a:latin typeface="Barlow Condensed"/>
              </a:defRPr>
            </a:pPr>
            <a:r>
              <a:t>57 000</a:t>
            </a:r>
          </a:p>
        </p:txBody>
      </p:sp>
      <p:sp>
        <p:nvSpPr>
          <p:cNvPr id="8" name="TextBox 7"/>
          <p:cNvSpPr txBox="1"/>
          <p:nvPr/>
        </p:nvSpPr>
        <p:spPr>
          <a:xfrm>
            <a:off x="5067300" y="4914900"/>
            <a:ext cx="1092200" cy="452755"/>
          </a:xfrm>
          <a:prstGeom prst="rect">
            <a:avLst/>
          </a:prstGeom>
          <a:noFill/>
        </p:spPr>
        <p:txBody>
          <a:bodyPr wrap="none" lIns="0" rIns="0" tIns="0" bIns="0" anchor="t">
            <a:spAutoFit/>
          </a:bodyPr>
          <a:lstStyle/>
          <a:p>
            <a:pPr algn="l">
              <a:lnSpc>
                <a:spcPct val="100000"/>
              </a:lnSpc>
              <a:spcBef>
                <a:spcPts val="0"/>
              </a:spcBef>
              <a:spcAft>
                <a:spcPts val="0"/>
              </a:spcAft>
              <a:defRPr sz="2300" b="1">
                <a:solidFill>
                  <a:srgbClr val="525252"/>
                </a:solidFill>
                <a:latin typeface="IBM Plex Sans"/>
              </a:defRPr>
            </a:pPr>
            <a:r>
              <a:t>AZN</a:t>
            </a:r>
          </a:p>
        </p:txBody>
      </p:sp>
      <p:sp>
        <p:nvSpPr>
          <p:cNvPr id="9" name="Rectangle 8"/>
          <p:cNvSpPr/>
          <p:nvPr/>
        </p:nvSpPr>
        <p:spPr>
          <a:xfrm>
            <a:off x="914400" y="5486400"/>
            <a:ext cx="9144000" cy="127000"/>
          </a:xfrm>
          <a:prstGeom prst="rect">
            <a:avLst/>
          </a:prstGeom>
          <a:solidFill>
            <a:srgbClr val="D1D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943600"/>
            <a:ext cx="6362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525252"/>
                </a:solidFill>
                <a:latin typeface="IBM Plex Sans"/>
              </a:defRPr>
            </a:pPr>
            <a:r>
              <a:t>Seçilən təklif</a:t>
            </a:r>
          </a:p>
        </p:txBody>
      </p:sp>
      <p:sp>
        <p:nvSpPr>
          <p:cNvPr id="11" name="TextBox 10"/>
          <p:cNvSpPr txBox="1"/>
          <p:nvPr/>
        </p:nvSpPr>
        <p:spPr>
          <a:xfrm>
            <a:off x="914400" y="6362700"/>
            <a:ext cx="7251700" cy="1968500"/>
          </a:xfrm>
          <a:prstGeom prst="rect">
            <a:avLst/>
          </a:prstGeom>
          <a:noFill/>
        </p:spPr>
        <p:txBody>
          <a:bodyPr wrap="none" lIns="0" rIns="0" tIns="0" bIns="0" anchor="t">
            <a:spAutoFit/>
          </a:bodyPr>
          <a:lstStyle/>
          <a:p>
            <a:pPr algn="l">
              <a:lnSpc>
                <a:spcPct val="100000"/>
              </a:lnSpc>
              <a:spcBef>
                <a:spcPts val="0"/>
              </a:spcBef>
              <a:spcAft>
                <a:spcPts val="0"/>
              </a:spcAft>
              <a:defRPr sz="10000" b="1">
                <a:solidFill>
                  <a:srgbClr val="161616"/>
                </a:solidFill>
                <a:latin typeface="Barlow Condensed"/>
              </a:defRPr>
            </a:pPr>
            <a:r>
              <a:t>51 500</a:t>
            </a:r>
          </a:p>
        </p:txBody>
      </p:sp>
      <p:sp>
        <p:nvSpPr>
          <p:cNvPr id="12" name="TextBox 11"/>
          <p:cNvSpPr txBox="1"/>
          <p:nvPr/>
        </p:nvSpPr>
        <p:spPr>
          <a:xfrm>
            <a:off x="5067300" y="7175500"/>
            <a:ext cx="1092200" cy="452755"/>
          </a:xfrm>
          <a:prstGeom prst="rect">
            <a:avLst/>
          </a:prstGeom>
          <a:noFill/>
        </p:spPr>
        <p:txBody>
          <a:bodyPr wrap="none" lIns="0" rIns="0" tIns="0" bIns="0" anchor="t">
            <a:spAutoFit/>
          </a:bodyPr>
          <a:lstStyle/>
          <a:p>
            <a:pPr algn="l">
              <a:lnSpc>
                <a:spcPct val="100000"/>
              </a:lnSpc>
              <a:spcBef>
                <a:spcPts val="0"/>
              </a:spcBef>
              <a:spcAft>
                <a:spcPts val="0"/>
              </a:spcAft>
              <a:defRPr sz="2300" b="1">
                <a:solidFill>
                  <a:srgbClr val="525252"/>
                </a:solidFill>
                <a:latin typeface="IBM Plex Sans"/>
              </a:defRPr>
            </a:pPr>
            <a:r>
              <a:t>AZN</a:t>
            </a:r>
          </a:p>
        </p:txBody>
      </p:sp>
      <p:sp>
        <p:nvSpPr>
          <p:cNvPr id="13" name="Rectangle 12"/>
          <p:cNvSpPr/>
          <p:nvPr/>
        </p:nvSpPr>
        <p:spPr>
          <a:xfrm>
            <a:off x="914400" y="7747000"/>
            <a:ext cx="8261684" cy="127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756900" y="3733800"/>
            <a:ext cx="0" cy="414020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480800" y="3975100"/>
            <a:ext cx="3873500" cy="1968500"/>
          </a:xfrm>
          <a:prstGeom prst="rect">
            <a:avLst/>
          </a:prstGeom>
          <a:noFill/>
        </p:spPr>
        <p:txBody>
          <a:bodyPr wrap="none" lIns="0" rIns="0" tIns="0" bIns="0" anchor="t">
            <a:spAutoFit/>
          </a:bodyPr>
          <a:lstStyle/>
          <a:p>
            <a:pPr algn="l">
              <a:lnSpc>
                <a:spcPct val="100000"/>
              </a:lnSpc>
              <a:spcBef>
                <a:spcPts val="0"/>
              </a:spcBef>
              <a:spcAft>
                <a:spcPts val="0"/>
              </a:spcAft>
              <a:defRPr sz="10000" b="1">
                <a:solidFill>
                  <a:srgbClr val="161616"/>
                </a:solidFill>
                <a:latin typeface="Barlow Condensed"/>
              </a:defRPr>
            </a:pPr>
            <a:r>
              <a:t>9,65%</a:t>
            </a:r>
          </a:p>
        </p:txBody>
      </p:sp>
      <p:sp>
        <p:nvSpPr>
          <p:cNvPr id="16" name="TextBox 15"/>
          <p:cNvSpPr txBox="1"/>
          <p:nvPr/>
        </p:nvSpPr>
        <p:spPr>
          <a:xfrm>
            <a:off x="11480800" y="5499100"/>
            <a:ext cx="38735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Smetaya nisbətən fərq</a:t>
            </a:r>
          </a:p>
        </p:txBody>
      </p:sp>
      <p:sp>
        <p:nvSpPr>
          <p:cNvPr id="17" name="TextBox 16"/>
          <p:cNvSpPr txBox="1"/>
          <p:nvPr/>
        </p:nvSpPr>
        <p:spPr>
          <a:xfrm>
            <a:off x="11480800" y="6540500"/>
            <a:ext cx="3873500" cy="1043305"/>
          </a:xfrm>
          <a:prstGeom prst="rect">
            <a:avLst/>
          </a:prstGeom>
          <a:noFill/>
        </p:spPr>
        <p:txBody>
          <a:bodyPr wrap="none" lIns="0" rIns="0" tIns="0" bIns="0" anchor="t">
            <a:spAutoFit/>
          </a:bodyPr>
          <a:lstStyle/>
          <a:p>
            <a:pPr algn="l">
              <a:lnSpc>
                <a:spcPct val="100000"/>
              </a:lnSpc>
              <a:spcBef>
                <a:spcPts val="0"/>
              </a:spcBef>
              <a:spcAft>
                <a:spcPts val="0"/>
              </a:spcAft>
              <a:defRPr sz="5300" b="1">
                <a:solidFill>
                  <a:srgbClr val="161616"/>
                </a:solidFill>
                <a:latin typeface="Barlow Condensed"/>
              </a:defRPr>
            </a:pPr>
            <a:r>
              <a:t>5 500 AZN</a:t>
            </a:r>
          </a:p>
        </p:txBody>
      </p:sp>
      <p:sp>
        <p:nvSpPr>
          <p:cNvPr id="18" name="TextBox 17"/>
          <p:cNvSpPr txBox="1"/>
          <p:nvPr/>
        </p:nvSpPr>
        <p:spPr>
          <a:xfrm>
            <a:off x="914400" y="8140700"/>
            <a:ext cx="14439900" cy="354330"/>
          </a:xfrm>
          <a:prstGeom prst="rect">
            <a:avLst/>
          </a:prstGeom>
          <a:noFill/>
        </p:spPr>
        <p:txBody>
          <a:bodyPr wrap="none" lIns="0" rIns="0" tIns="0" bIns="0" anchor="t">
            <a:spAutoFit/>
          </a:bodyPr>
          <a:lstStyle/>
          <a:p>
            <a:pPr algn="l">
              <a:lnSpc>
                <a:spcPct val="100000"/>
              </a:lnSpc>
              <a:spcBef>
                <a:spcPts val="0"/>
              </a:spcBef>
              <a:spcAft>
                <a:spcPts val="0"/>
              </a:spcAft>
              <a:defRPr sz="1800" b="0">
                <a:solidFill>
                  <a:srgbClr val="525252"/>
                </a:solidFill>
                <a:latin typeface="IBM Plex Sans"/>
              </a:defRPr>
            </a:pPr>
            <a:r>
              <a:t>Demo məlumatları · ƏDV-siz · real müştəri nəticəsi deyil.</a:t>
            </a:r>
          </a:p>
        </p:txBody>
      </p:sp>
      <p:sp>
        <p:nvSpPr>
          <p:cNvPr id="19" name="TextBox 18"/>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0" name="TextBox 19"/>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1" name="TextBox 20"/>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QƏRAR DƏSTƏYİ</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AI TÖVSİYƏSİ.</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QƏRAR SİZDƏDİR.</a:t>
            </a:r>
          </a:p>
        </p:txBody>
      </p:sp>
      <p:sp>
        <p:nvSpPr>
          <p:cNvPr id="6" name="Oval 5"/>
          <p:cNvSpPr/>
          <p:nvPr/>
        </p:nvSpPr>
        <p:spPr>
          <a:xfrm>
            <a:off x="927100" y="4089400"/>
            <a:ext cx="177800" cy="177800"/>
          </a:xfrm>
          <a:prstGeom prst="ellipse">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46200" y="3975100"/>
            <a:ext cx="4330700" cy="570865"/>
          </a:xfrm>
          <a:prstGeom prst="rect">
            <a:avLst/>
          </a:prstGeom>
          <a:noFill/>
        </p:spPr>
        <p:txBody>
          <a:bodyPr wrap="none" lIns="0" rIns="0" tIns="0" bIns="0" anchor="t">
            <a:spAutoFit/>
          </a:bodyPr>
          <a:lstStyle/>
          <a:p>
            <a:pPr algn="l">
              <a:lnSpc>
                <a:spcPct val="100000"/>
              </a:lnSpc>
              <a:spcBef>
                <a:spcPts val="0"/>
              </a:spcBef>
              <a:spcAft>
                <a:spcPts val="0"/>
              </a:spcAft>
              <a:defRPr sz="2900" b="1">
                <a:solidFill>
                  <a:srgbClr val="FFFFFF"/>
                </a:solidFill>
                <a:latin typeface="IBM Plex Sans"/>
              </a:defRPr>
            </a:pPr>
            <a:r>
              <a:t>Qiymət</a:t>
            </a:r>
          </a:p>
        </p:txBody>
      </p:sp>
      <p:cxnSp>
        <p:nvCxnSpPr>
          <p:cNvPr id="8" name="Connector 7"/>
          <p:cNvCxnSpPr/>
          <p:nvPr/>
        </p:nvCxnSpPr>
        <p:spPr>
          <a:xfrm>
            <a:off x="5461000" y="4241800"/>
            <a:ext cx="1397000" cy="13208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27100" y="5651500"/>
            <a:ext cx="177800" cy="177800"/>
          </a:xfrm>
          <a:prstGeom prst="ellipse">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6200" y="5537200"/>
            <a:ext cx="4330700" cy="570865"/>
          </a:xfrm>
          <a:prstGeom prst="rect">
            <a:avLst/>
          </a:prstGeom>
          <a:noFill/>
        </p:spPr>
        <p:txBody>
          <a:bodyPr wrap="none" lIns="0" rIns="0" tIns="0" bIns="0" anchor="t">
            <a:spAutoFit/>
          </a:bodyPr>
          <a:lstStyle/>
          <a:p>
            <a:pPr algn="l">
              <a:lnSpc>
                <a:spcPct val="100000"/>
              </a:lnSpc>
              <a:spcBef>
                <a:spcPts val="0"/>
              </a:spcBef>
              <a:spcAft>
                <a:spcPts val="0"/>
              </a:spcAft>
              <a:defRPr sz="2900" b="1">
                <a:solidFill>
                  <a:srgbClr val="FFFFFF"/>
                </a:solidFill>
                <a:latin typeface="IBM Plex Sans"/>
              </a:defRPr>
            </a:pPr>
            <a:r>
              <a:t>Çatdırılma müddəti</a:t>
            </a:r>
          </a:p>
        </p:txBody>
      </p:sp>
      <p:cxnSp>
        <p:nvCxnSpPr>
          <p:cNvPr id="11" name="Connector 10"/>
          <p:cNvCxnSpPr/>
          <p:nvPr/>
        </p:nvCxnSpPr>
        <p:spPr>
          <a:xfrm flipV="1">
            <a:off x="5461000" y="5562600"/>
            <a:ext cx="1397000" cy="2413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27100" y="7213600"/>
            <a:ext cx="177800" cy="177800"/>
          </a:xfrm>
          <a:prstGeom prst="ellipse">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6200" y="7099300"/>
            <a:ext cx="4330700" cy="570865"/>
          </a:xfrm>
          <a:prstGeom prst="rect">
            <a:avLst/>
          </a:prstGeom>
          <a:noFill/>
        </p:spPr>
        <p:txBody>
          <a:bodyPr wrap="none" lIns="0" rIns="0" tIns="0" bIns="0" anchor="t">
            <a:spAutoFit/>
          </a:bodyPr>
          <a:lstStyle/>
          <a:p>
            <a:pPr algn="l">
              <a:lnSpc>
                <a:spcPct val="100000"/>
              </a:lnSpc>
              <a:spcBef>
                <a:spcPts val="0"/>
              </a:spcBef>
              <a:spcAft>
                <a:spcPts val="0"/>
              </a:spcAft>
              <a:defRPr sz="2900" b="1">
                <a:solidFill>
                  <a:srgbClr val="FFFFFF"/>
                </a:solidFill>
                <a:latin typeface="IBM Plex Sans"/>
              </a:defRPr>
            </a:pPr>
            <a:r>
              <a:t>Performans tarixçəsi</a:t>
            </a:r>
          </a:p>
        </p:txBody>
      </p:sp>
      <p:cxnSp>
        <p:nvCxnSpPr>
          <p:cNvPr id="14" name="Connector 13"/>
          <p:cNvCxnSpPr/>
          <p:nvPr/>
        </p:nvCxnSpPr>
        <p:spPr>
          <a:xfrm flipV="1">
            <a:off x="5461000" y="5562600"/>
            <a:ext cx="1397000" cy="18034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5562600"/>
            <a:ext cx="8255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570851" y="55626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7570851" y="55039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835900" y="4241800"/>
            <a:ext cx="2641600" cy="2641600"/>
          </a:xfrm>
          <a:prstGeom prst="ellipse">
            <a:avLst/>
          </a:prstGeom>
          <a:no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2600" y="4991100"/>
            <a:ext cx="2146300" cy="629920"/>
          </a:xfrm>
          <a:prstGeom prst="rect">
            <a:avLst/>
          </a:prstGeom>
          <a:noFill/>
        </p:spPr>
        <p:txBody>
          <a:bodyPr wrap="none" lIns="0" rIns="0" tIns="0" bIns="0" anchor="t">
            <a:spAutoFit/>
          </a:bodyPr>
          <a:lstStyle/>
          <a:p>
            <a:pPr algn="ctr">
              <a:lnSpc>
                <a:spcPct val="100000"/>
              </a:lnSpc>
              <a:spcBef>
                <a:spcPts val="0"/>
              </a:spcBef>
              <a:spcAft>
                <a:spcPts val="0"/>
              </a:spcAft>
              <a:defRPr sz="3200" b="1">
                <a:solidFill>
                  <a:srgbClr val="FFFFFF"/>
                </a:solidFill>
                <a:latin typeface="Barlow Condensed"/>
              </a:defRPr>
            </a:pPr>
            <a:r>
              <a:t>İzah edilən</a:t>
            </a:r>
          </a:p>
        </p:txBody>
      </p:sp>
      <p:sp>
        <p:nvSpPr>
          <p:cNvPr id="20" name="TextBox 19"/>
          <p:cNvSpPr txBox="1"/>
          <p:nvPr/>
        </p:nvSpPr>
        <p:spPr>
          <a:xfrm>
            <a:off x="8102600" y="5478780"/>
            <a:ext cx="2146300" cy="629920"/>
          </a:xfrm>
          <a:prstGeom prst="rect">
            <a:avLst/>
          </a:prstGeom>
          <a:noFill/>
        </p:spPr>
        <p:txBody>
          <a:bodyPr wrap="none" lIns="0" rIns="0" tIns="0" bIns="0" anchor="t">
            <a:spAutoFit/>
          </a:bodyPr>
          <a:lstStyle/>
          <a:p>
            <a:pPr algn="ctr">
              <a:lnSpc>
                <a:spcPct val="100000"/>
              </a:lnSpc>
              <a:spcBef>
                <a:spcPts val="0"/>
              </a:spcBef>
              <a:spcAft>
                <a:spcPts val="0"/>
              </a:spcAft>
              <a:defRPr sz="3200" b="1">
                <a:solidFill>
                  <a:srgbClr val="FFFFFF"/>
                </a:solidFill>
                <a:latin typeface="Barlow Condensed"/>
              </a:defRPr>
            </a:pPr>
            <a:r>
              <a:t>tövsiyə</a:t>
            </a:r>
          </a:p>
        </p:txBody>
      </p:sp>
      <p:cxnSp>
        <p:nvCxnSpPr>
          <p:cNvPr id="21" name="Connector 20"/>
          <p:cNvCxnSpPr/>
          <p:nvPr/>
        </p:nvCxnSpPr>
        <p:spPr>
          <a:xfrm>
            <a:off x="10680700" y="5562600"/>
            <a:ext cx="13589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1926951" y="55626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1926951" y="55039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3028294" y="4559300"/>
            <a:ext cx="613410" cy="613410"/>
          </a:xfrm>
          <a:prstGeom prst="ellipse">
            <a:avLst/>
          </a:prstGeom>
          <a:noFill/>
          <a:ln w="317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V="1">
            <a:off x="12734925" y="5612765"/>
            <a:ext cx="0" cy="30670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2734925" y="5386070"/>
            <a:ext cx="306705" cy="22669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041630" y="5386070"/>
            <a:ext cx="586739" cy="0"/>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628369" y="5386070"/>
            <a:ext cx="306706" cy="22669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935075" y="5612765"/>
            <a:ext cx="0" cy="30670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734925" y="5919470"/>
            <a:ext cx="1200150" cy="0"/>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950700" y="6527800"/>
            <a:ext cx="2781300" cy="688975"/>
          </a:xfrm>
          <a:prstGeom prst="rect">
            <a:avLst/>
          </a:prstGeom>
          <a:noFill/>
        </p:spPr>
        <p:txBody>
          <a:bodyPr wrap="none" lIns="0" rIns="0" tIns="0" bIns="0" anchor="t">
            <a:spAutoFit/>
          </a:bodyPr>
          <a:lstStyle/>
          <a:p>
            <a:pPr algn="ctr">
              <a:lnSpc>
                <a:spcPct val="100000"/>
              </a:lnSpc>
              <a:spcBef>
                <a:spcPts val="0"/>
              </a:spcBef>
              <a:spcAft>
                <a:spcPts val="0"/>
              </a:spcAft>
              <a:defRPr sz="3500" b="1">
                <a:solidFill>
                  <a:srgbClr val="FFFFFF"/>
                </a:solidFill>
                <a:latin typeface="Barlow Condensed"/>
              </a:defRPr>
            </a:pPr>
            <a:r>
              <a:t>Alıcının</a:t>
            </a:r>
          </a:p>
        </p:txBody>
      </p:sp>
      <p:sp>
        <p:nvSpPr>
          <p:cNvPr id="32" name="TextBox 31"/>
          <p:cNvSpPr txBox="1"/>
          <p:nvPr/>
        </p:nvSpPr>
        <p:spPr>
          <a:xfrm>
            <a:off x="11950700" y="7061200"/>
            <a:ext cx="2781300" cy="688975"/>
          </a:xfrm>
          <a:prstGeom prst="rect">
            <a:avLst/>
          </a:prstGeom>
          <a:noFill/>
        </p:spPr>
        <p:txBody>
          <a:bodyPr wrap="none" lIns="0" rIns="0" tIns="0" bIns="0" anchor="t">
            <a:spAutoFit/>
          </a:bodyPr>
          <a:lstStyle/>
          <a:p>
            <a:pPr algn="ctr">
              <a:lnSpc>
                <a:spcPct val="100000"/>
              </a:lnSpc>
              <a:spcBef>
                <a:spcPts val="0"/>
              </a:spcBef>
              <a:spcAft>
                <a:spcPts val="0"/>
              </a:spcAft>
              <a:defRPr sz="3500" b="1">
                <a:solidFill>
                  <a:srgbClr val="FFFFFF"/>
                </a:solidFill>
                <a:latin typeface="Barlow Condensed"/>
              </a:defRPr>
            </a:pPr>
            <a:r>
              <a:t>qərarı</a:t>
            </a:r>
          </a:p>
        </p:txBody>
      </p:sp>
      <p:sp>
        <p:nvSpPr>
          <p:cNvPr id="33" name="TextBox 32"/>
          <p:cNvSpPr txBox="1"/>
          <p:nvPr/>
        </p:nvSpPr>
        <p:spPr>
          <a:xfrm>
            <a:off x="914400" y="7937500"/>
            <a:ext cx="13982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Formal qiymətləndirməni dəstəkləyir; onu əvəz etmir.</a:t>
            </a:r>
          </a:p>
        </p:txBody>
      </p:sp>
      <p:sp>
        <p:nvSpPr>
          <p:cNvPr id="34" name="TextBox 33"/>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35" name="TextBox 34"/>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36" name="TextBox 35"/>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İCRA NƏZARƏTİ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SEÇİMDƏN İCRAYA —</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ŞƏRTLƏR İZLƏNİR.</a:t>
            </a:r>
          </a:p>
        </p:txBody>
      </p:sp>
      <p:sp>
        <p:nvSpPr>
          <p:cNvPr id="6" name="TextBox 5"/>
          <p:cNvSpPr txBox="1"/>
          <p:nvPr/>
        </p:nvSpPr>
        <p:spPr>
          <a:xfrm>
            <a:off x="9144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01</a:t>
            </a:r>
          </a:p>
        </p:txBody>
      </p:sp>
      <p:sp>
        <p:nvSpPr>
          <p:cNvPr id="7" name="TextBox 6"/>
          <p:cNvSpPr txBox="1"/>
          <p:nvPr/>
        </p:nvSpPr>
        <p:spPr>
          <a:xfrm>
            <a:off x="9144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Müqavilə</a:t>
            </a:r>
          </a:p>
        </p:txBody>
      </p:sp>
      <p:cxnSp>
        <p:nvCxnSpPr>
          <p:cNvPr id="8" name="Connector 7"/>
          <p:cNvCxnSpPr/>
          <p:nvPr/>
        </p:nvCxnSpPr>
        <p:spPr>
          <a:xfrm>
            <a:off x="2895600" y="4495800"/>
            <a:ext cx="13716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154551" y="44958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154551" y="44371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133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02</a:t>
            </a:r>
          </a:p>
        </p:txBody>
      </p:sp>
      <p:sp>
        <p:nvSpPr>
          <p:cNvPr id="12" name="TextBox 11"/>
          <p:cNvSpPr txBox="1"/>
          <p:nvPr/>
        </p:nvSpPr>
        <p:spPr>
          <a:xfrm>
            <a:off x="48133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Sifariş</a:t>
            </a:r>
          </a:p>
        </p:txBody>
      </p:sp>
      <p:cxnSp>
        <p:nvCxnSpPr>
          <p:cNvPr id="13" name="Connector 12"/>
          <p:cNvCxnSpPr/>
          <p:nvPr/>
        </p:nvCxnSpPr>
        <p:spPr>
          <a:xfrm>
            <a:off x="6794500" y="4495800"/>
            <a:ext cx="13716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053451" y="44958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8053451" y="44371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122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03</a:t>
            </a:r>
          </a:p>
        </p:txBody>
      </p:sp>
      <p:sp>
        <p:nvSpPr>
          <p:cNvPr id="17" name="TextBox 16"/>
          <p:cNvSpPr txBox="1"/>
          <p:nvPr/>
        </p:nvSpPr>
        <p:spPr>
          <a:xfrm>
            <a:off x="87122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Çatdırılma</a:t>
            </a:r>
          </a:p>
        </p:txBody>
      </p:sp>
      <p:cxnSp>
        <p:nvCxnSpPr>
          <p:cNvPr id="18" name="Connector 17"/>
          <p:cNvCxnSpPr/>
          <p:nvPr/>
        </p:nvCxnSpPr>
        <p:spPr>
          <a:xfrm>
            <a:off x="10693400" y="4495800"/>
            <a:ext cx="13716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952351" y="44958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1952351" y="44371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6111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04</a:t>
            </a:r>
          </a:p>
        </p:txBody>
      </p:sp>
      <p:sp>
        <p:nvSpPr>
          <p:cNvPr id="22" name="TextBox 21"/>
          <p:cNvSpPr txBox="1"/>
          <p:nvPr/>
        </p:nvSpPr>
        <p:spPr>
          <a:xfrm>
            <a:off x="126111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Qəbul</a:t>
            </a:r>
          </a:p>
        </p:txBody>
      </p:sp>
      <p:cxnSp>
        <p:nvCxnSpPr>
          <p:cNvPr id="23" name="Connector 22"/>
          <p:cNvCxnSpPr/>
          <p:nvPr/>
        </p:nvCxnSpPr>
        <p:spPr>
          <a:xfrm>
            <a:off x="5727700" y="6121400"/>
            <a:ext cx="0" cy="77470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27700" y="6896100"/>
            <a:ext cx="21082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723251" y="68961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723251" y="68374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40700" y="6477000"/>
            <a:ext cx="28321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Dəyişiklik</a:t>
            </a:r>
          </a:p>
        </p:txBody>
      </p:sp>
      <p:sp>
        <p:nvSpPr>
          <p:cNvPr id="28" name="TextBox 27"/>
          <p:cNvSpPr txBox="1"/>
          <p:nvPr/>
        </p:nvSpPr>
        <p:spPr>
          <a:xfrm>
            <a:off x="8140700" y="6903720"/>
            <a:ext cx="28321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təklifi</a:t>
            </a:r>
          </a:p>
        </p:txBody>
      </p:sp>
      <p:cxnSp>
        <p:nvCxnSpPr>
          <p:cNvPr id="29" name="Connector 28"/>
          <p:cNvCxnSpPr/>
          <p:nvPr/>
        </p:nvCxnSpPr>
        <p:spPr>
          <a:xfrm>
            <a:off x="10629900" y="6896100"/>
            <a:ext cx="9398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1457051" y="68961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1457051" y="68374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874500" y="6477000"/>
            <a:ext cx="33782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Təchizatçının</a:t>
            </a:r>
          </a:p>
        </p:txBody>
      </p:sp>
      <p:sp>
        <p:nvSpPr>
          <p:cNvPr id="33" name="TextBox 32"/>
          <p:cNvSpPr txBox="1"/>
          <p:nvPr/>
        </p:nvSpPr>
        <p:spPr>
          <a:xfrm>
            <a:off x="11874500" y="6903720"/>
            <a:ext cx="33782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razılığı</a:t>
            </a:r>
          </a:p>
        </p:txBody>
      </p:sp>
      <p:sp>
        <p:nvSpPr>
          <p:cNvPr id="34" name="TextBox 33"/>
          <p:cNvSpPr txBox="1"/>
          <p:nvPr/>
        </p:nvSpPr>
        <p:spPr>
          <a:xfrm>
            <a:off x="914400" y="7835900"/>
            <a:ext cx="144399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Sifariş şərtləri yalnız razılıqdan sonra yenilənir.</a:t>
            </a:r>
          </a:p>
        </p:txBody>
      </p:sp>
      <p:sp>
        <p:nvSpPr>
          <p:cNvPr id="35" name="TextBox 34"/>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36" name="TextBox 35"/>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37" name="TextBox 36"/>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QAİMƏ NƏZARƏTİ</a:t>
            </a:r>
          </a:p>
        </p:txBody>
      </p:sp>
      <p:sp>
        <p:nvSpPr>
          <p:cNvPr id="4" name="TextBox 3"/>
          <p:cNvSpPr txBox="1"/>
          <p:nvPr/>
        </p:nvSpPr>
        <p:spPr>
          <a:xfrm>
            <a:off x="914400" y="1155700"/>
            <a:ext cx="6007100" cy="1377950"/>
          </a:xfrm>
          <a:prstGeom prst="rect">
            <a:avLst/>
          </a:prstGeom>
          <a:noFill/>
        </p:spPr>
        <p:txBody>
          <a:bodyPr wrap="none" lIns="0" rIns="0" tIns="0" bIns="0" anchor="t">
            <a:spAutoFit/>
          </a:bodyPr>
          <a:lstStyle/>
          <a:p>
            <a:pPr algn="l">
              <a:lnSpc>
                <a:spcPct val="100000"/>
              </a:lnSpc>
              <a:spcBef>
                <a:spcPts val="0"/>
              </a:spcBef>
              <a:spcAft>
                <a:spcPts val="0"/>
              </a:spcAft>
              <a:defRPr sz="7000" b="1">
                <a:solidFill>
                  <a:srgbClr val="FFFFFF"/>
                </a:solidFill>
                <a:latin typeface="Barlow Condensed"/>
              </a:defRPr>
            </a:pPr>
            <a:r>
              <a:t>ÜÇ SƏNƏD.</a:t>
            </a:r>
          </a:p>
        </p:txBody>
      </p:sp>
      <p:sp>
        <p:nvSpPr>
          <p:cNvPr id="5" name="TextBox 4"/>
          <p:cNvSpPr txBox="1"/>
          <p:nvPr/>
        </p:nvSpPr>
        <p:spPr>
          <a:xfrm>
            <a:off x="914400" y="2062480"/>
            <a:ext cx="6007100" cy="1377950"/>
          </a:xfrm>
          <a:prstGeom prst="rect">
            <a:avLst/>
          </a:prstGeom>
          <a:noFill/>
        </p:spPr>
        <p:txBody>
          <a:bodyPr wrap="none" lIns="0" rIns="0" tIns="0" bIns="0" anchor="t">
            <a:spAutoFit/>
          </a:bodyPr>
          <a:lstStyle/>
          <a:p>
            <a:pPr algn="l">
              <a:lnSpc>
                <a:spcPct val="100000"/>
              </a:lnSpc>
              <a:spcBef>
                <a:spcPts val="0"/>
              </a:spcBef>
              <a:spcAft>
                <a:spcPts val="0"/>
              </a:spcAft>
              <a:defRPr sz="7000" b="1">
                <a:solidFill>
                  <a:srgbClr val="FFFFFF"/>
                </a:solidFill>
                <a:latin typeface="Barlow Condensed"/>
              </a:defRPr>
            </a:pPr>
            <a:r>
              <a:t>BİR UYĞUNLUQ</a:t>
            </a:r>
          </a:p>
        </p:txBody>
      </p:sp>
      <p:sp>
        <p:nvSpPr>
          <p:cNvPr id="6" name="TextBox 5"/>
          <p:cNvSpPr txBox="1"/>
          <p:nvPr/>
        </p:nvSpPr>
        <p:spPr>
          <a:xfrm>
            <a:off x="914400" y="2969260"/>
            <a:ext cx="6007100" cy="1377950"/>
          </a:xfrm>
          <a:prstGeom prst="rect">
            <a:avLst/>
          </a:prstGeom>
          <a:noFill/>
        </p:spPr>
        <p:txBody>
          <a:bodyPr wrap="none" lIns="0" rIns="0" tIns="0" bIns="0" anchor="t">
            <a:spAutoFit/>
          </a:bodyPr>
          <a:lstStyle/>
          <a:p>
            <a:pPr algn="l">
              <a:lnSpc>
                <a:spcPct val="100000"/>
              </a:lnSpc>
              <a:spcBef>
                <a:spcPts val="0"/>
              </a:spcBef>
              <a:spcAft>
                <a:spcPts val="0"/>
              </a:spcAft>
              <a:defRPr sz="7000" b="1">
                <a:solidFill>
                  <a:srgbClr val="FFFFFF"/>
                </a:solidFill>
                <a:latin typeface="Barlow Condensed"/>
              </a:defRPr>
            </a:pPr>
            <a:r>
              <a:t>YOXLAMASI.</a:t>
            </a:r>
          </a:p>
        </p:txBody>
      </p:sp>
      <p:sp>
        <p:nvSpPr>
          <p:cNvPr id="7" name="TextBox 6"/>
          <p:cNvSpPr txBox="1"/>
          <p:nvPr/>
        </p:nvSpPr>
        <p:spPr>
          <a:xfrm>
            <a:off x="914400" y="5118100"/>
            <a:ext cx="4965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D1D1D1"/>
                </a:solidFill>
                <a:latin typeface="IBM Plex Sans"/>
              </a:defRPr>
            </a:pPr>
            <a:r>
              <a:t>Qiymət və miqdar</a:t>
            </a:r>
          </a:p>
        </p:txBody>
      </p:sp>
      <p:sp>
        <p:nvSpPr>
          <p:cNvPr id="8" name="TextBox 7"/>
          <p:cNvSpPr txBox="1"/>
          <p:nvPr/>
        </p:nvSpPr>
        <p:spPr>
          <a:xfrm>
            <a:off x="914400" y="5581015"/>
            <a:ext cx="4965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D1D1D1"/>
                </a:solidFill>
                <a:latin typeface="IBM Plex Sans"/>
              </a:defRPr>
            </a:pPr>
            <a:r>
              <a:t>fərqləri görünür.</a:t>
            </a:r>
          </a:p>
        </p:txBody>
      </p:sp>
      <p:sp>
        <p:nvSpPr>
          <p:cNvPr id="9" name="TextBox 8"/>
          <p:cNvSpPr txBox="1"/>
          <p:nvPr/>
        </p:nvSpPr>
        <p:spPr>
          <a:xfrm>
            <a:off x="914400" y="6908800"/>
            <a:ext cx="4965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İstisna təsdiqi</a:t>
            </a:r>
          </a:p>
        </p:txBody>
      </p:sp>
      <p:sp>
        <p:nvSpPr>
          <p:cNvPr id="10" name="TextBox 9"/>
          <p:cNvSpPr txBox="1"/>
          <p:nvPr/>
        </p:nvSpPr>
        <p:spPr>
          <a:xfrm>
            <a:off x="914400" y="7337425"/>
            <a:ext cx="4965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əsaslandırılır.</a:t>
            </a:r>
          </a:p>
        </p:txBody>
      </p:sp>
      <p:cxnSp>
        <p:nvCxnSpPr>
          <p:cNvPr id="11" name="Connector 10"/>
          <p:cNvCxnSpPr/>
          <p:nvPr/>
        </p:nvCxnSpPr>
        <p:spPr>
          <a:xfrm flipH="1">
            <a:off x="8293100" y="3479800"/>
            <a:ext cx="2794000" cy="351790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087100" y="3479800"/>
            <a:ext cx="2794000" cy="351790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93100" y="6997700"/>
            <a:ext cx="55880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972800" y="33655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78800" y="68834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766800" y="68834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99600" y="2590800"/>
            <a:ext cx="3187700" cy="826770"/>
          </a:xfrm>
          <a:prstGeom prst="rect">
            <a:avLst/>
          </a:prstGeom>
          <a:noFill/>
        </p:spPr>
        <p:txBody>
          <a:bodyPr wrap="none" lIns="0" rIns="0" tIns="0" bIns="0" anchor="t">
            <a:spAutoFit/>
          </a:bodyPr>
          <a:lstStyle/>
          <a:p>
            <a:pPr algn="ctr">
              <a:lnSpc>
                <a:spcPct val="100000"/>
              </a:lnSpc>
              <a:spcBef>
                <a:spcPts val="0"/>
              </a:spcBef>
              <a:spcAft>
                <a:spcPts val="0"/>
              </a:spcAft>
              <a:defRPr sz="4200" b="1">
                <a:solidFill>
                  <a:srgbClr val="FFFFFF"/>
                </a:solidFill>
                <a:latin typeface="Barlow Condensed"/>
              </a:defRPr>
            </a:pPr>
            <a:r>
              <a:t>QAİMƏ</a:t>
            </a:r>
          </a:p>
        </p:txBody>
      </p:sp>
      <p:sp>
        <p:nvSpPr>
          <p:cNvPr id="18" name="TextBox 17"/>
          <p:cNvSpPr txBox="1"/>
          <p:nvPr/>
        </p:nvSpPr>
        <p:spPr>
          <a:xfrm>
            <a:off x="6959600" y="7442200"/>
            <a:ext cx="2679700" cy="728345"/>
          </a:xfrm>
          <a:prstGeom prst="rect">
            <a:avLst/>
          </a:prstGeom>
          <a:noFill/>
        </p:spPr>
        <p:txBody>
          <a:bodyPr wrap="none" lIns="0" rIns="0" tIns="0" bIns="0" anchor="t">
            <a:spAutoFit/>
          </a:bodyPr>
          <a:lstStyle/>
          <a:p>
            <a:pPr algn="ctr">
              <a:lnSpc>
                <a:spcPct val="100000"/>
              </a:lnSpc>
              <a:spcBef>
                <a:spcPts val="0"/>
              </a:spcBef>
              <a:spcAft>
                <a:spcPts val="0"/>
              </a:spcAft>
              <a:defRPr sz="3700" b="1">
                <a:solidFill>
                  <a:srgbClr val="FFFFFF"/>
                </a:solidFill>
                <a:latin typeface="Barlow Condensed"/>
              </a:defRPr>
            </a:pPr>
            <a:r>
              <a:t>SİFARİŞ</a:t>
            </a:r>
          </a:p>
        </p:txBody>
      </p:sp>
      <p:sp>
        <p:nvSpPr>
          <p:cNvPr id="19" name="TextBox 18"/>
          <p:cNvSpPr txBox="1"/>
          <p:nvPr/>
        </p:nvSpPr>
        <p:spPr>
          <a:xfrm>
            <a:off x="12293600" y="7442200"/>
            <a:ext cx="3060700" cy="728345"/>
          </a:xfrm>
          <a:prstGeom prst="rect">
            <a:avLst/>
          </a:prstGeom>
          <a:noFill/>
        </p:spPr>
        <p:txBody>
          <a:bodyPr wrap="none" lIns="0" rIns="0" tIns="0" bIns="0" anchor="t">
            <a:spAutoFit/>
          </a:bodyPr>
          <a:lstStyle/>
          <a:p>
            <a:pPr algn="ctr">
              <a:lnSpc>
                <a:spcPct val="100000"/>
              </a:lnSpc>
              <a:spcBef>
                <a:spcPts val="0"/>
              </a:spcBef>
              <a:spcAft>
                <a:spcPts val="0"/>
              </a:spcAft>
              <a:defRPr sz="3700" b="1">
                <a:solidFill>
                  <a:srgbClr val="FFFFFF"/>
                </a:solidFill>
                <a:latin typeface="Barlow Condensed"/>
              </a:defRPr>
            </a:pPr>
            <a:r>
              <a:t>FAKTİKİ QƏBUL</a:t>
            </a:r>
          </a:p>
        </p:txBody>
      </p:sp>
      <p:sp>
        <p:nvSpPr>
          <p:cNvPr id="20" name="TextBox 19"/>
          <p:cNvSpPr txBox="1"/>
          <p:nvPr/>
        </p:nvSpPr>
        <p:spPr>
          <a:xfrm>
            <a:off x="9372600" y="5308600"/>
            <a:ext cx="3441700" cy="846455"/>
          </a:xfrm>
          <a:prstGeom prst="rect">
            <a:avLst/>
          </a:prstGeom>
          <a:noFill/>
        </p:spPr>
        <p:txBody>
          <a:bodyPr wrap="none" lIns="0" rIns="0" tIns="0" bIns="0" anchor="t">
            <a:spAutoFit/>
          </a:bodyPr>
          <a:lstStyle/>
          <a:p>
            <a:pPr algn="ctr">
              <a:lnSpc>
                <a:spcPct val="100000"/>
              </a:lnSpc>
              <a:spcBef>
                <a:spcPts val="0"/>
              </a:spcBef>
              <a:spcAft>
                <a:spcPts val="0"/>
              </a:spcAft>
              <a:defRPr sz="4300" b="1">
                <a:solidFill>
                  <a:srgbClr val="FFFFFF"/>
                </a:solidFill>
                <a:latin typeface="Barlow Condensed"/>
              </a:defRPr>
            </a:pPr>
            <a:r>
              <a:t>Uyğunluq</a:t>
            </a:r>
          </a:p>
        </p:txBody>
      </p:sp>
      <p:sp>
        <p:nvSpPr>
          <p:cNvPr id="21" name="TextBox 20"/>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22" name="TextBox 21"/>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23" name="TextBox 22"/>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MALİYYƏ BAXIŞI</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BÜDCƏ ÖHDƏLİYİ.</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FAKTİKİ XƏRC.</a:t>
            </a:r>
          </a:p>
        </p:txBody>
      </p:sp>
      <p:cxnSp>
        <p:nvCxnSpPr>
          <p:cNvPr id="6" name="Connector 5"/>
          <p:cNvCxnSpPr/>
          <p:nvPr/>
        </p:nvCxnSpPr>
        <p:spPr>
          <a:xfrm>
            <a:off x="8115300" y="3581400"/>
            <a:ext cx="0" cy="355600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632200"/>
            <a:ext cx="2298700" cy="2440940"/>
          </a:xfrm>
          <a:prstGeom prst="rect">
            <a:avLst/>
          </a:prstGeom>
          <a:noFill/>
        </p:spPr>
        <p:txBody>
          <a:bodyPr wrap="none" lIns="0" rIns="0" tIns="0" bIns="0" anchor="t">
            <a:spAutoFit/>
          </a:bodyPr>
          <a:lstStyle/>
          <a:p>
            <a:pPr algn="l">
              <a:lnSpc>
                <a:spcPct val="100000"/>
              </a:lnSpc>
              <a:spcBef>
                <a:spcPts val="0"/>
              </a:spcBef>
              <a:spcAft>
                <a:spcPts val="0"/>
              </a:spcAft>
              <a:defRPr sz="12400" b="1">
                <a:solidFill>
                  <a:srgbClr val="B5B5B5"/>
                </a:solidFill>
                <a:latin typeface="Barlow Condensed"/>
              </a:defRPr>
            </a:pPr>
            <a:r>
              <a:t>01</a:t>
            </a:r>
          </a:p>
        </p:txBody>
      </p:sp>
      <p:sp>
        <p:nvSpPr>
          <p:cNvPr id="8" name="TextBox 7"/>
          <p:cNvSpPr txBox="1"/>
          <p:nvPr/>
        </p:nvSpPr>
        <p:spPr>
          <a:xfrm>
            <a:off x="3111500" y="4191000"/>
            <a:ext cx="40259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161616"/>
                </a:solidFill>
                <a:latin typeface="Barlow Condensed"/>
              </a:defRPr>
            </a:pPr>
            <a:r>
              <a:t>Təsdiqlənmiş tələb</a:t>
            </a:r>
          </a:p>
        </p:txBody>
      </p:sp>
      <p:cxnSp>
        <p:nvCxnSpPr>
          <p:cNvPr id="9" name="Connector 8"/>
          <p:cNvCxnSpPr/>
          <p:nvPr/>
        </p:nvCxnSpPr>
        <p:spPr>
          <a:xfrm>
            <a:off x="4089400" y="5384800"/>
            <a:ext cx="0" cy="53340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030754" y="5805551"/>
            <a:ext cx="58646"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089400" y="5805551"/>
            <a:ext cx="58645"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111500" y="6248400"/>
            <a:ext cx="4025900" cy="688975"/>
          </a:xfrm>
          <a:prstGeom prst="rect">
            <a:avLst/>
          </a:prstGeom>
          <a:noFill/>
        </p:spPr>
        <p:txBody>
          <a:bodyPr wrap="none" lIns="0" rIns="0" tIns="0" bIns="0" anchor="t">
            <a:spAutoFit/>
          </a:bodyPr>
          <a:lstStyle/>
          <a:p>
            <a:pPr algn="l">
              <a:lnSpc>
                <a:spcPct val="100000"/>
              </a:lnSpc>
              <a:spcBef>
                <a:spcPts val="0"/>
              </a:spcBef>
              <a:spcAft>
                <a:spcPts val="0"/>
              </a:spcAft>
              <a:defRPr sz="3500" b="1">
                <a:solidFill>
                  <a:srgbClr val="161616"/>
                </a:solidFill>
                <a:latin typeface="Barlow Condensed"/>
              </a:defRPr>
            </a:pPr>
            <a:r>
              <a:t>Büdcə öhdəliyi</a:t>
            </a:r>
          </a:p>
        </p:txBody>
      </p:sp>
      <p:sp>
        <p:nvSpPr>
          <p:cNvPr id="13" name="TextBox 12"/>
          <p:cNvSpPr txBox="1"/>
          <p:nvPr/>
        </p:nvSpPr>
        <p:spPr>
          <a:xfrm>
            <a:off x="9105900" y="3632200"/>
            <a:ext cx="2298700" cy="2440940"/>
          </a:xfrm>
          <a:prstGeom prst="rect">
            <a:avLst/>
          </a:prstGeom>
          <a:noFill/>
        </p:spPr>
        <p:txBody>
          <a:bodyPr wrap="none" lIns="0" rIns="0" tIns="0" bIns="0" anchor="t">
            <a:spAutoFit/>
          </a:bodyPr>
          <a:lstStyle/>
          <a:p>
            <a:pPr algn="l">
              <a:lnSpc>
                <a:spcPct val="100000"/>
              </a:lnSpc>
              <a:spcBef>
                <a:spcPts val="0"/>
              </a:spcBef>
              <a:spcAft>
                <a:spcPts val="0"/>
              </a:spcAft>
              <a:defRPr sz="12400" b="1">
                <a:solidFill>
                  <a:srgbClr val="B5B5B5"/>
                </a:solidFill>
                <a:latin typeface="Barlow Condensed"/>
              </a:defRPr>
            </a:pPr>
            <a:r>
              <a:t>02</a:t>
            </a:r>
          </a:p>
        </p:txBody>
      </p:sp>
      <p:sp>
        <p:nvSpPr>
          <p:cNvPr id="14" name="TextBox 13"/>
          <p:cNvSpPr txBox="1"/>
          <p:nvPr/>
        </p:nvSpPr>
        <p:spPr>
          <a:xfrm>
            <a:off x="11303000" y="4191000"/>
            <a:ext cx="40259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161616"/>
                </a:solidFill>
                <a:latin typeface="Barlow Condensed"/>
              </a:defRPr>
            </a:pPr>
            <a:r>
              <a:t>Qəbul edilmiş sifariş</a:t>
            </a:r>
          </a:p>
        </p:txBody>
      </p:sp>
      <p:cxnSp>
        <p:nvCxnSpPr>
          <p:cNvPr id="15" name="Connector 14"/>
          <p:cNvCxnSpPr/>
          <p:nvPr/>
        </p:nvCxnSpPr>
        <p:spPr>
          <a:xfrm>
            <a:off x="12280900" y="5384800"/>
            <a:ext cx="0" cy="53340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2222254" y="5805551"/>
            <a:ext cx="58646"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2280900" y="5805551"/>
            <a:ext cx="58645"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303000" y="6248400"/>
            <a:ext cx="4025900" cy="688975"/>
          </a:xfrm>
          <a:prstGeom prst="rect">
            <a:avLst/>
          </a:prstGeom>
          <a:noFill/>
        </p:spPr>
        <p:txBody>
          <a:bodyPr wrap="none" lIns="0" rIns="0" tIns="0" bIns="0" anchor="t">
            <a:spAutoFit/>
          </a:bodyPr>
          <a:lstStyle/>
          <a:p>
            <a:pPr algn="l">
              <a:lnSpc>
                <a:spcPct val="100000"/>
              </a:lnSpc>
              <a:spcBef>
                <a:spcPts val="0"/>
              </a:spcBef>
              <a:spcAft>
                <a:spcPts val="0"/>
              </a:spcAft>
              <a:defRPr sz="3500" b="1">
                <a:solidFill>
                  <a:srgbClr val="161616"/>
                </a:solidFill>
                <a:latin typeface="Barlow Condensed"/>
              </a:defRPr>
            </a:pPr>
            <a:r>
              <a:t>Xərc analitikası</a:t>
            </a:r>
          </a:p>
        </p:txBody>
      </p:sp>
      <p:sp>
        <p:nvSpPr>
          <p:cNvPr id="19" name="Rectangle 18"/>
          <p:cNvSpPr/>
          <p:nvPr/>
        </p:nvSpPr>
        <p:spPr>
          <a:xfrm>
            <a:off x="914400" y="7505700"/>
            <a:ext cx="14427200" cy="7747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19200" y="7734300"/>
            <a:ext cx="138303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FFFFFF"/>
                </a:solidFill>
                <a:latin typeface="IBM Plex Sans"/>
              </a:defRPr>
            </a:pPr>
            <a:r>
              <a:t>Limit aşımı xəbərdarlıq yaradır; təsdiqi bloklamır.</a:t>
            </a:r>
          </a:p>
        </p:txBody>
      </p:sp>
      <p:sp>
        <p:nvSpPr>
          <p:cNvPr id="21" name="TextBox 20"/>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2" name="TextBox 21"/>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3" name="TextBox 22"/>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RƏHBƏRLİK ÜÇÜN</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BİR PROSES.</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ÜÇ RƏHBƏRLİK BAXIŞI.</a:t>
            </a:r>
          </a:p>
        </p:txBody>
      </p:sp>
      <p:cxnSp>
        <p:nvCxnSpPr>
          <p:cNvPr id="6" name="Connector 5"/>
          <p:cNvCxnSpPr/>
          <p:nvPr/>
        </p:nvCxnSpPr>
        <p:spPr>
          <a:xfrm>
            <a:off x="914400" y="38100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4191000"/>
            <a:ext cx="8763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737373"/>
                </a:solidFill>
                <a:latin typeface="Barlow Condensed"/>
              </a:defRPr>
            </a:pPr>
            <a:r>
              <a:t>01</a:t>
            </a:r>
          </a:p>
        </p:txBody>
      </p:sp>
      <p:sp>
        <p:nvSpPr>
          <p:cNvPr id="8" name="TextBox 7"/>
          <p:cNvSpPr txBox="1"/>
          <p:nvPr/>
        </p:nvSpPr>
        <p:spPr>
          <a:xfrm>
            <a:off x="2032000" y="4076700"/>
            <a:ext cx="4953000" cy="964565"/>
          </a:xfrm>
          <a:prstGeom prst="rect">
            <a:avLst/>
          </a:prstGeom>
          <a:noFill/>
        </p:spPr>
        <p:txBody>
          <a:bodyPr wrap="none" lIns="0" rIns="0" tIns="0" bIns="0" anchor="t">
            <a:spAutoFit/>
          </a:bodyPr>
          <a:lstStyle/>
          <a:p>
            <a:pPr algn="l">
              <a:lnSpc>
                <a:spcPct val="100000"/>
              </a:lnSpc>
              <a:spcBef>
                <a:spcPts val="0"/>
              </a:spcBef>
              <a:spcAft>
                <a:spcPts val="0"/>
              </a:spcAft>
              <a:defRPr sz="4900" b="1">
                <a:solidFill>
                  <a:srgbClr val="161616"/>
                </a:solidFill>
                <a:latin typeface="Barlow Condensed"/>
              </a:defRPr>
            </a:pPr>
            <a:r>
              <a:t>Maliyyə</a:t>
            </a:r>
          </a:p>
        </p:txBody>
      </p:sp>
      <p:sp>
        <p:nvSpPr>
          <p:cNvPr id="9" name="TextBox 8"/>
          <p:cNvSpPr txBox="1"/>
          <p:nvPr/>
        </p:nvSpPr>
        <p:spPr>
          <a:xfrm>
            <a:off x="7912100" y="4318000"/>
            <a:ext cx="7442200" cy="551180"/>
          </a:xfrm>
          <a:prstGeom prst="rect">
            <a:avLst/>
          </a:prstGeom>
          <a:noFill/>
        </p:spPr>
        <p:txBody>
          <a:bodyPr wrap="none" lIns="0" rIns="0" tIns="0" bIns="0" anchor="t">
            <a:spAutoFit/>
          </a:bodyPr>
          <a:lstStyle/>
          <a:p>
            <a:pPr algn="l">
              <a:lnSpc>
                <a:spcPct val="100000"/>
              </a:lnSpc>
              <a:spcBef>
                <a:spcPts val="0"/>
              </a:spcBef>
              <a:spcAft>
                <a:spcPts val="0"/>
              </a:spcAft>
              <a:defRPr sz="2800" b="0">
                <a:solidFill>
                  <a:srgbClr val="525252"/>
                </a:solidFill>
                <a:latin typeface="IBM Plex Sans"/>
              </a:defRPr>
            </a:pPr>
            <a:r>
              <a:t>Vəsait hara yönəlir?</a:t>
            </a:r>
          </a:p>
        </p:txBody>
      </p:sp>
      <p:cxnSp>
        <p:nvCxnSpPr>
          <p:cNvPr id="10" name="Connector 9"/>
          <p:cNvCxnSpPr/>
          <p:nvPr/>
        </p:nvCxnSpPr>
        <p:spPr>
          <a:xfrm>
            <a:off x="914400" y="52324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5613400"/>
            <a:ext cx="8763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737373"/>
                </a:solidFill>
                <a:latin typeface="Barlow Condensed"/>
              </a:defRPr>
            </a:pPr>
            <a:r>
              <a:t>02</a:t>
            </a:r>
          </a:p>
        </p:txBody>
      </p:sp>
      <p:sp>
        <p:nvSpPr>
          <p:cNvPr id="12" name="TextBox 11"/>
          <p:cNvSpPr txBox="1"/>
          <p:nvPr/>
        </p:nvSpPr>
        <p:spPr>
          <a:xfrm>
            <a:off x="2032000" y="5499100"/>
            <a:ext cx="4953000" cy="964565"/>
          </a:xfrm>
          <a:prstGeom prst="rect">
            <a:avLst/>
          </a:prstGeom>
          <a:noFill/>
        </p:spPr>
        <p:txBody>
          <a:bodyPr wrap="none" lIns="0" rIns="0" tIns="0" bIns="0" anchor="t">
            <a:spAutoFit/>
          </a:bodyPr>
          <a:lstStyle/>
          <a:p>
            <a:pPr algn="l">
              <a:lnSpc>
                <a:spcPct val="100000"/>
              </a:lnSpc>
              <a:spcBef>
                <a:spcPts val="0"/>
              </a:spcBef>
              <a:spcAft>
                <a:spcPts val="0"/>
              </a:spcAft>
              <a:defRPr sz="4900" b="1">
                <a:solidFill>
                  <a:srgbClr val="161616"/>
                </a:solidFill>
                <a:latin typeface="Barlow Condensed"/>
              </a:defRPr>
            </a:pPr>
            <a:r>
              <a:t>Satınalma</a:t>
            </a:r>
          </a:p>
        </p:txBody>
      </p:sp>
      <p:sp>
        <p:nvSpPr>
          <p:cNvPr id="13" name="TextBox 12"/>
          <p:cNvSpPr txBox="1"/>
          <p:nvPr/>
        </p:nvSpPr>
        <p:spPr>
          <a:xfrm>
            <a:off x="7912100" y="5740400"/>
            <a:ext cx="7442200" cy="551180"/>
          </a:xfrm>
          <a:prstGeom prst="rect">
            <a:avLst/>
          </a:prstGeom>
          <a:noFill/>
        </p:spPr>
        <p:txBody>
          <a:bodyPr wrap="none" lIns="0" rIns="0" tIns="0" bIns="0" anchor="t">
            <a:spAutoFit/>
          </a:bodyPr>
          <a:lstStyle/>
          <a:p>
            <a:pPr algn="l">
              <a:lnSpc>
                <a:spcPct val="100000"/>
              </a:lnSpc>
              <a:spcBef>
                <a:spcPts val="0"/>
              </a:spcBef>
              <a:spcAft>
                <a:spcPts val="0"/>
              </a:spcAft>
              <a:defRPr sz="2800" b="0">
                <a:solidFill>
                  <a:srgbClr val="525252"/>
                </a:solidFill>
                <a:latin typeface="IBM Plex Sans"/>
              </a:defRPr>
            </a:pPr>
            <a:r>
              <a:t>Seçim nəyə əsaslanır?</a:t>
            </a:r>
          </a:p>
        </p:txBody>
      </p:sp>
      <p:cxnSp>
        <p:nvCxnSpPr>
          <p:cNvPr id="14" name="Connector 13"/>
          <p:cNvCxnSpPr/>
          <p:nvPr/>
        </p:nvCxnSpPr>
        <p:spPr>
          <a:xfrm>
            <a:off x="914400" y="66548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7035800"/>
            <a:ext cx="8763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737373"/>
                </a:solidFill>
                <a:latin typeface="Barlow Condensed"/>
              </a:defRPr>
            </a:pPr>
            <a:r>
              <a:t>03</a:t>
            </a:r>
          </a:p>
        </p:txBody>
      </p:sp>
      <p:sp>
        <p:nvSpPr>
          <p:cNvPr id="16" name="TextBox 15"/>
          <p:cNvSpPr txBox="1"/>
          <p:nvPr/>
        </p:nvSpPr>
        <p:spPr>
          <a:xfrm>
            <a:off x="2032000" y="6921500"/>
            <a:ext cx="4953000" cy="964565"/>
          </a:xfrm>
          <a:prstGeom prst="rect">
            <a:avLst/>
          </a:prstGeom>
          <a:noFill/>
        </p:spPr>
        <p:txBody>
          <a:bodyPr wrap="none" lIns="0" rIns="0" tIns="0" bIns="0" anchor="t">
            <a:spAutoFit/>
          </a:bodyPr>
          <a:lstStyle/>
          <a:p>
            <a:pPr algn="l">
              <a:lnSpc>
                <a:spcPct val="100000"/>
              </a:lnSpc>
              <a:spcBef>
                <a:spcPts val="0"/>
              </a:spcBef>
              <a:spcAft>
                <a:spcPts val="0"/>
              </a:spcAft>
              <a:defRPr sz="4900" b="1">
                <a:solidFill>
                  <a:srgbClr val="161616"/>
                </a:solidFill>
                <a:latin typeface="Barlow Condensed"/>
              </a:defRPr>
            </a:pPr>
            <a:r>
              <a:t>Əməliyyat</a:t>
            </a:r>
          </a:p>
        </p:txBody>
      </p:sp>
      <p:sp>
        <p:nvSpPr>
          <p:cNvPr id="17" name="TextBox 16"/>
          <p:cNvSpPr txBox="1"/>
          <p:nvPr/>
        </p:nvSpPr>
        <p:spPr>
          <a:xfrm>
            <a:off x="7912100" y="7162800"/>
            <a:ext cx="7442200" cy="551180"/>
          </a:xfrm>
          <a:prstGeom prst="rect">
            <a:avLst/>
          </a:prstGeom>
          <a:noFill/>
        </p:spPr>
        <p:txBody>
          <a:bodyPr wrap="none" lIns="0" rIns="0" tIns="0" bIns="0" anchor="t">
            <a:spAutoFit/>
          </a:bodyPr>
          <a:lstStyle/>
          <a:p>
            <a:pPr algn="l">
              <a:lnSpc>
                <a:spcPct val="100000"/>
              </a:lnSpc>
              <a:spcBef>
                <a:spcPts val="0"/>
              </a:spcBef>
              <a:spcAft>
                <a:spcPts val="0"/>
              </a:spcAft>
              <a:defRPr sz="2800" b="0">
                <a:solidFill>
                  <a:srgbClr val="525252"/>
                </a:solidFill>
                <a:latin typeface="IBM Plex Sans"/>
              </a:defRPr>
            </a:pPr>
            <a:r>
              <a:t>İcra hansı mərhələdədir?</a:t>
            </a:r>
          </a:p>
        </p:txBody>
      </p:sp>
      <p:cxnSp>
        <p:nvCxnSpPr>
          <p:cNvPr id="18" name="Connector 17"/>
          <p:cNvCxnSpPr/>
          <p:nvPr/>
        </p:nvCxnSpPr>
        <p:spPr>
          <a:xfrm>
            <a:off x="914400" y="80772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0" name="TextBox 19"/>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1" name="TextBox 20"/>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NÖVBƏTİ ADDIM</a:t>
            </a:r>
          </a:p>
        </p:txBody>
      </p:sp>
      <p:sp>
        <p:nvSpPr>
          <p:cNvPr id="4" name="TextBox 3"/>
          <p:cNvSpPr txBox="1"/>
          <p:nvPr/>
        </p:nvSpPr>
        <p:spPr>
          <a:xfrm>
            <a:off x="914400" y="1155700"/>
            <a:ext cx="14439900" cy="1574800"/>
          </a:xfrm>
          <a:prstGeom prst="rect">
            <a:avLst/>
          </a:prstGeom>
          <a:noFill/>
        </p:spPr>
        <p:txBody>
          <a:bodyPr wrap="none" lIns="0" rIns="0" tIns="0" bIns="0" anchor="t">
            <a:spAutoFit/>
          </a:bodyPr>
          <a:lstStyle/>
          <a:p>
            <a:pPr algn="l">
              <a:lnSpc>
                <a:spcPct val="100000"/>
              </a:lnSpc>
              <a:spcBef>
                <a:spcPts val="0"/>
              </a:spcBef>
              <a:spcAft>
                <a:spcPts val="0"/>
              </a:spcAft>
              <a:defRPr sz="8000" b="1">
                <a:solidFill>
                  <a:srgbClr val="FFFFFF"/>
                </a:solidFill>
                <a:latin typeface="Barlow Condensed"/>
              </a:defRPr>
            </a:pPr>
            <a:r>
              <a:t>DƏYƏRİ BİR REAL</a:t>
            </a:r>
          </a:p>
        </p:txBody>
      </p:sp>
      <p:sp>
        <p:nvSpPr>
          <p:cNvPr id="5" name="TextBox 4"/>
          <p:cNvSpPr txBox="1"/>
          <p:nvPr/>
        </p:nvSpPr>
        <p:spPr>
          <a:xfrm>
            <a:off x="914400" y="2192020"/>
            <a:ext cx="14439900" cy="1574800"/>
          </a:xfrm>
          <a:prstGeom prst="rect">
            <a:avLst/>
          </a:prstGeom>
          <a:noFill/>
        </p:spPr>
        <p:txBody>
          <a:bodyPr wrap="none" lIns="0" rIns="0" tIns="0" bIns="0" anchor="t">
            <a:spAutoFit/>
          </a:bodyPr>
          <a:lstStyle/>
          <a:p>
            <a:pPr algn="l">
              <a:lnSpc>
                <a:spcPct val="100000"/>
              </a:lnSpc>
              <a:spcBef>
                <a:spcPts val="0"/>
              </a:spcBef>
              <a:spcAft>
                <a:spcPts val="0"/>
              </a:spcAft>
              <a:defRPr sz="8000" b="1">
                <a:solidFill>
                  <a:srgbClr val="FFFFFF"/>
                </a:solidFill>
                <a:latin typeface="Barlow Condensed"/>
              </a:defRPr>
            </a:pPr>
            <a:r>
              <a:t>SATINALMA İLƏ ÖLÇƏK.</a:t>
            </a:r>
          </a:p>
        </p:txBody>
      </p:sp>
      <p:sp>
        <p:nvSpPr>
          <p:cNvPr id="6" name="TextBox 5"/>
          <p:cNvSpPr txBox="1"/>
          <p:nvPr/>
        </p:nvSpPr>
        <p:spPr>
          <a:xfrm>
            <a:off x="914400" y="3746500"/>
            <a:ext cx="14439900" cy="511810"/>
          </a:xfrm>
          <a:prstGeom prst="rect">
            <a:avLst/>
          </a:prstGeom>
          <a:noFill/>
        </p:spPr>
        <p:txBody>
          <a:bodyPr wrap="none" lIns="0" rIns="0" tIns="0" bIns="0" anchor="t">
            <a:spAutoFit/>
          </a:bodyPr>
          <a:lstStyle/>
          <a:p>
            <a:pPr algn="l">
              <a:lnSpc>
                <a:spcPct val="100000"/>
              </a:lnSpc>
              <a:spcBef>
                <a:spcPts val="0"/>
              </a:spcBef>
              <a:spcAft>
                <a:spcPts val="0"/>
              </a:spcAft>
              <a:defRPr sz="2600" b="0">
                <a:solidFill>
                  <a:srgbClr val="D1D1D1"/>
                </a:solidFill>
                <a:latin typeface="IBM Plex Sans"/>
              </a:defRPr>
            </a:pPr>
            <a:r>
              <a:t>Bir kateqoriya. Razılaşdırılmış qaydalar. Aydın meyarlar.</a:t>
            </a:r>
          </a:p>
        </p:txBody>
      </p:sp>
      <p:sp>
        <p:nvSpPr>
          <p:cNvPr id="7" name="TextBox 6"/>
          <p:cNvSpPr txBox="1"/>
          <p:nvPr/>
        </p:nvSpPr>
        <p:spPr>
          <a:xfrm>
            <a:off x="914400" y="5143500"/>
            <a:ext cx="2806700" cy="2283460"/>
          </a:xfrm>
          <a:prstGeom prst="rect">
            <a:avLst/>
          </a:prstGeom>
          <a:noFill/>
        </p:spPr>
        <p:txBody>
          <a:bodyPr wrap="none" lIns="0" rIns="0" tIns="0" bIns="0" anchor="t">
            <a:spAutoFit/>
          </a:bodyPr>
          <a:lstStyle/>
          <a:p>
            <a:pPr algn="l">
              <a:lnSpc>
                <a:spcPct val="100000"/>
              </a:lnSpc>
              <a:spcBef>
                <a:spcPts val="0"/>
              </a:spcBef>
              <a:spcAft>
                <a:spcPts val="0"/>
              </a:spcAft>
              <a:defRPr sz="11600" b="1">
                <a:solidFill>
                  <a:srgbClr val="B5B5B5"/>
                </a:solidFill>
                <a:latin typeface="Barlow Condensed"/>
              </a:defRPr>
            </a:pPr>
            <a:r>
              <a:t>01</a:t>
            </a:r>
          </a:p>
        </p:txBody>
      </p:sp>
      <p:sp>
        <p:nvSpPr>
          <p:cNvPr id="8" name="TextBox 7"/>
          <p:cNvSpPr txBox="1"/>
          <p:nvPr/>
        </p:nvSpPr>
        <p:spPr>
          <a:xfrm>
            <a:off x="914400" y="6921500"/>
            <a:ext cx="4127500" cy="826770"/>
          </a:xfrm>
          <a:prstGeom prst="rect">
            <a:avLst/>
          </a:prstGeom>
          <a:noFill/>
        </p:spPr>
        <p:txBody>
          <a:bodyPr wrap="none" lIns="0" rIns="0" tIns="0" bIns="0" anchor="t">
            <a:spAutoFit/>
          </a:bodyPr>
          <a:lstStyle/>
          <a:p>
            <a:pPr algn="l">
              <a:lnSpc>
                <a:spcPct val="100000"/>
              </a:lnSpc>
              <a:spcBef>
                <a:spcPts val="0"/>
              </a:spcBef>
              <a:spcAft>
                <a:spcPts val="0"/>
              </a:spcAft>
              <a:defRPr sz="4200" b="1">
                <a:solidFill>
                  <a:srgbClr val="FFFFFF"/>
                </a:solidFill>
                <a:latin typeface="Barlow Condensed"/>
              </a:defRPr>
            </a:pPr>
            <a:r>
              <a:t>ƏHATƏ</a:t>
            </a:r>
          </a:p>
        </p:txBody>
      </p:sp>
      <p:sp>
        <p:nvSpPr>
          <p:cNvPr id="9" name="TextBox 8"/>
          <p:cNvSpPr txBox="1"/>
          <p:nvPr/>
        </p:nvSpPr>
        <p:spPr>
          <a:xfrm>
            <a:off x="914400" y="7683500"/>
            <a:ext cx="41275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Kateqoriya və rollar</a:t>
            </a:r>
          </a:p>
        </p:txBody>
      </p:sp>
      <p:sp>
        <p:nvSpPr>
          <p:cNvPr id="10" name="TextBox 9"/>
          <p:cNvSpPr txBox="1"/>
          <p:nvPr/>
        </p:nvSpPr>
        <p:spPr>
          <a:xfrm>
            <a:off x="6070600" y="5143500"/>
            <a:ext cx="2806700" cy="2283460"/>
          </a:xfrm>
          <a:prstGeom prst="rect">
            <a:avLst/>
          </a:prstGeom>
          <a:noFill/>
        </p:spPr>
        <p:txBody>
          <a:bodyPr wrap="none" lIns="0" rIns="0" tIns="0" bIns="0" anchor="t">
            <a:spAutoFit/>
          </a:bodyPr>
          <a:lstStyle/>
          <a:p>
            <a:pPr algn="l">
              <a:lnSpc>
                <a:spcPct val="100000"/>
              </a:lnSpc>
              <a:spcBef>
                <a:spcPts val="0"/>
              </a:spcBef>
              <a:spcAft>
                <a:spcPts val="0"/>
              </a:spcAft>
              <a:defRPr sz="11600" b="1">
                <a:solidFill>
                  <a:srgbClr val="B5B5B5"/>
                </a:solidFill>
                <a:latin typeface="Barlow Condensed"/>
              </a:defRPr>
            </a:pPr>
            <a:r>
              <a:t>02</a:t>
            </a:r>
          </a:p>
        </p:txBody>
      </p:sp>
      <p:sp>
        <p:nvSpPr>
          <p:cNvPr id="11" name="TextBox 10"/>
          <p:cNvSpPr txBox="1"/>
          <p:nvPr/>
        </p:nvSpPr>
        <p:spPr>
          <a:xfrm>
            <a:off x="6070600" y="6921500"/>
            <a:ext cx="4127500" cy="826770"/>
          </a:xfrm>
          <a:prstGeom prst="rect">
            <a:avLst/>
          </a:prstGeom>
          <a:noFill/>
        </p:spPr>
        <p:txBody>
          <a:bodyPr wrap="none" lIns="0" rIns="0" tIns="0" bIns="0" anchor="t">
            <a:spAutoFit/>
          </a:bodyPr>
          <a:lstStyle/>
          <a:p>
            <a:pPr algn="l">
              <a:lnSpc>
                <a:spcPct val="100000"/>
              </a:lnSpc>
              <a:spcBef>
                <a:spcPts val="0"/>
              </a:spcBef>
              <a:spcAft>
                <a:spcPts val="0"/>
              </a:spcAft>
              <a:defRPr sz="4200" b="1">
                <a:solidFill>
                  <a:srgbClr val="FFFFFF"/>
                </a:solidFill>
                <a:latin typeface="Barlow Condensed"/>
              </a:defRPr>
            </a:pPr>
            <a:r>
              <a:t>İCRA</a:t>
            </a:r>
          </a:p>
        </p:txBody>
      </p:sp>
      <p:sp>
        <p:nvSpPr>
          <p:cNvPr id="12" name="TextBox 11"/>
          <p:cNvSpPr txBox="1"/>
          <p:nvPr/>
        </p:nvSpPr>
        <p:spPr>
          <a:xfrm>
            <a:off x="6070600" y="7683500"/>
            <a:ext cx="41275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Bir satınalma prosesi</a:t>
            </a:r>
          </a:p>
        </p:txBody>
      </p:sp>
      <p:sp>
        <p:nvSpPr>
          <p:cNvPr id="13" name="TextBox 12"/>
          <p:cNvSpPr txBox="1"/>
          <p:nvPr/>
        </p:nvSpPr>
        <p:spPr>
          <a:xfrm>
            <a:off x="11226800" y="5143500"/>
            <a:ext cx="2806700" cy="2283460"/>
          </a:xfrm>
          <a:prstGeom prst="rect">
            <a:avLst/>
          </a:prstGeom>
          <a:noFill/>
        </p:spPr>
        <p:txBody>
          <a:bodyPr wrap="none" lIns="0" rIns="0" tIns="0" bIns="0" anchor="t">
            <a:spAutoFit/>
          </a:bodyPr>
          <a:lstStyle/>
          <a:p>
            <a:pPr algn="l">
              <a:lnSpc>
                <a:spcPct val="100000"/>
              </a:lnSpc>
              <a:spcBef>
                <a:spcPts val="0"/>
              </a:spcBef>
              <a:spcAft>
                <a:spcPts val="0"/>
              </a:spcAft>
              <a:defRPr sz="11600" b="1">
                <a:solidFill>
                  <a:srgbClr val="B5B5B5"/>
                </a:solidFill>
                <a:latin typeface="Barlow Condensed"/>
              </a:defRPr>
            </a:pPr>
            <a:r>
              <a:t>03</a:t>
            </a:r>
          </a:p>
        </p:txBody>
      </p:sp>
      <p:sp>
        <p:nvSpPr>
          <p:cNvPr id="14" name="TextBox 13"/>
          <p:cNvSpPr txBox="1"/>
          <p:nvPr/>
        </p:nvSpPr>
        <p:spPr>
          <a:xfrm>
            <a:off x="11226800" y="6921500"/>
            <a:ext cx="4127500" cy="826770"/>
          </a:xfrm>
          <a:prstGeom prst="rect">
            <a:avLst/>
          </a:prstGeom>
          <a:noFill/>
        </p:spPr>
        <p:txBody>
          <a:bodyPr wrap="none" lIns="0" rIns="0" tIns="0" bIns="0" anchor="t">
            <a:spAutoFit/>
          </a:bodyPr>
          <a:lstStyle/>
          <a:p>
            <a:pPr algn="l">
              <a:lnSpc>
                <a:spcPct val="100000"/>
              </a:lnSpc>
              <a:spcBef>
                <a:spcPts val="0"/>
              </a:spcBef>
              <a:spcAft>
                <a:spcPts val="0"/>
              </a:spcAft>
              <a:defRPr sz="4200" b="1">
                <a:solidFill>
                  <a:srgbClr val="FFFFFF"/>
                </a:solidFill>
                <a:latin typeface="Barlow Condensed"/>
              </a:defRPr>
            </a:pPr>
            <a:r>
              <a:t>QİYMƏTLƏNDİRMƏ</a:t>
            </a:r>
          </a:p>
        </p:txBody>
      </p:sp>
      <p:sp>
        <p:nvSpPr>
          <p:cNvPr id="15" name="TextBox 14"/>
          <p:cNvSpPr txBox="1"/>
          <p:nvPr/>
        </p:nvSpPr>
        <p:spPr>
          <a:xfrm>
            <a:off x="11226800" y="7683500"/>
            <a:ext cx="41275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Birlikdə ölçülən nəticə</a:t>
            </a:r>
          </a:p>
        </p:txBody>
      </p:sp>
      <p:cxnSp>
        <p:nvCxnSpPr>
          <p:cNvPr id="16" name="Connector 15"/>
          <p:cNvCxnSpPr/>
          <p:nvPr/>
        </p:nvCxnSpPr>
        <p:spPr>
          <a:xfrm>
            <a:off x="3556000" y="6032500"/>
            <a:ext cx="19050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348351" y="60325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5348351" y="59738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712200" y="6032500"/>
            <a:ext cx="19050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504551" y="60325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504551" y="59738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23" name="TextBox 22"/>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24" name="TextBox 23"/>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Leadprocure — Korporativ təqdimat / Monograph</dc:title>
  <dc:subject>Azərbaycan dilində korporativ müştəri təqdimatı</dc:subject>
  <dc:creator>Leadprocure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